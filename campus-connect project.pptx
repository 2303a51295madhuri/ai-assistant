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E94560"/>
          </a:solidFill>
          <a:ln w="12700">
            <a:solidFill>
              <a:srgbClr val="E94560"/>
            </a:solidFill>
            <a:prstDash val="solid"/>
          </a:ln>
        </p:spPr>
      </p:sp>
      <p:sp>
        <p:nvSpPr>
          <p:cNvPr id="3" name="Shape 1"/>
          <p:cNvSpPr/>
          <p:nvPr/>
        </p:nvSpPr>
        <p:spPr>
          <a:xfrm>
            <a:off x="5669280" y="-914400"/>
            <a:ext cx="4572000" cy="4572000"/>
          </a:xfrm>
          <a:prstGeom prst="ellipse">
            <a:avLst/>
          </a:prstGeom>
          <a:solidFill>
            <a:srgbClr val="0F3460">
              <a:alpha val="45000"/>
            </a:srgbClr>
          </a:solidFill>
          <a:ln w="12700">
            <a:solidFill>
              <a:srgbClr val="0F3460">
                <a:alpha val="45000"/>
              </a:srgbClr>
            </a:solidFill>
            <a:prstDash val="solid"/>
          </a:ln>
        </p:spPr>
      </p:sp>
      <p:sp>
        <p:nvSpPr>
          <p:cNvPr id="4" name="Shape 2"/>
          <p:cNvSpPr/>
          <p:nvPr/>
        </p:nvSpPr>
        <p:spPr>
          <a:xfrm>
            <a:off x="7132320" y="2560320"/>
            <a:ext cx="2926080" cy="2926080"/>
          </a:xfrm>
          <a:prstGeom prst="ellipse">
            <a:avLst/>
          </a:prstGeom>
          <a:solidFill>
            <a:srgbClr val="E94560">
              <a:alpha val="22000"/>
            </a:srgbClr>
          </a:solidFill>
          <a:ln w="12700">
            <a:solidFill>
              <a:srgbClr val="E94560">
                <a:alpha val="22000"/>
              </a:srgbClr>
            </a:solidFill>
            <a:prstDash val="solid"/>
          </a:ln>
        </p:spPr>
      </p:sp>
      <p:sp>
        <p:nvSpPr>
          <p:cNvPr id="5" name="Shape 3"/>
          <p:cNvSpPr/>
          <p:nvPr/>
        </p:nvSpPr>
        <p:spPr>
          <a:xfrm>
            <a:off x="5029200" y="3108960"/>
            <a:ext cx="2011680" cy="2011680"/>
          </a:xfrm>
          <a:prstGeom prst="ellipse">
            <a:avLst/>
          </a:prstGeom>
          <a:solidFill>
            <a:srgbClr val="00C9B1">
              <a:alpha val="28000"/>
            </a:srgbClr>
          </a:solidFill>
          <a:ln w="12700">
            <a:solidFill>
              <a:srgbClr val="00C9B1">
                <a:alpha val="28000"/>
              </a:srgbClr>
            </a:solidFill>
            <a:prstDash val="solid"/>
          </a:ln>
        </p:spPr>
      </p:sp>
      <p:sp>
        <p:nvSpPr>
          <p:cNvPr id="6" name="Shape 4"/>
          <p:cNvSpPr/>
          <p:nvPr/>
        </p:nvSpPr>
        <p:spPr>
          <a:xfrm>
            <a:off x="457200" y="438912"/>
            <a:ext cx="2194560" cy="347472"/>
          </a:xfrm>
          <a:prstGeom prst="rect">
            <a:avLst/>
          </a:prstGeom>
          <a:solidFill>
            <a:srgbClr val="E94560"/>
          </a:solidFill>
          <a:ln w="12700">
            <a:solidFill>
              <a:srgbClr val="E94560"/>
            </a:solidFill>
            <a:prstDash val="solid"/>
          </a:ln>
        </p:spPr>
      </p:sp>
      <p:sp>
        <p:nvSpPr>
          <p:cNvPr id="7" name="Text 5"/>
          <p:cNvSpPr/>
          <p:nvPr/>
        </p:nvSpPr>
        <p:spPr>
          <a:xfrm>
            <a:off x="457200" y="438912"/>
            <a:ext cx="2194560" cy="347472"/>
          </a:xfrm>
          <a:prstGeom prst="rect">
            <a:avLst/>
          </a:prstGeom>
          <a:noFill/>
        </p:spPr>
        <p:txBody>
          <a:bodyPr wrap="square" lIns="0" tIns="0" rIns="0" bIns="0" rtlCol="0" anchor="ctr"/>
          <a:lstStyle/>
          <a:p>
            <a:pPr marL="0" indent="0" algn="ctr">
              <a:buNone/>
            </a:pPr>
            <a:r>
              <a:rPr lang="en-US" sz="1000" b="1" dirty="0">
                <a:solidFill>
                  <a:srgbClr val="FFFFFF"/>
                </a:solidFill>
              </a:rPr>
              <a:t>CAMPUS CONNECT</a:t>
            </a:r>
            <a:endParaRPr lang="en-US" sz="1000" dirty="0"/>
          </a:p>
        </p:txBody>
      </p:sp>
      <p:sp>
        <p:nvSpPr>
          <p:cNvPr id="8" name="Text 6"/>
          <p:cNvSpPr/>
          <p:nvPr/>
        </p:nvSpPr>
        <p:spPr>
          <a:xfrm>
            <a:off x="457200" y="914400"/>
            <a:ext cx="5486400" cy="685800"/>
          </a:xfrm>
          <a:prstGeom prst="rect">
            <a:avLst/>
          </a:prstGeom>
          <a:noFill/>
        </p:spPr>
        <p:txBody>
          <a:bodyPr wrap="square" rtlCol="0" anchor="ctr"/>
          <a:lstStyle/>
          <a:p>
            <a:pPr marL="0" indent="0">
              <a:buNone/>
            </a:pPr>
            <a:r>
              <a:rPr lang="en-US" sz="38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Campus Connect</a:t>
            </a:r>
            <a:endParaRPr lang="en-US" sz="3800" dirty="0"/>
          </a:p>
        </p:txBody>
      </p:sp>
      <p:sp>
        <p:nvSpPr>
          <p:cNvPr id="9" name="Text 7"/>
          <p:cNvSpPr/>
          <p:nvPr/>
        </p:nvSpPr>
        <p:spPr>
          <a:xfrm>
            <a:off x="457200" y="1783080"/>
            <a:ext cx="5669280" cy="914400"/>
          </a:xfrm>
          <a:prstGeom prst="rect">
            <a:avLst/>
          </a:prstGeom>
          <a:noFill/>
        </p:spPr>
        <p:txBody>
          <a:bodyPr wrap="square" rtlCol="0" anchor="ctr"/>
          <a:lstStyle/>
          <a:p>
            <a:pPr marL="0" indent="0">
              <a:buNone/>
            </a:pPr>
            <a:r>
              <a:rPr lang="en-US" sz="1600" dirty="0">
                <a:solidFill>
                  <a:srgbClr val="C8D6E5"/>
                </a:solidFill>
                <a:latin typeface="Calibri" panose="020F0502020204030204" pitchFamily="34" charset="0"/>
                <a:ea typeface="Calibri" panose="020F0502020204030204" pitchFamily="34" charset="-122"/>
                <a:cs typeface="Calibri" panose="020F0502020204030204" pitchFamily="34" charset="-120"/>
              </a:rPr>
              <a:t>A Centralized Student Collaboration</a:t>
            </a:r>
            <a:endParaRPr lang="en-US" sz="1600" dirty="0"/>
          </a:p>
          <a:p>
            <a:pPr marL="0" indent="0">
              <a:buNone/>
            </a:pPr>
            <a:r>
              <a:rPr lang="en-US" sz="1600" dirty="0">
                <a:solidFill>
                  <a:srgbClr val="C8D6E5"/>
                </a:solidFill>
                <a:latin typeface="Calibri" panose="020F0502020204030204" pitchFamily="34" charset="0"/>
                <a:ea typeface="Calibri" panose="020F0502020204030204" pitchFamily="34" charset="-122"/>
                <a:cs typeface="Calibri" panose="020F0502020204030204" pitchFamily="34" charset="-120"/>
              </a:rPr>
              <a:t>&amp; Academic Management Platform</a:t>
            </a:r>
            <a:endParaRPr lang="en-US" sz="1600" dirty="0"/>
          </a:p>
        </p:txBody>
      </p:sp>
      <p:sp>
        <p:nvSpPr>
          <p:cNvPr id="10" name="Shape 8"/>
          <p:cNvSpPr/>
          <p:nvPr/>
        </p:nvSpPr>
        <p:spPr>
          <a:xfrm>
            <a:off x="457200" y="2834640"/>
            <a:ext cx="5303520" cy="36576"/>
          </a:xfrm>
          <a:prstGeom prst="rect">
            <a:avLst/>
          </a:prstGeom>
          <a:solidFill>
            <a:srgbClr val="F5A623"/>
          </a:solidFill>
          <a:ln w="12700">
            <a:solidFill>
              <a:srgbClr val="F5A623"/>
            </a:solidFill>
            <a:prstDash val="solid"/>
          </a:ln>
        </p:spPr>
      </p:sp>
      <p:sp>
        <p:nvSpPr>
          <p:cNvPr id="11" name="Shape 9"/>
          <p:cNvSpPr/>
          <p:nvPr/>
        </p:nvSpPr>
        <p:spPr>
          <a:xfrm>
            <a:off x="365760" y="2860675"/>
            <a:ext cx="5303520" cy="1874520"/>
          </a:xfrm>
          <a:prstGeom prst="rect">
            <a:avLst/>
          </a:prstGeom>
          <a:solidFill>
            <a:srgbClr val="0D2137"/>
          </a:solidFill>
          <a:ln w="12700">
            <a:solidFill>
              <a:srgbClr val="0F3460"/>
            </a:solidFill>
            <a:prstDash val="solid"/>
          </a:ln>
        </p:spPr>
      </p:sp>
      <p:sp>
        <p:nvSpPr>
          <p:cNvPr id="12" name="Shape 10"/>
          <p:cNvSpPr/>
          <p:nvPr/>
        </p:nvSpPr>
        <p:spPr>
          <a:xfrm>
            <a:off x="457200" y="2971800"/>
            <a:ext cx="73152" cy="1874520"/>
          </a:xfrm>
          <a:prstGeom prst="rect">
            <a:avLst/>
          </a:prstGeom>
          <a:solidFill>
            <a:srgbClr val="F5A623"/>
          </a:solidFill>
          <a:ln w="12700">
            <a:solidFill>
              <a:srgbClr val="F5A623"/>
            </a:solidFill>
            <a:prstDash val="solid"/>
          </a:ln>
        </p:spPr>
      </p:sp>
      <p:pic>
        <p:nvPicPr>
          <p:cNvPr id="13" name="Image 0" descr="preencoded.png"/>
          <p:cNvPicPr>
            <a:picLocks noChangeAspect="1"/>
          </p:cNvPicPr>
          <p:nvPr/>
        </p:nvPicPr>
        <p:blipFill>
          <a:blip r:embed="rId1"/>
          <a:stretch>
            <a:fillRect/>
          </a:stretch>
        </p:blipFill>
        <p:spPr>
          <a:xfrm>
            <a:off x="621792" y="3063240"/>
            <a:ext cx="411480" cy="411480"/>
          </a:xfrm>
          <a:prstGeom prst="rect">
            <a:avLst/>
          </a:prstGeom>
        </p:spPr>
      </p:pic>
      <p:sp>
        <p:nvSpPr>
          <p:cNvPr id="14" name="Text 11"/>
          <p:cNvSpPr/>
          <p:nvPr/>
        </p:nvSpPr>
        <p:spPr>
          <a:xfrm>
            <a:off x="1115568" y="3044952"/>
            <a:ext cx="4389120" cy="411480"/>
          </a:xfrm>
          <a:prstGeom prst="rect">
            <a:avLst/>
          </a:prstGeom>
          <a:noFill/>
        </p:spPr>
        <p:txBody>
          <a:bodyPr wrap="square" rtlCol="0" anchor="ctr"/>
          <a:lstStyle/>
          <a:p>
            <a:pPr marL="0" indent="0">
              <a:buNone/>
            </a:pPr>
            <a:r>
              <a:rPr lang="en-US" sz="1500" b="1" dirty="0">
                <a:solidFill>
                  <a:srgbClr val="F5A623"/>
                </a:solidFill>
                <a:latin typeface="Trebuchet MS" panose="020B0603020202020204" pitchFamily="34" charset="0"/>
                <a:ea typeface="Trebuchet MS" panose="020B0603020202020204" pitchFamily="34" charset="-122"/>
                <a:cs typeface="Trebuchet MS" panose="020B0603020202020204" pitchFamily="34" charset="-120"/>
              </a:rPr>
              <a:t>Team Details</a:t>
            </a:r>
            <a:endParaRPr lang="en-US" sz="1500" dirty="0"/>
          </a:p>
        </p:txBody>
      </p:sp>
      <p:sp>
        <p:nvSpPr>
          <p:cNvPr id="15" name="Text 12"/>
          <p:cNvSpPr/>
          <p:nvPr/>
        </p:nvSpPr>
        <p:spPr>
          <a:xfrm>
            <a:off x="621792" y="3520440"/>
            <a:ext cx="4937760" cy="246888"/>
          </a:xfrm>
          <a:prstGeom prst="rect">
            <a:avLst/>
          </a:prstGeom>
          <a:noFill/>
        </p:spPr>
        <p:txBody>
          <a:bodyPr wrap="square" rtlCol="0" anchor="ctr"/>
          <a:lstStyle/>
          <a:p>
            <a:pPr marL="0" indent="0">
              <a:buNone/>
            </a:pPr>
            <a:r>
              <a:rPr lang="en-US" sz="1100" b="1" dirty="0">
                <a:solidFill>
                  <a:srgbClr val="00C9B1"/>
                </a:solidFill>
                <a:latin typeface="Calibri" panose="020F0502020204030204" pitchFamily="34" charset="0"/>
                <a:ea typeface="Calibri" panose="020F0502020204030204" pitchFamily="34" charset="-122"/>
                <a:cs typeface="Calibri" panose="020F0502020204030204" pitchFamily="34" charset="-120"/>
              </a:rPr>
              <a:t>Project Title:  </a:t>
            </a:r>
            <a:r>
              <a:rPr lang="en-US" sz="1100" dirty="0">
                <a:solidFill>
                  <a:srgbClr val="C8D6E5"/>
                </a:solidFill>
                <a:latin typeface="Calibri" panose="020F0502020204030204" pitchFamily="34" charset="0"/>
                <a:ea typeface="Calibri" panose="020F0502020204030204" pitchFamily="34" charset="-122"/>
                <a:cs typeface="Calibri" panose="020F0502020204030204" pitchFamily="34" charset="-120"/>
              </a:rPr>
              <a:t>Campus Connect — Student Collaboration Platform</a:t>
            </a:r>
            <a:endParaRPr lang="en-US" sz="1100" dirty="0"/>
          </a:p>
        </p:txBody>
      </p:sp>
      <p:sp>
        <p:nvSpPr>
          <p:cNvPr id="16" name="Text 13"/>
          <p:cNvSpPr/>
          <p:nvPr/>
        </p:nvSpPr>
        <p:spPr>
          <a:xfrm>
            <a:off x="621792" y="3767328"/>
            <a:ext cx="4937760" cy="246888"/>
          </a:xfrm>
          <a:prstGeom prst="rect">
            <a:avLst/>
          </a:prstGeom>
          <a:noFill/>
        </p:spPr>
        <p:txBody>
          <a:bodyPr wrap="square" rtlCol="0" anchor="ctr"/>
          <a:lstStyle/>
          <a:p>
            <a:pPr marL="0" indent="0">
              <a:buNone/>
            </a:pPr>
            <a:r>
              <a:rPr lang="en-US" sz="1100" b="1" dirty="0">
                <a:solidFill>
                  <a:srgbClr val="00C9B1"/>
                </a:solidFill>
                <a:latin typeface="Calibri" panose="020F0502020204030204" pitchFamily="34" charset="0"/>
                <a:ea typeface="Calibri" panose="020F0502020204030204" pitchFamily="34" charset="-122"/>
                <a:cs typeface="Calibri" panose="020F0502020204030204" pitchFamily="34" charset="-120"/>
              </a:rPr>
              <a:t>Team Member:  </a:t>
            </a:r>
            <a:r>
              <a:rPr lang="en-US" sz="1100" dirty="0">
                <a:solidFill>
                  <a:srgbClr val="C8D6E5"/>
                </a:solidFill>
                <a:latin typeface="Calibri" panose="020F0502020204030204" pitchFamily="34" charset="0"/>
                <a:ea typeface="Calibri" panose="020F0502020204030204" pitchFamily="34" charset="-122"/>
                <a:cs typeface="Calibri" panose="020F0502020204030204" pitchFamily="34" charset="-120"/>
              </a:rPr>
              <a:t>Madhuri Mandala[2303A51295]</a:t>
            </a:r>
            <a:endParaRPr lang="en-US" sz="1100" dirty="0"/>
          </a:p>
        </p:txBody>
      </p:sp>
      <p:sp>
        <p:nvSpPr>
          <p:cNvPr id="17" name="Text 14"/>
          <p:cNvSpPr/>
          <p:nvPr/>
        </p:nvSpPr>
        <p:spPr>
          <a:xfrm>
            <a:off x="621792" y="4014216"/>
            <a:ext cx="4937760" cy="246888"/>
          </a:xfrm>
          <a:prstGeom prst="rect">
            <a:avLst/>
          </a:prstGeom>
          <a:noFill/>
        </p:spPr>
        <p:txBody>
          <a:bodyPr wrap="square" rtlCol="0" anchor="ctr"/>
          <a:lstStyle/>
          <a:p>
            <a:pPr marL="0" indent="0">
              <a:buNone/>
            </a:pPr>
            <a:r>
              <a:rPr lang="en-US" sz="1100" b="1" dirty="0">
                <a:solidFill>
                  <a:srgbClr val="00C9B1"/>
                </a:solidFill>
                <a:latin typeface="Calibri" panose="020F0502020204030204" pitchFamily="34" charset="0"/>
                <a:ea typeface="Calibri" panose="020F0502020204030204" pitchFamily="34" charset="-122"/>
                <a:cs typeface="Calibri" panose="020F0502020204030204" pitchFamily="34" charset="-120"/>
              </a:rPr>
              <a:t>Department:  </a:t>
            </a:r>
            <a:r>
              <a:rPr lang="en-US" sz="1100" dirty="0">
                <a:solidFill>
                  <a:srgbClr val="C8D6E5"/>
                </a:solidFill>
                <a:latin typeface="Calibri" panose="020F0502020204030204" pitchFamily="34" charset="0"/>
                <a:ea typeface="Calibri" panose="020F0502020204030204" pitchFamily="34" charset="-122"/>
                <a:cs typeface="Calibri" panose="020F0502020204030204" pitchFamily="34" charset="-120"/>
              </a:rPr>
              <a:t>Computer Science &amp; Engineering</a:t>
            </a:r>
            <a:endParaRPr lang="en-US" sz="1100" dirty="0"/>
          </a:p>
        </p:txBody>
      </p:sp>
      <p:sp>
        <p:nvSpPr>
          <p:cNvPr id="18" name="Text 15"/>
          <p:cNvSpPr/>
          <p:nvPr/>
        </p:nvSpPr>
        <p:spPr>
          <a:xfrm>
            <a:off x="621792" y="4261104"/>
            <a:ext cx="4937760" cy="246888"/>
          </a:xfrm>
          <a:prstGeom prst="rect">
            <a:avLst/>
          </a:prstGeom>
        </p:spPr>
        <p:style>
          <a:lnRef idx="2">
            <a:schemeClr val="accent1"/>
          </a:lnRef>
          <a:fillRef idx="0">
            <a:srgbClr val="FFFFFF"/>
          </a:fillRef>
          <a:effectRef idx="0">
            <a:srgbClr val="FFFFFF"/>
          </a:effectRef>
          <a:fontRef idx="minor">
            <a:schemeClr val="tx1"/>
          </a:fontRef>
        </p:style>
        <p:txBody>
          <a:bodyPr wrap="square" rtlCol="0" anchor="ctr"/>
          <a:lstStyle/>
          <a:p>
            <a:pPr marL="0" indent="0">
              <a:buNone/>
            </a:pPr>
            <a:r>
              <a:rPr lang="en-US" sz="1100" b="1" dirty="0">
                <a:solidFill>
                  <a:srgbClr val="00C9B1"/>
                </a:solidFill>
                <a:latin typeface="Calibri" panose="020F0502020204030204" pitchFamily="34" charset="0"/>
                <a:ea typeface="Calibri" panose="020F0502020204030204" pitchFamily="34" charset="-122"/>
                <a:cs typeface="Calibri" panose="020F0502020204030204" pitchFamily="34" charset="-120"/>
              </a:rPr>
              <a:t>Institution:  </a:t>
            </a:r>
            <a:r>
              <a:rPr lang="en-US" sz="1100" dirty="0">
                <a:solidFill>
                  <a:schemeClr val="bg1"/>
                </a:solidFill>
                <a:latin typeface="Calibri" panose="020F0502020204030204" pitchFamily="34" charset="0"/>
                <a:ea typeface="Calibri" panose="020F0502020204030204" pitchFamily="34" charset="-122"/>
                <a:cs typeface="Calibri" panose="020F0502020204030204" pitchFamily="34" charset="-120"/>
              </a:rPr>
              <a:t>SR University</a:t>
            </a:r>
            <a:endParaRPr lang="en-US" sz="1100" b="1"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6"/>
          <p:cNvSpPr/>
          <p:nvPr/>
        </p:nvSpPr>
        <p:spPr>
          <a:xfrm>
            <a:off x="621792" y="4507992"/>
            <a:ext cx="4937760" cy="246888"/>
          </a:xfrm>
          <a:prstGeom prst="rect">
            <a:avLst/>
          </a:prstGeom>
          <a:noFill/>
        </p:spPr>
        <p:txBody>
          <a:bodyPr wrap="square" rtlCol="0" anchor="ctr"/>
          <a:lstStyle/>
          <a:p>
            <a:pPr marL="0" indent="0">
              <a:buNone/>
            </a:pPr>
            <a:r>
              <a:rPr lang="en-US" sz="1100" b="1" dirty="0">
                <a:solidFill>
                  <a:srgbClr val="00C9B1"/>
                </a:solidFill>
                <a:latin typeface="Calibri" panose="020F0502020204030204" pitchFamily="34" charset="0"/>
                <a:ea typeface="Calibri" panose="020F0502020204030204" pitchFamily="34" charset="-122"/>
                <a:cs typeface="Calibri" panose="020F0502020204030204" pitchFamily="34" charset="-120"/>
              </a:rPr>
              <a:t>Year / Semester:  </a:t>
            </a:r>
            <a:r>
              <a:rPr lang="en-US" sz="1100" dirty="0">
                <a:solidFill>
                  <a:srgbClr val="C8D6E5"/>
                </a:solidFill>
                <a:latin typeface="Calibri" panose="020F0502020204030204" pitchFamily="34" charset="0"/>
                <a:ea typeface="Calibri" panose="020F0502020204030204" pitchFamily="34" charset="-122"/>
                <a:cs typeface="Calibri" panose="020F0502020204030204" pitchFamily="34" charset="-120"/>
              </a:rPr>
              <a:t>3rd Year / 6th Semester  |  2025–26</a:t>
            </a:r>
            <a:endParaRPr lang="en-US" sz="1100" dirty="0"/>
          </a:p>
        </p:txBody>
      </p:sp>
      <p:sp>
        <p:nvSpPr>
          <p:cNvPr id="20" name="Shape 17"/>
          <p:cNvSpPr/>
          <p:nvPr/>
        </p:nvSpPr>
        <p:spPr>
          <a:xfrm>
            <a:off x="6492240" y="1051560"/>
            <a:ext cx="2377440" cy="594360"/>
          </a:xfrm>
          <a:prstGeom prst="rect">
            <a:avLst/>
          </a:prstGeom>
          <a:solidFill>
            <a:srgbClr val="E94560">
              <a:alpha val="82000"/>
            </a:srgbClr>
          </a:solidFill>
          <a:ln w="12700">
            <a:solidFill>
              <a:srgbClr val="E94560"/>
            </a:solidFill>
            <a:prstDash val="solid"/>
          </a:ln>
        </p:spPr>
      </p:sp>
      <p:sp>
        <p:nvSpPr>
          <p:cNvPr id="21" name="Text 18"/>
          <p:cNvSpPr/>
          <p:nvPr/>
        </p:nvSpPr>
        <p:spPr>
          <a:xfrm>
            <a:off x="6492240" y="1051560"/>
            <a:ext cx="2377440" cy="594360"/>
          </a:xfrm>
          <a:prstGeom prst="rect">
            <a:avLst/>
          </a:prstGeom>
          <a:noFill/>
        </p:spPr>
        <p:txBody>
          <a:bodyPr wrap="square" lIns="0" tIns="0" rIns="0" bIns="0" rtlCol="0" anchor="ctr"/>
          <a:lstStyle/>
          <a:p>
            <a:pPr marL="0" indent="0" algn="ctr">
              <a:buNone/>
            </a:pPr>
            <a:r>
              <a:rPr lang="en-US" sz="1300" b="1" dirty="0">
                <a:solidFill>
                  <a:srgbClr val="FFFFFF"/>
                </a:solidFill>
              </a:rPr>
              <a:t>Academic Tracking</a:t>
            </a:r>
            <a:endParaRPr lang="en-US" sz="1300" dirty="0"/>
          </a:p>
        </p:txBody>
      </p:sp>
      <p:sp>
        <p:nvSpPr>
          <p:cNvPr id="22" name="Shape 19"/>
          <p:cNvSpPr/>
          <p:nvPr/>
        </p:nvSpPr>
        <p:spPr>
          <a:xfrm>
            <a:off x="6492240" y="1828800"/>
            <a:ext cx="2377440" cy="594360"/>
          </a:xfrm>
          <a:prstGeom prst="rect">
            <a:avLst/>
          </a:prstGeom>
          <a:solidFill>
            <a:srgbClr val="00C9B1">
              <a:alpha val="82000"/>
            </a:srgbClr>
          </a:solidFill>
          <a:ln w="12700">
            <a:solidFill>
              <a:srgbClr val="00C9B1"/>
            </a:solidFill>
            <a:prstDash val="solid"/>
          </a:ln>
        </p:spPr>
      </p:sp>
      <p:sp>
        <p:nvSpPr>
          <p:cNvPr id="23" name="Text 20"/>
          <p:cNvSpPr/>
          <p:nvPr/>
        </p:nvSpPr>
        <p:spPr>
          <a:xfrm>
            <a:off x="6492240" y="1828800"/>
            <a:ext cx="2377440" cy="594360"/>
          </a:xfrm>
          <a:prstGeom prst="rect">
            <a:avLst/>
          </a:prstGeom>
          <a:noFill/>
        </p:spPr>
        <p:txBody>
          <a:bodyPr wrap="square" lIns="0" tIns="0" rIns="0" bIns="0" rtlCol="0" anchor="ctr"/>
          <a:lstStyle/>
          <a:p>
            <a:pPr marL="0" indent="0" algn="ctr">
              <a:buNone/>
            </a:pPr>
            <a:r>
              <a:rPr lang="en-US" sz="1300" b="1" dirty="0">
                <a:solidFill>
                  <a:srgbClr val="FFFFFF"/>
                </a:solidFill>
              </a:rPr>
              <a:t>Community Hub</a:t>
            </a:r>
            <a:endParaRPr lang="en-US" sz="1300" dirty="0"/>
          </a:p>
        </p:txBody>
      </p:sp>
      <p:sp>
        <p:nvSpPr>
          <p:cNvPr id="24" name="Shape 21"/>
          <p:cNvSpPr/>
          <p:nvPr/>
        </p:nvSpPr>
        <p:spPr>
          <a:xfrm>
            <a:off x="6492240" y="2606040"/>
            <a:ext cx="2377440" cy="594360"/>
          </a:xfrm>
          <a:prstGeom prst="rect">
            <a:avLst/>
          </a:prstGeom>
          <a:solidFill>
            <a:srgbClr val="F5A623">
              <a:alpha val="82000"/>
            </a:srgbClr>
          </a:solidFill>
          <a:ln w="12700">
            <a:solidFill>
              <a:srgbClr val="F5A623"/>
            </a:solidFill>
            <a:prstDash val="solid"/>
          </a:ln>
        </p:spPr>
      </p:sp>
      <p:sp>
        <p:nvSpPr>
          <p:cNvPr id="25" name="Text 22"/>
          <p:cNvSpPr/>
          <p:nvPr/>
        </p:nvSpPr>
        <p:spPr>
          <a:xfrm>
            <a:off x="6492240" y="2606040"/>
            <a:ext cx="2377440" cy="594360"/>
          </a:xfrm>
          <a:prstGeom prst="rect">
            <a:avLst/>
          </a:prstGeom>
          <a:noFill/>
        </p:spPr>
        <p:txBody>
          <a:bodyPr wrap="square" lIns="0" tIns="0" rIns="0" bIns="0" rtlCol="0" anchor="ctr"/>
          <a:lstStyle/>
          <a:p>
            <a:pPr marL="0" indent="0" algn="ctr">
              <a:buNone/>
            </a:pPr>
            <a:r>
              <a:rPr lang="en-US" sz="1300" b="1" dirty="0">
                <a:solidFill>
                  <a:srgbClr val="FFFFFF"/>
                </a:solidFill>
              </a:rPr>
              <a:t>Event Management</a:t>
            </a:r>
            <a:endParaRPr lang="en-US" sz="1300" dirty="0"/>
          </a:p>
        </p:txBody>
      </p:sp>
      <p:sp>
        <p:nvSpPr>
          <p:cNvPr id="26" name="Shape 23"/>
          <p:cNvSpPr/>
          <p:nvPr/>
        </p:nvSpPr>
        <p:spPr>
          <a:xfrm>
            <a:off x="6492240" y="3383280"/>
            <a:ext cx="2377440" cy="594360"/>
          </a:xfrm>
          <a:prstGeom prst="rect">
            <a:avLst/>
          </a:prstGeom>
          <a:solidFill>
            <a:srgbClr val="7B2D8B">
              <a:alpha val="82000"/>
            </a:srgbClr>
          </a:solidFill>
          <a:ln w="12700">
            <a:solidFill>
              <a:srgbClr val="7B2D8B"/>
            </a:solidFill>
            <a:prstDash val="solid"/>
          </a:ln>
        </p:spPr>
      </p:sp>
      <p:sp>
        <p:nvSpPr>
          <p:cNvPr id="27" name="Text 24"/>
          <p:cNvSpPr/>
          <p:nvPr/>
        </p:nvSpPr>
        <p:spPr>
          <a:xfrm>
            <a:off x="6492240" y="3383280"/>
            <a:ext cx="2377440" cy="594360"/>
          </a:xfrm>
          <a:prstGeom prst="rect">
            <a:avLst/>
          </a:prstGeom>
          <a:noFill/>
        </p:spPr>
        <p:txBody>
          <a:bodyPr wrap="square" lIns="0" tIns="0" rIns="0" bIns="0" rtlCol="0" anchor="ctr"/>
          <a:lstStyle/>
          <a:p>
            <a:pPr marL="0" indent="0" algn="ctr">
              <a:buNone/>
            </a:pPr>
            <a:r>
              <a:rPr lang="en-US" sz="1300" b="1" dirty="0">
                <a:solidFill>
                  <a:srgbClr val="FFFFFF"/>
                </a:solidFill>
              </a:rPr>
              <a:t>Professional Growth</a:t>
            </a:r>
            <a:endParaRPr lang="en-US" sz="1300" dirty="0"/>
          </a:p>
        </p:txBody>
      </p:sp>
      <p:sp>
        <p:nvSpPr>
          <p:cNvPr id="28" name="Shape 25"/>
          <p:cNvSpPr/>
          <p:nvPr/>
        </p:nvSpPr>
        <p:spPr>
          <a:xfrm>
            <a:off x="0" y="4846320"/>
            <a:ext cx="9144000" cy="297180"/>
          </a:xfrm>
          <a:prstGeom prst="rect">
            <a:avLst/>
          </a:prstGeom>
          <a:solidFill>
            <a:srgbClr val="0F3460"/>
          </a:solidFill>
          <a:ln w="12700">
            <a:solidFill>
              <a:srgbClr val="0F3460"/>
            </a:solidFill>
            <a:prstDash val="solid"/>
          </a:ln>
        </p:spPr>
      </p:sp>
      <p:sp>
        <p:nvSpPr>
          <p:cNvPr id="29" name="Text 26"/>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Project Evaluation Presentation  ·  2025–26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94560"/>
          </a:solidFill>
          <a:ln w="12700">
            <a:solidFill>
              <a:srgbClr val="E94560"/>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Introduction</a:t>
            </a:r>
            <a:endParaRPr lang="en-US" sz="2600" dirty="0"/>
          </a:p>
        </p:txBody>
      </p:sp>
      <p:sp>
        <p:nvSpPr>
          <p:cNvPr id="4" name="Text 2"/>
          <p:cNvSpPr/>
          <p:nvPr/>
        </p:nvSpPr>
        <p:spPr>
          <a:xfrm>
            <a:off x="365760" y="886968"/>
            <a:ext cx="8412480" cy="475488"/>
          </a:xfrm>
          <a:prstGeom prst="rect">
            <a:avLst/>
          </a:prstGeom>
          <a:noFill/>
        </p:spPr>
        <p:txBody>
          <a:bodyPr wrap="square" rtlCol="0" anchor="ctr"/>
          <a:lstStyle/>
          <a:p>
            <a:pPr marL="0" indent="0">
              <a:buNone/>
            </a:pPr>
            <a:r>
              <a:rPr lang="en-US" sz="2000" b="1" dirty="0">
                <a:solidFill>
                  <a:srgbClr val="F5A623"/>
                </a:solidFill>
                <a:latin typeface="Trebuchet MS" panose="020B0603020202020204" pitchFamily="34" charset="0"/>
                <a:ea typeface="Trebuchet MS" panose="020B0603020202020204" pitchFamily="34" charset="-122"/>
                <a:cs typeface="Trebuchet MS" panose="020B0603020202020204" pitchFamily="34" charset="-120"/>
              </a:rPr>
              <a:t>What is Campus Connect?</a:t>
            </a:r>
            <a:endParaRPr lang="en-US" sz="2000" dirty="0"/>
          </a:p>
        </p:txBody>
      </p:sp>
      <p:sp>
        <p:nvSpPr>
          <p:cNvPr id="5" name="Text 3"/>
          <p:cNvSpPr/>
          <p:nvPr/>
        </p:nvSpPr>
        <p:spPr>
          <a:xfrm>
            <a:off x="365760" y="1389888"/>
            <a:ext cx="5120640" cy="1280160"/>
          </a:xfrm>
          <a:prstGeom prst="rect">
            <a:avLst/>
          </a:prstGeom>
          <a:noFill/>
        </p:spPr>
        <p:txBody>
          <a:bodyPr wrap="square" rtlCol="0" anchor="ctr"/>
          <a:lstStyle/>
          <a:p>
            <a:pPr marL="0" indent="0">
              <a:buNone/>
            </a:pPr>
            <a:r>
              <a:rPr lang="en-US" sz="1250" dirty="0">
                <a:solidFill>
                  <a:srgbClr val="C8D6E5"/>
                </a:solidFill>
                <a:latin typeface="Calibri" panose="020F0502020204030204" pitchFamily="34" charset="0"/>
                <a:ea typeface="Calibri" panose="020F0502020204030204" pitchFamily="34" charset="-122"/>
                <a:cs typeface="Calibri" panose="020F0502020204030204" pitchFamily="34" charset="-120"/>
              </a:rPr>
              <a:t>Campus Connect is a comprehensive, centralized web platform designed to bridge the gap between students, faculty, and administrators. It serves as a single digital hub that unifies academic management, community engagement, and professional growth — eliminating the need for scattered emails, spreadsheets, and separate portals.</a:t>
            </a:r>
            <a:endParaRPr lang="en-US" sz="1250" dirty="0"/>
          </a:p>
        </p:txBody>
      </p:sp>
      <p:sp>
        <p:nvSpPr>
          <p:cNvPr id="6" name="Shape 4"/>
          <p:cNvSpPr/>
          <p:nvPr/>
        </p:nvSpPr>
        <p:spPr>
          <a:xfrm>
            <a:off x="365760" y="2816352"/>
            <a:ext cx="2331720" cy="713232"/>
          </a:xfrm>
          <a:prstGeom prst="rect">
            <a:avLst/>
          </a:prstGeom>
          <a:solidFill>
            <a:srgbClr val="E94560">
              <a:alpha val="85000"/>
            </a:srgbClr>
          </a:solidFill>
          <a:ln w="12700">
            <a:solidFill>
              <a:srgbClr val="E94560"/>
            </a:solidFill>
            <a:prstDash val="solid"/>
          </a:ln>
        </p:spPr>
      </p:sp>
      <p:sp>
        <p:nvSpPr>
          <p:cNvPr id="7" name="Text 5"/>
          <p:cNvSpPr/>
          <p:nvPr/>
        </p:nvSpPr>
        <p:spPr>
          <a:xfrm>
            <a:off x="384048" y="2825496"/>
            <a:ext cx="2286000" cy="694944"/>
          </a:xfrm>
          <a:prstGeom prst="rect">
            <a:avLst/>
          </a:prstGeom>
          <a:noFill/>
        </p:spPr>
        <p:txBody>
          <a:bodyPr wrap="square" rtlCol="0" anchor="ctr"/>
          <a:lstStyle/>
          <a:p>
            <a:pPr marL="0" indent="0">
              <a:buNone/>
            </a:pPr>
            <a:r>
              <a:rPr lang="en-US" sz="1050" dirty="0">
                <a:solidFill>
                  <a:srgbClr val="FFFFFF"/>
                </a:solidFill>
              </a:rPr>
              <a:t>❌  Fragmented campus tools</a:t>
            </a:r>
            <a:endParaRPr lang="en-US" sz="1050" dirty="0"/>
          </a:p>
          <a:p>
            <a:pPr marL="0" indent="0">
              <a:buNone/>
            </a:pPr>
            <a:r>
              <a:rPr lang="en-US" sz="1050" dirty="0">
                <a:solidFill>
                  <a:srgbClr val="FFFFFF"/>
                </a:solidFill>
              </a:rPr>
              <a:t>    No unified student portal</a:t>
            </a:r>
            <a:endParaRPr lang="en-US" sz="1050" dirty="0"/>
          </a:p>
        </p:txBody>
      </p:sp>
      <p:sp>
        <p:nvSpPr>
          <p:cNvPr id="8" name="Shape 6"/>
          <p:cNvSpPr/>
          <p:nvPr/>
        </p:nvSpPr>
        <p:spPr>
          <a:xfrm>
            <a:off x="2724912" y="3172968"/>
            <a:ext cx="438912" cy="0"/>
          </a:xfrm>
          <a:prstGeom prst="line">
            <a:avLst/>
          </a:prstGeom>
          <a:noFill/>
          <a:ln w="31750">
            <a:solidFill>
              <a:srgbClr val="F5A623"/>
            </a:solidFill>
            <a:prstDash val="solid"/>
          </a:ln>
        </p:spPr>
      </p:sp>
      <p:sp>
        <p:nvSpPr>
          <p:cNvPr id="9" name="Text 7"/>
          <p:cNvSpPr/>
          <p:nvPr/>
        </p:nvSpPr>
        <p:spPr>
          <a:xfrm>
            <a:off x="3127248" y="2999232"/>
            <a:ext cx="274320" cy="365760"/>
          </a:xfrm>
          <a:prstGeom prst="rect">
            <a:avLst/>
          </a:prstGeom>
          <a:noFill/>
        </p:spPr>
        <p:txBody>
          <a:bodyPr wrap="square" rtlCol="0" anchor="ctr"/>
          <a:lstStyle/>
          <a:p>
            <a:pPr marL="0" indent="0" algn="ctr">
              <a:buNone/>
            </a:pPr>
            <a:r>
              <a:rPr lang="en-US" sz="1600" dirty="0">
                <a:solidFill>
                  <a:srgbClr val="F5A623"/>
                </a:solidFill>
              </a:rPr>
              <a:t>▶</a:t>
            </a:r>
            <a:endParaRPr lang="en-US" sz="1600" dirty="0"/>
          </a:p>
        </p:txBody>
      </p:sp>
      <p:sp>
        <p:nvSpPr>
          <p:cNvPr id="10" name="Shape 8"/>
          <p:cNvSpPr/>
          <p:nvPr/>
        </p:nvSpPr>
        <p:spPr>
          <a:xfrm>
            <a:off x="3429000" y="2816352"/>
            <a:ext cx="2331720" cy="713232"/>
          </a:xfrm>
          <a:prstGeom prst="rect">
            <a:avLst/>
          </a:prstGeom>
          <a:solidFill>
            <a:srgbClr val="00C9B1">
              <a:alpha val="85000"/>
            </a:srgbClr>
          </a:solidFill>
          <a:ln w="12700">
            <a:solidFill>
              <a:srgbClr val="00C9B1"/>
            </a:solidFill>
            <a:prstDash val="solid"/>
          </a:ln>
        </p:spPr>
      </p:sp>
      <p:sp>
        <p:nvSpPr>
          <p:cNvPr id="11" name="Text 9"/>
          <p:cNvSpPr/>
          <p:nvPr/>
        </p:nvSpPr>
        <p:spPr>
          <a:xfrm>
            <a:off x="3447288" y="2825496"/>
            <a:ext cx="2286000" cy="694944"/>
          </a:xfrm>
          <a:prstGeom prst="rect">
            <a:avLst/>
          </a:prstGeom>
          <a:noFill/>
        </p:spPr>
        <p:txBody>
          <a:bodyPr wrap="square" rtlCol="0" anchor="ctr"/>
          <a:lstStyle/>
          <a:p>
            <a:pPr marL="0" indent="0">
              <a:buNone/>
            </a:pPr>
            <a:r>
              <a:rPr lang="en-US" sz="1050" dirty="0">
                <a:solidFill>
                  <a:srgbClr val="FFFFFF"/>
                </a:solidFill>
              </a:rPr>
              <a:t>✅  One platform for all needs</a:t>
            </a:r>
            <a:endParaRPr lang="en-US" sz="1050" dirty="0"/>
          </a:p>
          <a:p>
            <a:pPr marL="0" indent="0">
              <a:buNone/>
            </a:pPr>
            <a:r>
              <a:rPr lang="en-US" sz="1050" dirty="0">
                <a:solidFill>
                  <a:srgbClr val="FFFFFF"/>
                </a:solidFill>
              </a:rPr>
              <a:t>    Students, Staff &amp; Admins</a:t>
            </a:r>
            <a:endParaRPr lang="en-US" sz="1050" dirty="0"/>
          </a:p>
        </p:txBody>
      </p:sp>
      <p:sp>
        <p:nvSpPr>
          <p:cNvPr id="12" name="Shape 10"/>
          <p:cNvSpPr/>
          <p:nvPr/>
        </p:nvSpPr>
        <p:spPr>
          <a:xfrm>
            <a:off x="320040" y="3703320"/>
            <a:ext cx="2697480" cy="1005840"/>
          </a:xfrm>
          <a:prstGeom prst="rect">
            <a:avLst/>
          </a:prstGeom>
          <a:solidFill>
            <a:srgbClr val="0D2137"/>
          </a:solidFill>
          <a:ln w="12700">
            <a:solidFill>
              <a:srgbClr val="E94560"/>
            </a:solidFill>
            <a:prstDash val="solid"/>
          </a:ln>
        </p:spPr>
      </p:sp>
      <p:pic>
        <p:nvPicPr>
          <p:cNvPr id="13" name="Image 0" descr="preencoded.png"/>
          <p:cNvPicPr>
            <a:picLocks noChangeAspect="1"/>
          </p:cNvPicPr>
          <p:nvPr/>
        </p:nvPicPr>
        <p:blipFill>
          <a:blip r:embed="rId1"/>
          <a:stretch>
            <a:fillRect/>
          </a:stretch>
        </p:blipFill>
        <p:spPr>
          <a:xfrm>
            <a:off x="457200" y="3794760"/>
            <a:ext cx="411480" cy="411480"/>
          </a:xfrm>
          <a:prstGeom prst="rect">
            <a:avLst/>
          </a:prstGeom>
        </p:spPr>
      </p:pic>
      <p:sp>
        <p:nvSpPr>
          <p:cNvPr id="14" name="Text 11"/>
          <p:cNvSpPr/>
          <p:nvPr/>
        </p:nvSpPr>
        <p:spPr>
          <a:xfrm>
            <a:off x="960120" y="3776472"/>
            <a:ext cx="1920240" cy="411480"/>
          </a:xfrm>
          <a:prstGeom prst="rect">
            <a:avLst/>
          </a:prstGeom>
          <a:noFill/>
        </p:spPr>
        <p:txBody>
          <a:bodyPr wrap="square" rtlCol="0" anchor="ctr"/>
          <a:lstStyle/>
          <a:p>
            <a:pPr marL="0" indent="0">
              <a:buNone/>
            </a:pPr>
            <a:r>
              <a:rPr lang="en-US" sz="1250" b="1" dirty="0">
                <a:solidFill>
                  <a:srgbClr val="E94560"/>
                </a:solidFill>
                <a:latin typeface="Trebuchet MS" panose="020B0603020202020204" pitchFamily="34" charset="0"/>
                <a:ea typeface="Trebuchet MS" panose="020B0603020202020204" pitchFamily="34" charset="-122"/>
                <a:cs typeface="Trebuchet MS" panose="020B0603020202020204" pitchFamily="34" charset="-120"/>
              </a:rPr>
              <a:t>Academic Hub</a:t>
            </a:r>
            <a:endParaRPr lang="en-US" sz="1250" dirty="0"/>
          </a:p>
        </p:txBody>
      </p:sp>
      <p:sp>
        <p:nvSpPr>
          <p:cNvPr id="15" name="Text 12"/>
          <p:cNvSpPr/>
          <p:nvPr/>
        </p:nvSpPr>
        <p:spPr>
          <a:xfrm>
            <a:off x="457200" y="4251960"/>
            <a:ext cx="2423160" cy="411480"/>
          </a:xfrm>
          <a:prstGeom prst="rect">
            <a:avLst/>
          </a:prstGeom>
          <a:noFill/>
        </p:spPr>
        <p:txBody>
          <a:bodyPr wrap="square" rtlCol="0" anchor="ctr"/>
          <a:lstStyle/>
          <a:p>
            <a:pPr marL="0" indent="0">
              <a:buNone/>
            </a:pPr>
            <a:r>
              <a:rPr lang="en-US" sz="1050" dirty="0">
                <a:solidFill>
                  <a:srgbClr val="C8D6E5"/>
                </a:solidFill>
              </a:rPr>
              <a:t>Subjects, tasks, grades, attendance — all in one place.</a:t>
            </a:r>
            <a:endParaRPr lang="en-US" sz="1050" dirty="0"/>
          </a:p>
        </p:txBody>
      </p:sp>
      <p:sp>
        <p:nvSpPr>
          <p:cNvPr id="16" name="Shape 13"/>
          <p:cNvSpPr/>
          <p:nvPr/>
        </p:nvSpPr>
        <p:spPr>
          <a:xfrm>
            <a:off x="3200400" y="3703320"/>
            <a:ext cx="2697480" cy="1005840"/>
          </a:xfrm>
          <a:prstGeom prst="rect">
            <a:avLst/>
          </a:prstGeom>
          <a:solidFill>
            <a:srgbClr val="0D2137"/>
          </a:solidFill>
          <a:ln w="12700">
            <a:solidFill>
              <a:srgbClr val="00C9B1"/>
            </a:solidFill>
            <a:prstDash val="solid"/>
          </a:ln>
        </p:spPr>
      </p:sp>
      <p:pic>
        <p:nvPicPr>
          <p:cNvPr id="17" name="Image 1" descr="preencoded.png"/>
          <p:cNvPicPr>
            <a:picLocks noChangeAspect="1"/>
          </p:cNvPicPr>
          <p:nvPr/>
        </p:nvPicPr>
        <p:blipFill>
          <a:blip r:embed="rId2"/>
          <a:stretch>
            <a:fillRect/>
          </a:stretch>
        </p:blipFill>
        <p:spPr>
          <a:xfrm>
            <a:off x="3337560" y="3794760"/>
            <a:ext cx="411480" cy="411480"/>
          </a:xfrm>
          <a:prstGeom prst="rect">
            <a:avLst/>
          </a:prstGeom>
        </p:spPr>
      </p:pic>
      <p:sp>
        <p:nvSpPr>
          <p:cNvPr id="18" name="Text 14"/>
          <p:cNvSpPr/>
          <p:nvPr/>
        </p:nvSpPr>
        <p:spPr>
          <a:xfrm>
            <a:off x="3840480" y="3776472"/>
            <a:ext cx="1920240" cy="411480"/>
          </a:xfrm>
          <a:prstGeom prst="rect">
            <a:avLst/>
          </a:prstGeom>
          <a:noFill/>
        </p:spPr>
        <p:txBody>
          <a:bodyPr wrap="square" rtlCol="0" anchor="ctr"/>
          <a:lstStyle/>
          <a:p>
            <a:pPr marL="0" indent="0">
              <a:buNone/>
            </a:pPr>
            <a:r>
              <a:rPr lang="en-US" sz="1250" b="1" dirty="0">
                <a:solidFill>
                  <a:srgbClr val="00C9B1"/>
                </a:solidFill>
                <a:latin typeface="Trebuchet MS" panose="020B0603020202020204" pitchFamily="34" charset="0"/>
                <a:ea typeface="Trebuchet MS" panose="020B0603020202020204" pitchFamily="34" charset="-122"/>
                <a:cs typeface="Trebuchet MS" panose="020B0603020202020204" pitchFamily="34" charset="-120"/>
              </a:rPr>
              <a:t>Community</a:t>
            </a:r>
            <a:endParaRPr lang="en-US" sz="1250" dirty="0"/>
          </a:p>
        </p:txBody>
      </p:sp>
      <p:sp>
        <p:nvSpPr>
          <p:cNvPr id="19" name="Text 15"/>
          <p:cNvSpPr/>
          <p:nvPr/>
        </p:nvSpPr>
        <p:spPr>
          <a:xfrm>
            <a:off x="3337560" y="4251960"/>
            <a:ext cx="2423160" cy="411480"/>
          </a:xfrm>
          <a:prstGeom prst="rect">
            <a:avLst/>
          </a:prstGeom>
          <a:noFill/>
        </p:spPr>
        <p:txBody>
          <a:bodyPr wrap="square" rtlCol="0" anchor="ctr"/>
          <a:lstStyle/>
          <a:p>
            <a:pPr marL="0" indent="0">
              <a:buNone/>
            </a:pPr>
            <a:r>
              <a:rPr lang="en-US" sz="1050" dirty="0">
                <a:solidFill>
                  <a:srgbClr val="C8D6E5"/>
                </a:solidFill>
              </a:rPr>
              <a:t>Forums, Team Finder, Events to collaborate beyond class.</a:t>
            </a:r>
            <a:endParaRPr lang="en-US" sz="1050" dirty="0"/>
          </a:p>
        </p:txBody>
      </p:sp>
      <p:sp>
        <p:nvSpPr>
          <p:cNvPr id="20" name="Shape 16"/>
          <p:cNvSpPr/>
          <p:nvPr/>
        </p:nvSpPr>
        <p:spPr>
          <a:xfrm>
            <a:off x="6080760" y="3703320"/>
            <a:ext cx="2697480" cy="1005840"/>
          </a:xfrm>
          <a:prstGeom prst="rect">
            <a:avLst/>
          </a:prstGeom>
          <a:solidFill>
            <a:srgbClr val="0D2137"/>
          </a:solidFill>
          <a:ln w="12700">
            <a:solidFill>
              <a:srgbClr val="F5A623"/>
            </a:solidFill>
            <a:prstDash val="solid"/>
          </a:ln>
        </p:spPr>
      </p:sp>
      <p:pic>
        <p:nvPicPr>
          <p:cNvPr id="21" name="Image 2" descr="preencoded.png"/>
          <p:cNvPicPr>
            <a:picLocks noChangeAspect="1"/>
          </p:cNvPicPr>
          <p:nvPr/>
        </p:nvPicPr>
        <p:blipFill>
          <a:blip r:embed="rId3"/>
          <a:stretch>
            <a:fillRect/>
          </a:stretch>
        </p:blipFill>
        <p:spPr>
          <a:xfrm>
            <a:off x="6217920" y="3794760"/>
            <a:ext cx="411480" cy="411480"/>
          </a:xfrm>
          <a:prstGeom prst="rect">
            <a:avLst/>
          </a:prstGeom>
        </p:spPr>
      </p:pic>
      <p:sp>
        <p:nvSpPr>
          <p:cNvPr id="22" name="Text 17"/>
          <p:cNvSpPr/>
          <p:nvPr/>
        </p:nvSpPr>
        <p:spPr>
          <a:xfrm>
            <a:off x="6720840" y="3776472"/>
            <a:ext cx="1920240" cy="411480"/>
          </a:xfrm>
          <a:prstGeom prst="rect">
            <a:avLst/>
          </a:prstGeom>
          <a:noFill/>
        </p:spPr>
        <p:txBody>
          <a:bodyPr wrap="square" rtlCol="0" anchor="ctr"/>
          <a:lstStyle/>
          <a:p>
            <a:pPr marL="0" indent="0">
              <a:buNone/>
            </a:pPr>
            <a:r>
              <a:rPr lang="en-US" sz="1250" b="1" dirty="0">
                <a:solidFill>
                  <a:srgbClr val="F5A623"/>
                </a:solidFill>
                <a:latin typeface="Trebuchet MS" panose="020B0603020202020204" pitchFamily="34" charset="0"/>
                <a:ea typeface="Trebuchet MS" panose="020B0603020202020204" pitchFamily="34" charset="-122"/>
                <a:cs typeface="Trebuchet MS" panose="020B0603020202020204" pitchFamily="34" charset="-120"/>
              </a:rPr>
              <a:t>Opportunities</a:t>
            </a:r>
            <a:endParaRPr lang="en-US" sz="1250" dirty="0"/>
          </a:p>
        </p:txBody>
      </p:sp>
      <p:sp>
        <p:nvSpPr>
          <p:cNvPr id="23" name="Text 18"/>
          <p:cNvSpPr/>
          <p:nvPr/>
        </p:nvSpPr>
        <p:spPr>
          <a:xfrm>
            <a:off x="6217920" y="4251960"/>
            <a:ext cx="2423160" cy="411480"/>
          </a:xfrm>
          <a:prstGeom prst="rect">
            <a:avLst/>
          </a:prstGeom>
          <a:noFill/>
        </p:spPr>
        <p:txBody>
          <a:bodyPr wrap="square" rtlCol="0" anchor="ctr"/>
          <a:lstStyle/>
          <a:p>
            <a:pPr marL="0" indent="0">
              <a:buNone/>
            </a:pPr>
            <a:r>
              <a:rPr lang="en-US" sz="1050" dirty="0">
                <a:solidFill>
                  <a:srgbClr val="C8D6E5"/>
                </a:solidFill>
              </a:rPr>
              <a:t>Internships, jobs and research projects at your fingertips.</a:t>
            </a:r>
            <a:endParaRPr lang="en-US" sz="1050" dirty="0"/>
          </a:p>
        </p:txBody>
      </p:sp>
      <p:sp>
        <p:nvSpPr>
          <p:cNvPr id="24" name="Shape 19"/>
          <p:cNvSpPr/>
          <p:nvPr/>
        </p:nvSpPr>
        <p:spPr>
          <a:xfrm>
            <a:off x="5687568" y="886968"/>
            <a:ext cx="3154680" cy="1783080"/>
          </a:xfrm>
          <a:prstGeom prst="rect">
            <a:avLst/>
          </a:prstGeom>
          <a:solidFill>
            <a:srgbClr val="0D2137"/>
          </a:solidFill>
          <a:ln w="12700">
            <a:solidFill>
              <a:srgbClr val="0F3460"/>
            </a:solidFill>
            <a:prstDash val="solid"/>
          </a:ln>
        </p:spPr>
      </p:sp>
      <p:sp>
        <p:nvSpPr>
          <p:cNvPr id="25" name="Shape 20"/>
          <p:cNvSpPr/>
          <p:nvPr/>
        </p:nvSpPr>
        <p:spPr>
          <a:xfrm>
            <a:off x="5687568" y="886968"/>
            <a:ext cx="64008" cy="1783080"/>
          </a:xfrm>
          <a:prstGeom prst="rect">
            <a:avLst/>
          </a:prstGeom>
          <a:solidFill>
            <a:srgbClr val="00C9B1"/>
          </a:solidFill>
          <a:ln w="12700">
            <a:solidFill>
              <a:srgbClr val="00C9B1"/>
            </a:solidFill>
            <a:prstDash val="solid"/>
          </a:ln>
        </p:spPr>
      </p:sp>
      <p:sp>
        <p:nvSpPr>
          <p:cNvPr id="26" name="Text 21"/>
          <p:cNvSpPr/>
          <p:nvPr/>
        </p:nvSpPr>
        <p:spPr>
          <a:xfrm>
            <a:off x="5833872" y="905256"/>
            <a:ext cx="2834640" cy="347472"/>
          </a:xfrm>
          <a:prstGeom prst="rect">
            <a:avLst/>
          </a:prstGeom>
          <a:noFill/>
        </p:spPr>
        <p:txBody>
          <a:bodyPr wrap="square" rtlCol="0" anchor="ctr"/>
          <a:lstStyle/>
          <a:p>
            <a:pPr marL="0" indent="0">
              <a:buNone/>
            </a:pPr>
            <a:r>
              <a:rPr lang="en-US" sz="1300" b="1" dirty="0">
                <a:solidFill>
                  <a:srgbClr val="00C9B1"/>
                </a:solidFill>
                <a:latin typeface="Trebuchet MS" panose="020B0603020202020204" pitchFamily="34" charset="0"/>
                <a:ea typeface="Trebuchet MS" panose="020B0603020202020204" pitchFamily="34" charset="-122"/>
                <a:cs typeface="Trebuchet MS" panose="020B0603020202020204" pitchFamily="34" charset="-120"/>
              </a:rPr>
              <a:t>Key Facts</a:t>
            </a:r>
            <a:endParaRPr lang="en-US" sz="1300" dirty="0"/>
          </a:p>
        </p:txBody>
      </p:sp>
      <p:sp>
        <p:nvSpPr>
          <p:cNvPr id="27" name="Text 22"/>
          <p:cNvSpPr/>
          <p:nvPr/>
        </p:nvSpPr>
        <p:spPr>
          <a:xfrm>
            <a:off x="5797296" y="1280160"/>
            <a:ext cx="2944368" cy="265176"/>
          </a:xfrm>
          <a:prstGeom prst="rect">
            <a:avLst/>
          </a:prstGeom>
          <a:noFill/>
        </p:spPr>
        <p:txBody>
          <a:bodyPr wrap="square" rtlCol="0" anchor="ctr"/>
          <a:lstStyle/>
          <a:p>
            <a:pPr marL="0" indent="0">
              <a:buNone/>
            </a:pPr>
            <a:r>
              <a:rPr lang="en-US" sz="1050" b="1" dirty="0">
                <a:solidFill>
                  <a:srgbClr val="F5A623"/>
                </a:solidFill>
              </a:rPr>
              <a:t>›  </a:t>
            </a:r>
            <a:r>
              <a:rPr lang="en-US" sz="1050" dirty="0">
                <a:solidFill>
                  <a:srgbClr val="C8D6E5"/>
                </a:solidFill>
              </a:rPr>
              <a:t>Full-stack web application (React + Node.js)</a:t>
            </a:r>
            <a:endParaRPr lang="en-US" sz="1050" dirty="0"/>
          </a:p>
        </p:txBody>
      </p:sp>
      <p:sp>
        <p:nvSpPr>
          <p:cNvPr id="28" name="Text 23"/>
          <p:cNvSpPr/>
          <p:nvPr/>
        </p:nvSpPr>
        <p:spPr>
          <a:xfrm>
            <a:off x="5797296" y="1545336"/>
            <a:ext cx="2944368" cy="265176"/>
          </a:xfrm>
          <a:prstGeom prst="rect">
            <a:avLst/>
          </a:prstGeom>
          <a:noFill/>
        </p:spPr>
        <p:txBody>
          <a:bodyPr wrap="square" rtlCol="0" anchor="ctr"/>
          <a:lstStyle/>
          <a:p>
            <a:pPr marL="0" indent="0">
              <a:buNone/>
            </a:pPr>
            <a:r>
              <a:rPr lang="en-US" sz="1050" b="1" dirty="0">
                <a:solidFill>
                  <a:srgbClr val="F5A623"/>
                </a:solidFill>
              </a:rPr>
              <a:t>›  </a:t>
            </a:r>
            <a:r>
              <a:rPr lang="en-US" sz="1050" dirty="0">
                <a:solidFill>
                  <a:srgbClr val="C8D6E5"/>
                </a:solidFill>
              </a:rPr>
              <a:t>Role-Based Access Control (Student / Staff)</a:t>
            </a:r>
            <a:endParaRPr lang="en-US" sz="1050" dirty="0"/>
          </a:p>
        </p:txBody>
      </p:sp>
      <p:sp>
        <p:nvSpPr>
          <p:cNvPr id="29" name="Text 24"/>
          <p:cNvSpPr/>
          <p:nvPr/>
        </p:nvSpPr>
        <p:spPr>
          <a:xfrm>
            <a:off x="5797296" y="1810512"/>
            <a:ext cx="2944368" cy="265176"/>
          </a:xfrm>
          <a:prstGeom prst="rect">
            <a:avLst/>
          </a:prstGeom>
          <a:noFill/>
        </p:spPr>
        <p:txBody>
          <a:bodyPr wrap="square" rtlCol="0" anchor="ctr"/>
          <a:lstStyle/>
          <a:p>
            <a:pPr marL="0" indent="0">
              <a:buNone/>
            </a:pPr>
            <a:r>
              <a:rPr lang="en-US" sz="1050" b="1" dirty="0">
                <a:solidFill>
                  <a:srgbClr val="F5A623"/>
                </a:solidFill>
              </a:rPr>
              <a:t>›  </a:t>
            </a:r>
            <a:r>
              <a:rPr lang="en-US" sz="1050" dirty="0">
                <a:solidFill>
                  <a:srgbClr val="C8D6E5"/>
                </a:solidFill>
              </a:rPr>
              <a:t>JWT-secured authentication with bcrypt</a:t>
            </a:r>
            <a:endParaRPr lang="en-US" sz="1050" dirty="0"/>
          </a:p>
        </p:txBody>
      </p:sp>
      <p:sp>
        <p:nvSpPr>
          <p:cNvPr id="30" name="Text 25"/>
          <p:cNvSpPr/>
          <p:nvPr/>
        </p:nvSpPr>
        <p:spPr>
          <a:xfrm>
            <a:off x="5797296" y="2075688"/>
            <a:ext cx="2944368" cy="265176"/>
          </a:xfrm>
          <a:prstGeom prst="rect">
            <a:avLst/>
          </a:prstGeom>
          <a:noFill/>
        </p:spPr>
        <p:txBody>
          <a:bodyPr wrap="square" rtlCol="0" anchor="ctr"/>
          <a:lstStyle/>
          <a:p>
            <a:pPr marL="0" indent="0">
              <a:buNone/>
            </a:pPr>
            <a:r>
              <a:rPr lang="en-US" sz="1050" b="1" dirty="0">
                <a:solidFill>
                  <a:srgbClr val="F5A623"/>
                </a:solidFill>
              </a:rPr>
              <a:t>›  </a:t>
            </a:r>
            <a:r>
              <a:rPr lang="en-US" sz="1050" dirty="0">
                <a:solidFill>
                  <a:srgbClr val="C8D6E5"/>
                </a:solidFill>
              </a:rPr>
              <a:t>PostgreSQL database with Sequelize ORM</a:t>
            </a:r>
            <a:endParaRPr lang="en-US" sz="1050" dirty="0"/>
          </a:p>
        </p:txBody>
      </p:sp>
      <p:sp>
        <p:nvSpPr>
          <p:cNvPr id="31" name="Text 26"/>
          <p:cNvSpPr/>
          <p:nvPr/>
        </p:nvSpPr>
        <p:spPr>
          <a:xfrm>
            <a:off x="5797296" y="2340864"/>
            <a:ext cx="2944368" cy="265176"/>
          </a:xfrm>
          <a:prstGeom prst="rect">
            <a:avLst/>
          </a:prstGeom>
          <a:noFill/>
        </p:spPr>
        <p:txBody>
          <a:bodyPr wrap="square" rtlCol="0" anchor="ctr"/>
          <a:lstStyle/>
          <a:p>
            <a:pPr marL="0" indent="0">
              <a:buNone/>
            </a:pPr>
            <a:r>
              <a:rPr lang="en-US" sz="1050" b="1" dirty="0">
                <a:solidFill>
                  <a:srgbClr val="F5A623"/>
                </a:solidFill>
              </a:rPr>
              <a:t>›  </a:t>
            </a:r>
            <a:r>
              <a:rPr lang="en-US" sz="1050" dirty="0">
                <a:solidFill>
                  <a:srgbClr val="C8D6E5"/>
                </a:solidFill>
              </a:rPr>
              <a:t>Real-time frontend state management</a:t>
            </a:r>
            <a:endParaRPr lang="en-US" sz="1050" dirty="0"/>
          </a:p>
        </p:txBody>
      </p:sp>
      <p:sp>
        <p:nvSpPr>
          <p:cNvPr id="32" name="Shape 27"/>
          <p:cNvSpPr/>
          <p:nvPr/>
        </p:nvSpPr>
        <p:spPr>
          <a:xfrm>
            <a:off x="0" y="4846320"/>
            <a:ext cx="9144000" cy="297180"/>
          </a:xfrm>
          <a:prstGeom prst="rect">
            <a:avLst/>
          </a:prstGeom>
          <a:solidFill>
            <a:srgbClr val="0F3460"/>
          </a:solidFill>
          <a:ln w="12700">
            <a:solidFill>
              <a:srgbClr val="0F3460"/>
            </a:solidFill>
            <a:prstDash val="solid"/>
          </a:ln>
        </p:spPr>
      </p:sp>
      <p:sp>
        <p:nvSpPr>
          <p:cNvPr id="33" name="Text 28"/>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Introduction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C9B1"/>
          </a:solidFill>
          <a:ln w="12700">
            <a:solidFill>
              <a:srgbClr val="00C9B1"/>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Objectives</a:t>
            </a:r>
            <a:endParaRPr lang="en-US" sz="2600" dirty="0"/>
          </a:p>
        </p:txBody>
      </p:sp>
      <p:sp>
        <p:nvSpPr>
          <p:cNvPr id="4" name="Text 2"/>
          <p:cNvSpPr/>
          <p:nvPr/>
        </p:nvSpPr>
        <p:spPr>
          <a:xfrm>
            <a:off x="365760" y="822960"/>
            <a:ext cx="8412480" cy="365760"/>
          </a:xfrm>
          <a:prstGeom prst="rect">
            <a:avLst/>
          </a:prstGeom>
          <a:noFill/>
        </p:spPr>
        <p:txBody>
          <a:bodyPr wrap="square" rtlCol="0" anchor="ctr"/>
          <a:lstStyle/>
          <a:p>
            <a:pPr marL="0" indent="0">
              <a:buNone/>
            </a:pPr>
            <a:r>
              <a:rPr lang="en-US" sz="1300" i="1" dirty="0">
                <a:solidFill>
                  <a:srgbClr val="C8D6E5"/>
                </a:solidFill>
              </a:rPr>
              <a:t>What Campus Connect aims to achieve</a:t>
            </a:r>
            <a:endParaRPr lang="en-US" sz="1300" dirty="0"/>
          </a:p>
        </p:txBody>
      </p:sp>
      <p:sp>
        <p:nvSpPr>
          <p:cNvPr id="5" name="Shape 3"/>
          <p:cNvSpPr/>
          <p:nvPr/>
        </p:nvSpPr>
        <p:spPr>
          <a:xfrm>
            <a:off x="320040" y="1298448"/>
            <a:ext cx="4206240" cy="1051560"/>
          </a:xfrm>
          <a:prstGeom prst="rect">
            <a:avLst/>
          </a:prstGeom>
          <a:solidFill>
            <a:srgbClr val="0D2137"/>
          </a:solidFill>
          <a:ln w="12700">
            <a:solidFill>
              <a:srgbClr val="E94560"/>
            </a:solidFill>
            <a:prstDash val="solid"/>
          </a:ln>
        </p:spPr>
      </p:sp>
      <p:sp>
        <p:nvSpPr>
          <p:cNvPr id="6" name="Shape 4"/>
          <p:cNvSpPr/>
          <p:nvPr/>
        </p:nvSpPr>
        <p:spPr>
          <a:xfrm>
            <a:off x="320040" y="1298448"/>
            <a:ext cx="64008" cy="1051560"/>
          </a:xfrm>
          <a:prstGeom prst="rect">
            <a:avLst/>
          </a:prstGeom>
          <a:solidFill>
            <a:srgbClr val="E94560"/>
          </a:solidFill>
          <a:ln w="12700">
            <a:solidFill>
              <a:srgbClr val="E94560"/>
            </a:solidFill>
            <a:prstDash val="solid"/>
          </a:ln>
        </p:spPr>
      </p:sp>
      <p:pic>
        <p:nvPicPr>
          <p:cNvPr id="7" name="Image 0" descr="preencoded.png"/>
          <p:cNvPicPr>
            <a:picLocks noChangeAspect="1"/>
          </p:cNvPicPr>
          <p:nvPr/>
        </p:nvPicPr>
        <p:blipFill>
          <a:blip r:embed="rId1"/>
          <a:stretch>
            <a:fillRect/>
          </a:stretch>
        </p:blipFill>
        <p:spPr>
          <a:xfrm>
            <a:off x="484632" y="1408176"/>
            <a:ext cx="438912" cy="438912"/>
          </a:xfrm>
          <a:prstGeom prst="rect">
            <a:avLst/>
          </a:prstGeom>
        </p:spPr>
      </p:pic>
      <p:sp>
        <p:nvSpPr>
          <p:cNvPr id="8" name="Shape 5"/>
          <p:cNvSpPr/>
          <p:nvPr/>
        </p:nvSpPr>
        <p:spPr>
          <a:xfrm>
            <a:off x="1024128" y="1408176"/>
            <a:ext cx="475488" cy="475488"/>
          </a:xfrm>
          <a:prstGeom prst="rect">
            <a:avLst/>
          </a:prstGeom>
          <a:solidFill>
            <a:srgbClr val="E94560"/>
          </a:solidFill>
          <a:ln w="12700">
            <a:solidFill>
              <a:srgbClr val="E94560"/>
            </a:solidFill>
            <a:prstDash val="solid"/>
          </a:ln>
        </p:spPr>
      </p:sp>
      <p:sp>
        <p:nvSpPr>
          <p:cNvPr id="9" name="Text 6"/>
          <p:cNvSpPr/>
          <p:nvPr/>
        </p:nvSpPr>
        <p:spPr>
          <a:xfrm>
            <a:off x="1024128" y="1408176"/>
            <a:ext cx="475488" cy="475488"/>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0" name="Text 7"/>
          <p:cNvSpPr/>
          <p:nvPr/>
        </p:nvSpPr>
        <p:spPr>
          <a:xfrm>
            <a:off x="1600200" y="1389888"/>
            <a:ext cx="2788920" cy="384048"/>
          </a:xfrm>
          <a:prstGeom prst="rect">
            <a:avLst/>
          </a:prstGeom>
          <a:noFill/>
        </p:spPr>
        <p:txBody>
          <a:bodyPr wrap="square" rtlCol="0" anchor="ctr"/>
          <a:lstStyle/>
          <a:p>
            <a:pPr marL="0" indent="0">
              <a:buNone/>
            </a:pPr>
            <a:r>
              <a:rPr lang="en-US" sz="1250" b="1" dirty="0">
                <a:solidFill>
                  <a:srgbClr val="E94560"/>
                </a:solidFill>
                <a:latin typeface="Trebuchet MS" panose="020B0603020202020204" pitchFamily="34" charset="0"/>
                <a:ea typeface="Trebuchet MS" panose="020B0603020202020204" pitchFamily="34" charset="-122"/>
                <a:cs typeface="Trebuchet MS" panose="020B0603020202020204" pitchFamily="34" charset="-120"/>
              </a:rPr>
              <a:t>Centralize Campus Operations</a:t>
            </a:r>
            <a:endParaRPr lang="en-US" sz="1250" dirty="0"/>
          </a:p>
        </p:txBody>
      </p:sp>
      <p:sp>
        <p:nvSpPr>
          <p:cNvPr id="11" name="Text 8"/>
          <p:cNvSpPr/>
          <p:nvPr/>
        </p:nvSpPr>
        <p:spPr>
          <a:xfrm>
            <a:off x="484632" y="1865376"/>
            <a:ext cx="3913632" cy="438912"/>
          </a:xfrm>
          <a:prstGeom prst="rect">
            <a:avLst/>
          </a:prstGeom>
          <a:noFill/>
        </p:spPr>
        <p:txBody>
          <a:bodyPr wrap="square" rtlCol="0" anchor="ctr"/>
          <a:lstStyle/>
          <a:p>
            <a:pPr marL="0" indent="0">
              <a:buNone/>
            </a:pPr>
            <a:r>
              <a:rPr lang="en-US" sz="1050" dirty="0">
                <a:solidFill>
                  <a:srgbClr val="C8D6E5"/>
                </a:solidFill>
              </a:rPr>
              <a:t>Provide a single, unified platform replacing fragmented tools for academic and administrative tasks.</a:t>
            </a:r>
            <a:endParaRPr lang="en-US" sz="1050" dirty="0"/>
          </a:p>
        </p:txBody>
      </p:sp>
      <p:sp>
        <p:nvSpPr>
          <p:cNvPr id="12" name="Shape 9"/>
          <p:cNvSpPr/>
          <p:nvPr/>
        </p:nvSpPr>
        <p:spPr>
          <a:xfrm>
            <a:off x="4754880" y="1298448"/>
            <a:ext cx="4206240" cy="1051560"/>
          </a:xfrm>
          <a:prstGeom prst="rect">
            <a:avLst/>
          </a:prstGeom>
          <a:solidFill>
            <a:srgbClr val="0D2137"/>
          </a:solidFill>
          <a:ln w="12700">
            <a:solidFill>
              <a:srgbClr val="F5A623"/>
            </a:solidFill>
            <a:prstDash val="solid"/>
          </a:ln>
        </p:spPr>
      </p:sp>
      <p:sp>
        <p:nvSpPr>
          <p:cNvPr id="13" name="Shape 10"/>
          <p:cNvSpPr/>
          <p:nvPr/>
        </p:nvSpPr>
        <p:spPr>
          <a:xfrm>
            <a:off x="4754880" y="1298448"/>
            <a:ext cx="64008" cy="1051560"/>
          </a:xfrm>
          <a:prstGeom prst="rect">
            <a:avLst/>
          </a:prstGeom>
          <a:solidFill>
            <a:srgbClr val="F5A623"/>
          </a:solidFill>
          <a:ln w="12700">
            <a:solidFill>
              <a:srgbClr val="F5A623"/>
            </a:solidFill>
            <a:prstDash val="solid"/>
          </a:ln>
        </p:spPr>
      </p:sp>
      <p:pic>
        <p:nvPicPr>
          <p:cNvPr id="14" name="Image 1" descr="preencoded.png"/>
          <p:cNvPicPr>
            <a:picLocks noChangeAspect="1"/>
          </p:cNvPicPr>
          <p:nvPr/>
        </p:nvPicPr>
        <p:blipFill>
          <a:blip r:embed="rId2"/>
          <a:stretch>
            <a:fillRect/>
          </a:stretch>
        </p:blipFill>
        <p:spPr>
          <a:xfrm>
            <a:off x="4919472" y="1408176"/>
            <a:ext cx="438912" cy="438912"/>
          </a:xfrm>
          <a:prstGeom prst="rect">
            <a:avLst/>
          </a:prstGeom>
        </p:spPr>
      </p:pic>
      <p:sp>
        <p:nvSpPr>
          <p:cNvPr id="15" name="Shape 11"/>
          <p:cNvSpPr/>
          <p:nvPr/>
        </p:nvSpPr>
        <p:spPr>
          <a:xfrm>
            <a:off x="5458968" y="1408176"/>
            <a:ext cx="475488" cy="475488"/>
          </a:xfrm>
          <a:prstGeom prst="rect">
            <a:avLst/>
          </a:prstGeom>
          <a:solidFill>
            <a:srgbClr val="F5A623"/>
          </a:solidFill>
          <a:ln w="12700">
            <a:solidFill>
              <a:srgbClr val="F5A623"/>
            </a:solidFill>
            <a:prstDash val="solid"/>
          </a:ln>
        </p:spPr>
      </p:sp>
      <p:sp>
        <p:nvSpPr>
          <p:cNvPr id="16" name="Text 12"/>
          <p:cNvSpPr/>
          <p:nvPr/>
        </p:nvSpPr>
        <p:spPr>
          <a:xfrm>
            <a:off x="5458968" y="1408176"/>
            <a:ext cx="475488" cy="475488"/>
          </a:xfrm>
          <a:prstGeom prst="rect">
            <a:avLst/>
          </a:prstGeom>
          <a:noFill/>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7" name="Text 13"/>
          <p:cNvSpPr/>
          <p:nvPr/>
        </p:nvSpPr>
        <p:spPr>
          <a:xfrm>
            <a:off x="6035040" y="1389888"/>
            <a:ext cx="2788920" cy="384048"/>
          </a:xfrm>
          <a:prstGeom prst="rect">
            <a:avLst/>
          </a:prstGeom>
          <a:noFill/>
        </p:spPr>
        <p:txBody>
          <a:bodyPr wrap="square" rtlCol="0" anchor="ctr"/>
          <a:lstStyle/>
          <a:p>
            <a:pPr marL="0" indent="0">
              <a:buNone/>
            </a:pPr>
            <a:r>
              <a:rPr lang="en-US" sz="1250" b="1" dirty="0">
                <a:solidFill>
                  <a:srgbClr val="F5A623"/>
                </a:solidFill>
                <a:latin typeface="Trebuchet MS" panose="020B0603020202020204" pitchFamily="34" charset="0"/>
                <a:ea typeface="Trebuchet MS" panose="020B0603020202020204" pitchFamily="34" charset="-122"/>
                <a:cs typeface="Trebuchet MS" panose="020B0603020202020204" pitchFamily="34" charset="-120"/>
              </a:rPr>
              <a:t>Implement Role-Based Access</a:t>
            </a:r>
            <a:endParaRPr lang="en-US" sz="1250" dirty="0"/>
          </a:p>
        </p:txBody>
      </p:sp>
      <p:sp>
        <p:nvSpPr>
          <p:cNvPr id="18" name="Text 14"/>
          <p:cNvSpPr/>
          <p:nvPr/>
        </p:nvSpPr>
        <p:spPr>
          <a:xfrm>
            <a:off x="4919472" y="1865376"/>
            <a:ext cx="3913632" cy="438912"/>
          </a:xfrm>
          <a:prstGeom prst="rect">
            <a:avLst/>
          </a:prstGeom>
          <a:noFill/>
        </p:spPr>
        <p:txBody>
          <a:bodyPr wrap="square" rtlCol="0" anchor="ctr"/>
          <a:lstStyle/>
          <a:p>
            <a:pPr marL="0" indent="0">
              <a:buNone/>
            </a:pPr>
            <a:r>
              <a:rPr lang="en-US" sz="1050" dirty="0">
                <a:solidFill>
                  <a:srgbClr val="C8D6E5"/>
                </a:solidFill>
              </a:rPr>
              <a:t>Ensure students, staff, and admins each see only the features and data relevant to their role via RBAC.</a:t>
            </a:r>
            <a:endParaRPr lang="en-US" sz="1050" dirty="0"/>
          </a:p>
        </p:txBody>
      </p:sp>
      <p:sp>
        <p:nvSpPr>
          <p:cNvPr id="19" name="Shape 15"/>
          <p:cNvSpPr/>
          <p:nvPr/>
        </p:nvSpPr>
        <p:spPr>
          <a:xfrm>
            <a:off x="320040" y="2487168"/>
            <a:ext cx="4206240" cy="1051560"/>
          </a:xfrm>
          <a:prstGeom prst="rect">
            <a:avLst/>
          </a:prstGeom>
          <a:solidFill>
            <a:srgbClr val="0D2137"/>
          </a:solidFill>
          <a:ln w="12700">
            <a:solidFill>
              <a:srgbClr val="00C9B1"/>
            </a:solidFill>
            <a:prstDash val="solid"/>
          </a:ln>
        </p:spPr>
      </p:sp>
      <p:sp>
        <p:nvSpPr>
          <p:cNvPr id="20" name="Shape 16"/>
          <p:cNvSpPr/>
          <p:nvPr/>
        </p:nvSpPr>
        <p:spPr>
          <a:xfrm>
            <a:off x="320040" y="2487168"/>
            <a:ext cx="64008" cy="1051560"/>
          </a:xfrm>
          <a:prstGeom prst="rect">
            <a:avLst/>
          </a:prstGeom>
          <a:solidFill>
            <a:srgbClr val="00C9B1"/>
          </a:solidFill>
          <a:ln w="12700">
            <a:solidFill>
              <a:srgbClr val="00C9B1"/>
            </a:solidFill>
            <a:prstDash val="solid"/>
          </a:ln>
        </p:spPr>
      </p:sp>
      <p:pic>
        <p:nvPicPr>
          <p:cNvPr id="21" name="Image 2" descr="preencoded.png"/>
          <p:cNvPicPr>
            <a:picLocks noChangeAspect="1"/>
          </p:cNvPicPr>
          <p:nvPr/>
        </p:nvPicPr>
        <p:blipFill>
          <a:blip r:embed="rId3"/>
          <a:stretch>
            <a:fillRect/>
          </a:stretch>
        </p:blipFill>
        <p:spPr>
          <a:xfrm>
            <a:off x="484632" y="2596896"/>
            <a:ext cx="438912" cy="438912"/>
          </a:xfrm>
          <a:prstGeom prst="rect">
            <a:avLst/>
          </a:prstGeom>
        </p:spPr>
      </p:pic>
      <p:sp>
        <p:nvSpPr>
          <p:cNvPr id="22" name="Shape 17"/>
          <p:cNvSpPr/>
          <p:nvPr/>
        </p:nvSpPr>
        <p:spPr>
          <a:xfrm>
            <a:off x="1024128" y="2596896"/>
            <a:ext cx="475488" cy="475488"/>
          </a:xfrm>
          <a:prstGeom prst="rect">
            <a:avLst/>
          </a:prstGeom>
          <a:solidFill>
            <a:srgbClr val="00C9B1"/>
          </a:solidFill>
          <a:ln w="12700">
            <a:solidFill>
              <a:srgbClr val="00C9B1"/>
            </a:solidFill>
            <a:prstDash val="solid"/>
          </a:ln>
        </p:spPr>
      </p:sp>
      <p:sp>
        <p:nvSpPr>
          <p:cNvPr id="23" name="Text 18"/>
          <p:cNvSpPr/>
          <p:nvPr/>
        </p:nvSpPr>
        <p:spPr>
          <a:xfrm>
            <a:off x="1024128" y="2596896"/>
            <a:ext cx="475488" cy="475488"/>
          </a:xfrm>
          <a:prstGeom prst="rect">
            <a:avLst/>
          </a:prstGeom>
          <a:noFill/>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4" name="Text 19"/>
          <p:cNvSpPr/>
          <p:nvPr/>
        </p:nvSpPr>
        <p:spPr>
          <a:xfrm>
            <a:off x="1600200" y="2578608"/>
            <a:ext cx="2788920" cy="384048"/>
          </a:xfrm>
          <a:prstGeom prst="rect">
            <a:avLst/>
          </a:prstGeom>
          <a:noFill/>
        </p:spPr>
        <p:txBody>
          <a:bodyPr wrap="square" rtlCol="0" anchor="ctr"/>
          <a:lstStyle/>
          <a:p>
            <a:pPr marL="0" indent="0">
              <a:buNone/>
            </a:pPr>
            <a:r>
              <a:rPr lang="en-US" sz="1250" b="1" dirty="0">
                <a:solidFill>
                  <a:srgbClr val="00C9B1"/>
                </a:solidFill>
                <a:latin typeface="Trebuchet MS" panose="020B0603020202020204" pitchFamily="34" charset="0"/>
                <a:ea typeface="Trebuchet MS" panose="020B0603020202020204" pitchFamily="34" charset="-122"/>
                <a:cs typeface="Trebuchet MS" panose="020B0603020202020204" pitchFamily="34" charset="-120"/>
              </a:rPr>
              <a:t>Enable Real-Time Academic Tracking</a:t>
            </a:r>
            <a:endParaRPr lang="en-US" sz="1250" dirty="0"/>
          </a:p>
        </p:txBody>
      </p:sp>
      <p:sp>
        <p:nvSpPr>
          <p:cNvPr id="25" name="Text 20"/>
          <p:cNvSpPr/>
          <p:nvPr/>
        </p:nvSpPr>
        <p:spPr>
          <a:xfrm>
            <a:off x="484632" y="3054096"/>
            <a:ext cx="3913632" cy="438912"/>
          </a:xfrm>
          <a:prstGeom prst="rect">
            <a:avLst/>
          </a:prstGeom>
          <a:noFill/>
        </p:spPr>
        <p:txBody>
          <a:bodyPr wrap="square" rtlCol="0" anchor="ctr"/>
          <a:lstStyle/>
          <a:p>
            <a:pPr marL="0" indent="0">
              <a:buNone/>
            </a:pPr>
            <a:r>
              <a:rPr lang="en-US" sz="1050" dirty="0">
                <a:solidFill>
                  <a:srgbClr val="C8D6E5"/>
                </a:solidFill>
              </a:rPr>
              <a:t>Allow instant visibility into grades, attendance records, and task completion without page reloads.</a:t>
            </a:r>
            <a:endParaRPr lang="en-US" sz="1050" dirty="0"/>
          </a:p>
        </p:txBody>
      </p:sp>
      <p:sp>
        <p:nvSpPr>
          <p:cNvPr id="26" name="Shape 21"/>
          <p:cNvSpPr/>
          <p:nvPr/>
        </p:nvSpPr>
        <p:spPr>
          <a:xfrm>
            <a:off x="4754880" y="2487168"/>
            <a:ext cx="4206240" cy="1051560"/>
          </a:xfrm>
          <a:prstGeom prst="rect">
            <a:avLst/>
          </a:prstGeom>
          <a:solidFill>
            <a:srgbClr val="0D2137"/>
          </a:solidFill>
          <a:ln w="12700">
            <a:solidFill>
              <a:srgbClr val="7B2D8B"/>
            </a:solidFill>
            <a:prstDash val="solid"/>
          </a:ln>
        </p:spPr>
      </p:sp>
      <p:sp>
        <p:nvSpPr>
          <p:cNvPr id="27" name="Shape 22"/>
          <p:cNvSpPr/>
          <p:nvPr/>
        </p:nvSpPr>
        <p:spPr>
          <a:xfrm>
            <a:off x="4754880" y="2487168"/>
            <a:ext cx="64008" cy="1051560"/>
          </a:xfrm>
          <a:prstGeom prst="rect">
            <a:avLst/>
          </a:prstGeom>
          <a:solidFill>
            <a:srgbClr val="7B2D8B"/>
          </a:solidFill>
          <a:ln w="12700">
            <a:solidFill>
              <a:srgbClr val="7B2D8B"/>
            </a:solidFill>
            <a:prstDash val="solid"/>
          </a:ln>
        </p:spPr>
      </p:sp>
      <p:pic>
        <p:nvPicPr>
          <p:cNvPr id="28" name="Image 3" descr="preencoded.png"/>
          <p:cNvPicPr>
            <a:picLocks noChangeAspect="1"/>
          </p:cNvPicPr>
          <p:nvPr/>
        </p:nvPicPr>
        <p:blipFill>
          <a:blip r:embed="rId4"/>
          <a:stretch>
            <a:fillRect/>
          </a:stretch>
        </p:blipFill>
        <p:spPr>
          <a:xfrm>
            <a:off x="4919472" y="2596896"/>
            <a:ext cx="438912" cy="438912"/>
          </a:xfrm>
          <a:prstGeom prst="rect">
            <a:avLst/>
          </a:prstGeom>
        </p:spPr>
      </p:pic>
      <p:sp>
        <p:nvSpPr>
          <p:cNvPr id="29" name="Shape 23"/>
          <p:cNvSpPr/>
          <p:nvPr/>
        </p:nvSpPr>
        <p:spPr>
          <a:xfrm>
            <a:off x="5458968" y="2596896"/>
            <a:ext cx="475488" cy="475488"/>
          </a:xfrm>
          <a:prstGeom prst="rect">
            <a:avLst/>
          </a:prstGeom>
          <a:solidFill>
            <a:srgbClr val="7B2D8B"/>
          </a:solidFill>
          <a:ln w="12700">
            <a:solidFill>
              <a:srgbClr val="7B2D8B"/>
            </a:solidFill>
            <a:prstDash val="solid"/>
          </a:ln>
        </p:spPr>
      </p:sp>
      <p:sp>
        <p:nvSpPr>
          <p:cNvPr id="30" name="Text 24"/>
          <p:cNvSpPr/>
          <p:nvPr/>
        </p:nvSpPr>
        <p:spPr>
          <a:xfrm>
            <a:off x="5458968" y="2596896"/>
            <a:ext cx="475488" cy="475488"/>
          </a:xfrm>
          <a:prstGeom prst="rect">
            <a:avLst/>
          </a:prstGeom>
          <a:noFill/>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31" name="Text 25"/>
          <p:cNvSpPr/>
          <p:nvPr/>
        </p:nvSpPr>
        <p:spPr>
          <a:xfrm>
            <a:off x="6035040" y="2578608"/>
            <a:ext cx="2788920" cy="384048"/>
          </a:xfrm>
          <a:prstGeom prst="rect">
            <a:avLst/>
          </a:prstGeom>
          <a:noFill/>
        </p:spPr>
        <p:txBody>
          <a:bodyPr wrap="square" rtlCol="0" anchor="ctr"/>
          <a:lstStyle/>
          <a:p>
            <a:pPr marL="0" indent="0">
              <a:buNone/>
            </a:pPr>
            <a:r>
              <a:rPr lang="en-US" sz="1250" b="1" dirty="0">
                <a:solidFill>
                  <a:srgbClr val="7B2D8B"/>
                </a:solidFill>
                <a:latin typeface="Trebuchet MS" panose="020B0603020202020204" pitchFamily="34" charset="0"/>
                <a:ea typeface="Trebuchet MS" panose="020B0603020202020204" pitchFamily="34" charset="-122"/>
                <a:cs typeface="Trebuchet MS" panose="020B0603020202020204" pitchFamily="34" charset="-120"/>
              </a:rPr>
              <a:t>Foster Peer Collaboration</a:t>
            </a:r>
            <a:endParaRPr lang="en-US" sz="1250" dirty="0"/>
          </a:p>
        </p:txBody>
      </p:sp>
      <p:sp>
        <p:nvSpPr>
          <p:cNvPr id="32" name="Text 26"/>
          <p:cNvSpPr/>
          <p:nvPr/>
        </p:nvSpPr>
        <p:spPr>
          <a:xfrm>
            <a:off x="4919472" y="3054096"/>
            <a:ext cx="3913632" cy="438912"/>
          </a:xfrm>
          <a:prstGeom prst="rect">
            <a:avLst/>
          </a:prstGeom>
          <a:noFill/>
        </p:spPr>
        <p:txBody>
          <a:bodyPr wrap="square" rtlCol="0" anchor="ctr"/>
          <a:lstStyle/>
          <a:p>
            <a:pPr marL="0" indent="0">
              <a:buNone/>
            </a:pPr>
            <a:r>
              <a:rPr lang="en-US" sz="1050" dirty="0">
                <a:solidFill>
                  <a:srgbClr val="C8D6E5"/>
                </a:solidFill>
              </a:rPr>
              <a:t>Build community features — forums, team finding, and event management — to connect students meaningfully.</a:t>
            </a:r>
            <a:endParaRPr lang="en-US" sz="1050" dirty="0"/>
          </a:p>
        </p:txBody>
      </p:sp>
      <p:sp>
        <p:nvSpPr>
          <p:cNvPr id="33" name="Shape 27"/>
          <p:cNvSpPr/>
          <p:nvPr/>
        </p:nvSpPr>
        <p:spPr>
          <a:xfrm>
            <a:off x="320040" y="3675888"/>
            <a:ext cx="4206240" cy="1051560"/>
          </a:xfrm>
          <a:prstGeom prst="rect">
            <a:avLst/>
          </a:prstGeom>
          <a:solidFill>
            <a:srgbClr val="0D2137"/>
          </a:solidFill>
          <a:ln w="12700">
            <a:solidFill>
              <a:srgbClr val="E94560"/>
            </a:solidFill>
            <a:prstDash val="solid"/>
          </a:ln>
        </p:spPr>
      </p:sp>
      <p:sp>
        <p:nvSpPr>
          <p:cNvPr id="34" name="Shape 28"/>
          <p:cNvSpPr/>
          <p:nvPr/>
        </p:nvSpPr>
        <p:spPr>
          <a:xfrm>
            <a:off x="320040" y="3675888"/>
            <a:ext cx="64008" cy="1051560"/>
          </a:xfrm>
          <a:prstGeom prst="rect">
            <a:avLst/>
          </a:prstGeom>
          <a:solidFill>
            <a:srgbClr val="E94560"/>
          </a:solidFill>
          <a:ln w="12700">
            <a:solidFill>
              <a:srgbClr val="E94560"/>
            </a:solidFill>
            <a:prstDash val="solid"/>
          </a:ln>
        </p:spPr>
      </p:sp>
      <p:pic>
        <p:nvPicPr>
          <p:cNvPr id="35" name="Image 4" descr="preencoded.png"/>
          <p:cNvPicPr>
            <a:picLocks noChangeAspect="1"/>
          </p:cNvPicPr>
          <p:nvPr/>
        </p:nvPicPr>
        <p:blipFill>
          <a:blip r:embed="rId5"/>
          <a:stretch>
            <a:fillRect/>
          </a:stretch>
        </p:blipFill>
        <p:spPr>
          <a:xfrm>
            <a:off x="484632" y="3785616"/>
            <a:ext cx="438912" cy="438912"/>
          </a:xfrm>
          <a:prstGeom prst="rect">
            <a:avLst/>
          </a:prstGeom>
        </p:spPr>
      </p:pic>
      <p:sp>
        <p:nvSpPr>
          <p:cNvPr id="36" name="Shape 29"/>
          <p:cNvSpPr/>
          <p:nvPr/>
        </p:nvSpPr>
        <p:spPr>
          <a:xfrm>
            <a:off x="1024128" y="3785616"/>
            <a:ext cx="475488" cy="475488"/>
          </a:xfrm>
          <a:prstGeom prst="rect">
            <a:avLst/>
          </a:prstGeom>
          <a:solidFill>
            <a:srgbClr val="E94560"/>
          </a:solidFill>
          <a:ln w="12700">
            <a:solidFill>
              <a:srgbClr val="E94560"/>
            </a:solidFill>
            <a:prstDash val="solid"/>
          </a:ln>
        </p:spPr>
      </p:sp>
      <p:sp>
        <p:nvSpPr>
          <p:cNvPr id="37" name="Text 30"/>
          <p:cNvSpPr/>
          <p:nvPr/>
        </p:nvSpPr>
        <p:spPr>
          <a:xfrm>
            <a:off x="1024128" y="3785616"/>
            <a:ext cx="475488" cy="475488"/>
          </a:xfrm>
          <a:prstGeom prst="rect">
            <a:avLst/>
          </a:prstGeom>
          <a:noFill/>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8" name="Text 31"/>
          <p:cNvSpPr/>
          <p:nvPr/>
        </p:nvSpPr>
        <p:spPr>
          <a:xfrm>
            <a:off x="1600200" y="3767328"/>
            <a:ext cx="2788920" cy="384048"/>
          </a:xfrm>
          <a:prstGeom prst="rect">
            <a:avLst/>
          </a:prstGeom>
          <a:noFill/>
        </p:spPr>
        <p:txBody>
          <a:bodyPr wrap="square" rtlCol="0" anchor="ctr"/>
          <a:lstStyle/>
          <a:p>
            <a:pPr marL="0" indent="0">
              <a:buNone/>
            </a:pPr>
            <a:r>
              <a:rPr lang="en-US" sz="1250" b="1" dirty="0">
                <a:solidFill>
                  <a:srgbClr val="E94560"/>
                </a:solidFill>
                <a:latin typeface="Trebuchet MS" panose="020B0603020202020204" pitchFamily="34" charset="0"/>
                <a:ea typeface="Trebuchet MS" panose="020B0603020202020204" pitchFamily="34" charset="-122"/>
                <a:cs typeface="Trebuchet MS" panose="020B0603020202020204" pitchFamily="34" charset="-120"/>
              </a:rPr>
              <a:t>Ensure Secure Authentication</a:t>
            </a:r>
            <a:endParaRPr lang="en-US" sz="1250" dirty="0"/>
          </a:p>
        </p:txBody>
      </p:sp>
      <p:sp>
        <p:nvSpPr>
          <p:cNvPr id="39" name="Text 32"/>
          <p:cNvSpPr/>
          <p:nvPr/>
        </p:nvSpPr>
        <p:spPr>
          <a:xfrm>
            <a:off x="484632" y="4242816"/>
            <a:ext cx="3913632" cy="438912"/>
          </a:xfrm>
          <a:prstGeom prst="rect">
            <a:avLst/>
          </a:prstGeom>
          <a:noFill/>
        </p:spPr>
        <p:txBody>
          <a:bodyPr wrap="square" rtlCol="0" anchor="ctr"/>
          <a:lstStyle/>
          <a:p>
            <a:pPr marL="0" indent="0">
              <a:buNone/>
            </a:pPr>
            <a:r>
              <a:rPr lang="en-US" sz="1050" dirty="0">
                <a:solidFill>
                  <a:srgbClr val="C8D6E5"/>
                </a:solidFill>
              </a:rPr>
              <a:t>Protect all user data using JWT tokens and bcrypt password hashing to prevent unauthorized access.</a:t>
            </a:r>
            <a:endParaRPr lang="en-US" sz="1050" dirty="0"/>
          </a:p>
        </p:txBody>
      </p:sp>
      <p:sp>
        <p:nvSpPr>
          <p:cNvPr id="40" name="Shape 33"/>
          <p:cNvSpPr/>
          <p:nvPr/>
        </p:nvSpPr>
        <p:spPr>
          <a:xfrm>
            <a:off x="4754880" y="3675888"/>
            <a:ext cx="4206240" cy="1051560"/>
          </a:xfrm>
          <a:prstGeom prst="rect">
            <a:avLst/>
          </a:prstGeom>
          <a:solidFill>
            <a:srgbClr val="0D2137"/>
          </a:solidFill>
          <a:ln w="12700">
            <a:solidFill>
              <a:srgbClr val="F5A623"/>
            </a:solidFill>
            <a:prstDash val="solid"/>
          </a:ln>
        </p:spPr>
      </p:sp>
      <p:sp>
        <p:nvSpPr>
          <p:cNvPr id="41" name="Shape 34"/>
          <p:cNvSpPr/>
          <p:nvPr/>
        </p:nvSpPr>
        <p:spPr>
          <a:xfrm>
            <a:off x="4754880" y="3675888"/>
            <a:ext cx="64008" cy="1051560"/>
          </a:xfrm>
          <a:prstGeom prst="rect">
            <a:avLst/>
          </a:prstGeom>
          <a:solidFill>
            <a:srgbClr val="F5A623"/>
          </a:solidFill>
          <a:ln w="12700">
            <a:solidFill>
              <a:srgbClr val="F5A623"/>
            </a:solidFill>
            <a:prstDash val="solid"/>
          </a:ln>
        </p:spPr>
      </p:sp>
      <p:pic>
        <p:nvPicPr>
          <p:cNvPr id="42" name="Image 5" descr="preencoded.png"/>
          <p:cNvPicPr>
            <a:picLocks noChangeAspect="1"/>
          </p:cNvPicPr>
          <p:nvPr/>
        </p:nvPicPr>
        <p:blipFill>
          <a:blip r:embed="rId6"/>
          <a:stretch>
            <a:fillRect/>
          </a:stretch>
        </p:blipFill>
        <p:spPr>
          <a:xfrm>
            <a:off x="4919472" y="3785616"/>
            <a:ext cx="438912" cy="438912"/>
          </a:xfrm>
          <a:prstGeom prst="rect">
            <a:avLst/>
          </a:prstGeom>
        </p:spPr>
      </p:pic>
      <p:sp>
        <p:nvSpPr>
          <p:cNvPr id="43" name="Shape 35"/>
          <p:cNvSpPr/>
          <p:nvPr/>
        </p:nvSpPr>
        <p:spPr>
          <a:xfrm>
            <a:off x="5458968" y="3785616"/>
            <a:ext cx="475488" cy="475488"/>
          </a:xfrm>
          <a:prstGeom prst="rect">
            <a:avLst/>
          </a:prstGeom>
          <a:solidFill>
            <a:srgbClr val="F5A623"/>
          </a:solidFill>
          <a:ln w="12700">
            <a:solidFill>
              <a:srgbClr val="F5A623"/>
            </a:solidFill>
            <a:prstDash val="solid"/>
          </a:ln>
        </p:spPr>
      </p:sp>
      <p:sp>
        <p:nvSpPr>
          <p:cNvPr id="44" name="Text 36"/>
          <p:cNvSpPr/>
          <p:nvPr/>
        </p:nvSpPr>
        <p:spPr>
          <a:xfrm>
            <a:off x="5458968" y="3785616"/>
            <a:ext cx="475488" cy="475488"/>
          </a:xfrm>
          <a:prstGeom prst="rect">
            <a:avLst/>
          </a:prstGeom>
          <a:noFill/>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45" name="Text 37"/>
          <p:cNvSpPr/>
          <p:nvPr/>
        </p:nvSpPr>
        <p:spPr>
          <a:xfrm>
            <a:off x="6035040" y="3767328"/>
            <a:ext cx="2788920" cy="384048"/>
          </a:xfrm>
          <a:prstGeom prst="rect">
            <a:avLst/>
          </a:prstGeom>
          <a:noFill/>
        </p:spPr>
        <p:txBody>
          <a:bodyPr wrap="square" rtlCol="0" anchor="ctr"/>
          <a:lstStyle/>
          <a:p>
            <a:pPr marL="0" indent="0">
              <a:buNone/>
            </a:pPr>
            <a:r>
              <a:rPr lang="en-US" sz="1250" b="1" dirty="0">
                <a:solidFill>
                  <a:srgbClr val="F5A623"/>
                </a:solidFill>
                <a:latin typeface="Trebuchet MS" panose="020B0603020202020204" pitchFamily="34" charset="0"/>
                <a:ea typeface="Trebuchet MS" panose="020B0603020202020204" pitchFamily="34" charset="-122"/>
                <a:cs typeface="Trebuchet MS" panose="020B0603020202020204" pitchFamily="34" charset="-120"/>
              </a:rPr>
              <a:t>Surface Professional Opportunities</a:t>
            </a:r>
            <a:endParaRPr lang="en-US" sz="1250" dirty="0"/>
          </a:p>
        </p:txBody>
      </p:sp>
      <p:sp>
        <p:nvSpPr>
          <p:cNvPr id="46" name="Text 38"/>
          <p:cNvSpPr/>
          <p:nvPr/>
        </p:nvSpPr>
        <p:spPr>
          <a:xfrm>
            <a:off x="4919472" y="4242816"/>
            <a:ext cx="3913632" cy="438912"/>
          </a:xfrm>
          <a:prstGeom prst="rect">
            <a:avLst/>
          </a:prstGeom>
          <a:noFill/>
        </p:spPr>
        <p:txBody>
          <a:bodyPr wrap="square" rtlCol="0" anchor="ctr"/>
          <a:lstStyle/>
          <a:p>
            <a:pPr marL="0" indent="0">
              <a:buNone/>
            </a:pPr>
            <a:r>
              <a:rPr lang="en-US" sz="1050" dirty="0">
                <a:solidFill>
                  <a:srgbClr val="C8D6E5"/>
                </a:solidFill>
              </a:rPr>
              <a:t>Aggregate internships, jobs, and research openings in one curated, always-accessible portal.</a:t>
            </a:r>
            <a:endParaRPr lang="en-US" sz="1050" dirty="0"/>
          </a:p>
        </p:txBody>
      </p:sp>
      <p:sp>
        <p:nvSpPr>
          <p:cNvPr id="47" name="Shape 39"/>
          <p:cNvSpPr/>
          <p:nvPr/>
        </p:nvSpPr>
        <p:spPr>
          <a:xfrm>
            <a:off x="0" y="4846320"/>
            <a:ext cx="9144000" cy="297180"/>
          </a:xfrm>
          <a:prstGeom prst="rect">
            <a:avLst/>
          </a:prstGeom>
          <a:solidFill>
            <a:srgbClr val="0F3460"/>
          </a:solidFill>
          <a:ln w="12700">
            <a:solidFill>
              <a:srgbClr val="0F3460"/>
            </a:solidFill>
            <a:prstDash val="solid"/>
          </a:ln>
        </p:spPr>
      </p:sp>
      <p:sp>
        <p:nvSpPr>
          <p:cNvPr id="48" name="Text 40"/>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Objectives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A623"/>
          </a:solidFill>
          <a:ln w="12700">
            <a:solidFill>
              <a:srgbClr val="F5A623"/>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Stakeholders</a:t>
            </a:r>
            <a:endParaRPr lang="en-US" sz="2600" dirty="0"/>
          </a:p>
        </p:txBody>
      </p:sp>
      <p:sp>
        <p:nvSpPr>
          <p:cNvPr id="4" name="Text 2"/>
          <p:cNvSpPr/>
          <p:nvPr/>
        </p:nvSpPr>
        <p:spPr>
          <a:xfrm>
            <a:off x="365760" y="822960"/>
            <a:ext cx="8412480" cy="365760"/>
          </a:xfrm>
          <a:prstGeom prst="rect">
            <a:avLst/>
          </a:prstGeom>
          <a:noFill/>
        </p:spPr>
        <p:txBody>
          <a:bodyPr wrap="square" rtlCol="0" anchor="ctr"/>
          <a:lstStyle/>
          <a:p>
            <a:pPr marL="0" indent="0">
              <a:buNone/>
            </a:pPr>
            <a:r>
              <a:rPr lang="en-US" sz="1300" i="1" dirty="0">
                <a:solidFill>
                  <a:srgbClr val="C8D6E5"/>
                </a:solidFill>
              </a:rPr>
              <a:t>Who uses Campus Connect — and what they gain</a:t>
            </a:r>
            <a:endParaRPr lang="en-US" sz="1300" dirty="0"/>
          </a:p>
        </p:txBody>
      </p:sp>
      <p:sp>
        <p:nvSpPr>
          <p:cNvPr id="5" name="Shape 3"/>
          <p:cNvSpPr/>
          <p:nvPr/>
        </p:nvSpPr>
        <p:spPr>
          <a:xfrm>
            <a:off x="292608" y="1280160"/>
            <a:ext cx="1993392" cy="3429000"/>
          </a:xfrm>
          <a:prstGeom prst="rect">
            <a:avLst/>
          </a:prstGeom>
          <a:solidFill>
            <a:srgbClr val="0D2137"/>
          </a:solidFill>
          <a:ln w="19050">
            <a:solidFill>
              <a:srgbClr val="00C9B1"/>
            </a:solidFill>
            <a:prstDash val="solid"/>
          </a:ln>
        </p:spPr>
      </p:sp>
      <p:sp>
        <p:nvSpPr>
          <p:cNvPr id="6" name="Shape 4"/>
          <p:cNvSpPr/>
          <p:nvPr/>
        </p:nvSpPr>
        <p:spPr>
          <a:xfrm>
            <a:off x="292608" y="1280160"/>
            <a:ext cx="1993392" cy="658368"/>
          </a:xfrm>
          <a:prstGeom prst="rect">
            <a:avLst/>
          </a:prstGeom>
          <a:solidFill>
            <a:srgbClr val="00C9B1">
              <a:alpha val="82000"/>
            </a:srgbClr>
          </a:solidFill>
          <a:ln w="12700">
            <a:solidFill>
              <a:srgbClr val="00C9B1"/>
            </a:solidFill>
            <a:prstDash val="solid"/>
          </a:ln>
        </p:spPr>
      </p:sp>
      <p:pic>
        <p:nvPicPr>
          <p:cNvPr id="7" name="Image 0" descr="preencoded.png"/>
          <p:cNvPicPr>
            <a:picLocks noChangeAspect="1"/>
          </p:cNvPicPr>
          <p:nvPr/>
        </p:nvPicPr>
        <p:blipFill>
          <a:blip r:embed="rId1"/>
          <a:stretch>
            <a:fillRect/>
          </a:stretch>
        </p:blipFill>
        <p:spPr>
          <a:xfrm>
            <a:off x="402336" y="1362456"/>
            <a:ext cx="475488" cy="475488"/>
          </a:xfrm>
          <a:prstGeom prst="rect">
            <a:avLst/>
          </a:prstGeom>
        </p:spPr>
      </p:pic>
      <p:sp>
        <p:nvSpPr>
          <p:cNvPr id="8" name="Text 5"/>
          <p:cNvSpPr/>
          <p:nvPr/>
        </p:nvSpPr>
        <p:spPr>
          <a:xfrm>
            <a:off x="950976" y="1298448"/>
            <a:ext cx="1261872" cy="621792"/>
          </a:xfrm>
          <a:prstGeom prst="rect">
            <a:avLst/>
          </a:prstGeom>
          <a:noFill/>
        </p:spPr>
        <p:txBody>
          <a:bodyPr wrap="square" lIns="0" tIns="0" rIns="0" bIns="0" rtlCol="0" anchor="ctr"/>
          <a:lstStyle/>
          <a:p>
            <a:pPr marL="0" indent="0">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Students</a:t>
            </a:r>
            <a:endParaRPr lang="en-US" sz="1400" dirty="0"/>
          </a:p>
        </p:txBody>
      </p:sp>
      <p:sp>
        <p:nvSpPr>
          <p:cNvPr id="9" name="Text 6"/>
          <p:cNvSpPr/>
          <p:nvPr/>
        </p:nvSpPr>
        <p:spPr>
          <a:xfrm>
            <a:off x="384048" y="2011680"/>
            <a:ext cx="1810512" cy="475488"/>
          </a:xfrm>
          <a:prstGeom prst="rect">
            <a:avLst/>
          </a:prstGeom>
          <a:noFill/>
        </p:spPr>
        <p:txBody>
          <a:bodyPr wrap="square" rtlCol="0" anchor="ctr"/>
          <a:lstStyle/>
          <a:p>
            <a:pPr marL="0" indent="0">
              <a:buNone/>
            </a:pPr>
            <a:r>
              <a:rPr lang="en-US" sz="1000" b="1" dirty="0">
                <a:solidFill>
                  <a:srgbClr val="00C9B1"/>
                </a:solidFill>
              </a:rPr>
              <a:t>›  </a:t>
            </a:r>
            <a:r>
              <a:rPr lang="en-US" sz="1000" dirty="0">
                <a:solidFill>
                  <a:srgbClr val="C8D6E5"/>
                </a:solidFill>
              </a:rPr>
              <a:t>View &amp; enroll in subjects</a:t>
            </a:r>
            <a:endParaRPr lang="en-US" sz="1000" dirty="0"/>
          </a:p>
        </p:txBody>
      </p:sp>
      <p:sp>
        <p:nvSpPr>
          <p:cNvPr id="10" name="Text 7"/>
          <p:cNvSpPr/>
          <p:nvPr/>
        </p:nvSpPr>
        <p:spPr>
          <a:xfrm>
            <a:off x="384048" y="2514600"/>
            <a:ext cx="1810512" cy="475488"/>
          </a:xfrm>
          <a:prstGeom prst="rect">
            <a:avLst/>
          </a:prstGeom>
          <a:noFill/>
        </p:spPr>
        <p:txBody>
          <a:bodyPr wrap="square" rtlCol="0" anchor="ctr"/>
          <a:lstStyle/>
          <a:p>
            <a:pPr marL="0" indent="0">
              <a:buNone/>
            </a:pPr>
            <a:r>
              <a:rPr lang="en-US" sz="1000" b="1" dirty="0">
                <a:solidFill>
                  <a:srgbClr val="00C9B1"/>
                </a:solidFill>
              </a:rPr>
              <a:t>›  </a:t>
            </a:r>
            <a:r>
              <a:rPr lang="en-US" sz="1000" dirty="0">
                <a:solidFill>
                  <a:srgbClr val="C8D6E5"/>
                </a:solidFill>
              </a:rPr>
              <a:t>Track tasks, grades &amp; attendance</a:t>
            </a:r>
            <a:endParaRPr lang="en-US" sz="1000" dirty="0"/>
          </a:p>
        </p:txBody>
      </p:sp>
      <p:sp>
        <p:nvSpPr>
          <p:cNvPr id="11" name="Text 8"/>
          <p:cNvSpPr/>
          <p:nvPr/>
        </p:nvSpPr>
        <p:spPr>
          <a:xfrm>
            <a:off x="384048" y="3017520"/>
            <a:ext cx="1810512" cy="475488"/>
          </a:xfrm>
          <a:prstGeom prst="rect">
            <a:avLst/>
          </a:prstGeom>
          <a:noFill/>
        </p:spPr>
        <p:txBody>
          <a:bodyPr wrap="square" rtlCol="0" anchor="ctr"/>
          <a:lstStyle/>
          <a:p>
            <a:pPr marL="0" indent="0">
              <a:buNone/>
            </a:pPr>
            <a:r>
              <a:rPr lang="en-US" sz="1000" b="1" dirty="0">
                <a:solidFill>
                  <a:srgbClr val="00C9B1"/>
                </a:solidFill>
              </a:rPr>
              <a:t>›  </a:t>
            </a:r>
            <a:r>
              <a:rPr lang="en-US" sz="1000" dirty="0">
                <a:solidFill>
                  <a:srgbClr val="C8D6E5"/>
                </a:solidFill>
              </a:rPr>
              <a:t>Join forums &amp; find project teams</a:t>
            </a:r>
            <a:endParaRPr lang="en-US" sz="1000" dirty="0"/>
          </a:p>
        </p:txBody>
      </p:sp>
      <p:sp>
        <p:nvSpPr>
          <p:cNvPr id="12" name="Text 9"/>
          <p:cNvSpPr/>
          <p:nvPr/>
        </p:nvSpPr>
        <p:spPr>
          <a:xfrm>
            <a:off x="384048" y="3520440"/>
            <a:ext cx="1810512" cy="475488"/>
          </a:xfrm>
          <a:prstGeom prst="rect">
            <a:avLst/>
          </a:prstGeom>
          <a:noFill/>
        </p:spPr>
        <p:txBody>
          <a:bodyPr wrap="square" rtlCol="0" anchor="ctr"/>
          <a:lstStyle/>
          <a:p>
            <a:pPr marL="0" indent="0">
              <a:buNone/>
            </a:pPr>
            <a:r>
              <a:rPr lang="en-US" sz="1000" b="1" dirty="0">
                <a:solidFill>
                  <a:srgbClr val="00C9B1"/>
                </a:solidFill>
              </a:rPr>
              <a:t>›  </a:t>
            </a:r>
            <a:r>
              <a:rPr lang="en-US" sz="1000" dirty="0">
                <a:solidFill>
                  <a:srgbClr val="C8D6E5"/>
                </a:solidFill>
              </a:rPr>
              <a:t>Register for events &amp; view opportunities</a:t>
            </a:r>
            <a:endParaRPr lang="en-US" sz="1000" dirty="0"/>
          </a:p>
        </p:txBody>
      </p:sp>
      <p:sp>
        <p:nvSpPr>
          <p:cNvPr id="13" name="Text 10"/>
          <p:cNvSpPr/>
          <p:nvPr/>
        </p:nvSpPr>
        <p:spPr>
          <a:xfrm>
            <a:off x="384048" y="4023360"/>
            <a:ext cx="1810512" cy="475488"/>
          </a:xfrm>
          <a:prstGeom prst="rect">
            <a:avLst/>
          </a:prstGeom>
          <a:noFill/>
        </p:spPr>
        <p:txBody>
          <a:bodyPr wrap="square" rtlCol="0" anchor="ctr"/>
          <a:lstStyle/>
          <a:p>
            <a:pPr marL="0" indent="0">
              <a:buNone/>
            </a:pPr>
            <a:r>
              <a:rPr lang="en-US" sz="1000" b="1" dirty="0">
                <a:solidFill>
                  <a:srgbClr val="00C9B1"/>
                </a:solidFill>
              </a:rPr>
              <a:t>›  </a:t>
            </a:r>
            <a:r>
              <a:rPr lang="en-US" sz="1000" dirty="0">
                <a:solidFill>
                  <a:srgbClr val="C8D6E5"/>
                </a:solidFill>
              </a:rPr>
              <a:t>Manage profile and preferences</a:t>
            </a:r>
            <a:endParaRPr lang="en-US" sz="1000" dirty="0"/>
          </a:p>
        </p:txBody>
      </p:sp>
      <p:sp>
        <p:nvSpPr>
          <p:cNvPr id="14" name="Shape 11"/>
          <p:cNvSpPr/>
          <p:nvPr/>
        </p:nvSpPr>
        <p:spPr>
          <a:xfrm>
            <a:off x="2468880" y="1280160"/>
            <a:ext cx="1993392" cy="3429000"/>
          </a:xfrm>
          <a:prstGeom prst="rect">
            <a:avLst/>
          </a:prstGeom>
          <a:solidFill>
            <a:srgbClr val="0D2137"/>
          </a:solidFill>
          <a:ln w="19050">
            <a:solidFill>
              <a:srgbClr val="E94560"/>
            </a:solidFill>
            <a:prstDash val="solid"/>
          </a:ln>
        </p:spPr>
      </p:sp>
      <p:sp>
        <p:nvSpPr>
          <p:cNvPr id="15" name="Shape 12"/>
          <p:cNvSpPr/>
          <p:nvPr/>
        </p:nvSpPr>
        <p:spPr>
          <a:xfrm>
            <a:off x="2468880" y="1280160"/>
            <a:ext cx="1993392" cy="658368"/>
          </a:xfrm>
          <a:prstGeom prst="rect">
            <a:avLst/>
          </a:prstGeom>
          <a:solidFill>
            <a:srgbClr val="E94560">
              <a:alpha val="82000"/>
            </a:srgbClr>
          </a:solidFill>
          <a:ln w="12700">
            <a:solidFill>
              <a:srgbClr val="E94560"/>
            </a:solidFill>
            <a:prstDash val="solid"/>
          </a:ln>
        </p:spPr>
      </p:sp>
      <p:pic>
        <p:nvPicPr>
          <p:cNvPr id="16" name="Image 1" descr="preencoded.png"/>
          <p:cNvPicPr>
            <a:picLocks noChangeAspect="1"/>
          </p:cNvPicPr>
          <p:nvPr/>
        </p:nvPicPr>
        <p:blipFill>
          <a:blip r:embed="rId2"/>
          <a:stretch>
            <a:fillRect/>
          </a:stretch>
        </p:blipFill>
        <p:spPr>
          <a:xfrm>
            <a:off x="2578608" y="1362456"/>
            <a:ext cx="475488" cy="475488"/>
          </a:xfrm>
          <a:prstGeom prst="rect">
            <a:avLst/>
          </a:prstGeom>
        </p:spPr>
      </p:pic>
      <p:sp>
        <p:nvSpPr>
          <p:cNvPr id="17" name="Text 13"/>
          <p:cNvSpPr/>
          <p:nvPr/>
        </p:nvSpPr>
        <p:spPr>
          <a:xfrm>
            <a:off x="3127248" y="1298448"/>
            <a:ext cx="1261872" cy="621792"/>
          </a:xfrm>
          <a:prstGeom prst="rect">
            <a:avLst/>
          </a:prstGeom>
          <a:noFill/>
        </p:spPr>
        <p:txBody>
          <a:bodyPr wrap="square" lIns="0" tIns="0" rIns="0" bIns="0" rtlCol="0" anchor="ctr"/>
          <a:lstStyle/>
          <a:p>
            <a:pPr marL="0" indent="0">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Staff / Faculty</a:t>
            </a:r>
            <a:endParaRPr lang="en-US" sz="1400" dirty="0"/>
          </a:p>
        </p:txBody>
      </p:sp>
      <p:sp>
        <p:nvSpPr>
          <p:cNvPr id="18" name="Text 14"/>
          <p:cNvSpPr/>
          <p:nvPr/>
        </p:nvSpPr>
        <p:spPr>
          <a:xfrm>
            <a:off x="2560320" y="2011680"/>
            <a:ext cx="1810512" cy="475488"/>
          </a:xfrm>
          <a:prstGeom prst="rect">
            <a:avLst/>
          </a:prstGeom>
          <a:noFill/>
        </p:spPr>
        <p:txBody>
          <a:bodyPr wrap="square" rtlCol="0" anchor="ctr"/>
          <a:lstStyle/>
          <a:p>
            <a:pPr marL="0" indent="0">
              <a:buNone/>
            </a:pPr>
            <a:r>
              <a:rPr lang="en-US" sz="1000" b="1" dirty="0">
                <a:solidFill>
                  <a:srgbClr val="E94560"/>
                </a:solidFill>
              </a:rPr>
              <a:t>›  </a:t>
            </a:r>
            <a:r>
              <a:rPr lang="en-US" sz="1000" dirty="0">
                <a:solidFill>
                  <a:srgbClr val="C8D6E5"/>
                </a:solidFill>
              </a:rPr>
              <a:t>Create &amp; manage subjects and tasks</a:t>
            </a:r>
            <a:endParaRPr lang="en-US" sz="1000" dirty="0"/>
          </a:p>
        </p:txBody>
      </p:sp>
      <p:sp>
        <p:nvSpPr>
          <p:cNvPr id="19" name="Text 15"/>
          <p:cNvSpPr/>
          <p:nvPr/>
        </p:nvSpPr>
        <p:spPr>
          <a:xfrm>
            <a:off x="2560320" y="2514600"/>
            <a:ext cx="1810512" cy="475488"/>
          </a:xfrm>
          <a:prstGeom prst="rect">
            <a:avLst/>
          </a:prstGeom>
          <a:noFill/>
        </p:spPr>
        <p:txBody>
          <a:bodyPr wrap="square" rtlCol="0" anchor="ctr"/>
          <a:lstStyle/>
          <a:p>
            <a:pPr marL="0" indent="0">
              <a:buNone/>
            </a:pPr>
            <a:r>
              <a:rPr lang="en-US" sz="1000" b="1" dirty="0">
                <a:solidFill>
                  <a:srgbClr val="E94560"/>
                </a:solidFill>
              </a:rPr>
              <a:t>›  </a:t>
            </a:r>
            <a:r>
              <a:rPr lang="en-US" sz="1000" dirty="0">
                <a:solidFill>
                  <a:srgbClr val="C8D6E5"/>
                </a:solidFill>
              </a:rPr>
              <a:t>Record daily attendance per subject</a:t>
            </a:r>
            <a:endParaRPr lang="en-US" sz="1000" dirty="0"/>
          </a:p>
        </p:txBody>
      </p:sp>
      <p:sp>
        <p:nvSpPr>
          <p:cNvPr id="20" name="Text 16"/>
          <p:cNvSpPr/>
          <p:nvPr/>
        </p:nvSpPr>
        <p:spPr>
          <a:xfrm>
            <a:off x="2560320" y="3017520"/>
            <a:ext cx="1810512" cy="475488"/>
          </a:xfrm>
          <a:prstGeom prst="rect">
            <a:avLst/>
          </a:prstGeom>
          <a:noFill/>
        </p:spPr>
        <p:txBody>
          <a:bodyPr wrap="square" rtlCol="0" anchor="ctr"/>
          <a:lstStyle/>
          <a:p>
            <a:pPr marL="0" indent="0">
              <a:buNone/>
            </a:pPr>
            <a:r>
              <a:rPr lang="en-US" sz="1000" b="1" dirty="0">
                <a:solidFill>
                  <a:srgbClr val="E94560"/>
                </a:solidFill>
              </a:rPr>
              <a:t>›  </a:t>
            </a:r>
            <a:r>
              <a:rPr lang="en-US" sz="1000" dirty="0">
                <a:solidFill>
                  <a:srgbClr val="C8D6E5"/>
                </a:solidFill>
              </a:rPr>
              <a:t>Enter internal &amp; external marks</a:t>
            </a:r>
            <a:endParaRPr lang="en-US" sz="1000" dirty="0"/>
          </a:p>
        </p:txBody>
      </p:sp>
      <p:sp>
        <p:nvSpPr>
          <p:cNvPr id="21" name="Text 17"/>
          <p:cNvSpPr/>
          <p:nvPr/>
        </p:nvSpPr>
        <p:spPr>
          <a:xfrm>
            <a:off x="2560320" y="3520440"/>
            <a:ext cx="1810512" cy="475488"/>
          </a:xfrm>
          <a:prstGeom prst="rect">
            <a:avLst/>
          </a:prstGeom>
          <a:noFill/>
        </p:spPr>
        <p:txBody>
          <a:bodyPr wrap="square" rtlCol="0" anchor="ctr"/>
          <a:lstStyle/>
          <a:p>
            <a:pPr marL="0" indent="0">
              <a:buNone/>
            </a:pPr>
            <a:r>
              <a:rPr lang="en-US" sz="1000" b="1" dirty="0">
                <a:solidFill>
                  <a:srgbClr val="E94560"/>
                </a:solidFill>
              </a:rPr>
              <a:t>›  </a:t>
            </a:r>
            <a:r>
              <a:rPr lang="en-US" sz="1000" dirty="0">
                <a:solidFill>
                  <a:srgbClr val="C8D6E5"/>
                </a:solidFill>
              </a:rPr>
              <a:t>Upload verified academic resources</a:t>
            </a:r>
            <a:endParaRPr lang="en-US" sz="1000" dirty="0"/>
          </a:p>
        </p:txBody>
      </p:sp>
      <p:sp>
        <p:nvSpPr>
          <p:cNvPr id="22" name="Text 18"/>
          <p:cNvSpPr/>
          <p:nvPr/>
        </p:nvSpPr>
        <p:spPr>
          <a:xfrm>
            <a:off x="2560320" y="4023360"/>
            <a:ext cx="1810512" cy="475488"/>
          </a:xfrm>
          <a:prstGeom prst="rect">
            <a:avLst/>
          </a:prstGeom>
          <a:noFill/>
        </p:spPr>
        <p:txBody>
          <a:bodyPr wrap="square" rtlCol="0" anchor="ctr"/>
          <a:lstStyle/>
          <a:p>
            <a:pPr marL="0" indent="0">
              <a:buNone/>
            </a:pPr>
            <a:r>
              <a:rPr lang="en-US" sz="1000" b="1" dirty="0">
                <a:solidFill>
                  <a:srgbClr val="E94560"/>
                </a:solidFill>
              </a:rPr>
              <a:t>›  </a:t>
            </a:r>
            <a:r>
              <a:rPr lang="en-US" sz="1000" dirty="0">
                <a:solidFill>
                  <a:srgbClr val="C8D6E5"/>
                </a:solidFill>
              </a:rPr>
              <a:t>Moderate forums &amp; oversee enrollments</a:t>
            </a:r>
            <a:endParaRPr lang="en-US" sz="1000" dirty="0"/>
          </a:p>
        </p:txBody>
      </p:sp>
      <p:sp>
        <p:nvSpPr>
          <p:cNvPr id="23" name="Shape 19"/>
          <p:cNvSpPr/>
          <p:nvPr/>
        </p:nvSpPr>
        <p:spPr>
          <a:xfrm>
            <a:off x="4645152" y="1280160"/>
            <a:ext cx="1993392" cy="3429000"/>
          </a:xfrm>
          <a:prstGeom prst="rect">
            <a:avLst/>
          </a:prstGeom>
          <a:solidFill>
            <a:srgbClr val="0D2137"/>
          </a:solidFill>
          <a:ln w="19050">
            <a:solidFill>
              <a:srgbClr val="7B2D8B"/>
            </a:solidFill>
            <a:prstDash val="solid"/>
          </a:ln>
        </p:spPr>
      </p:sp>
      <p:sp>
        <p:nvSpPr>
          <p:cNvPr id="24" name="Shape 20"/>
          <p:cNvSpPr/>
          <p:nvPr/>
        </p:nvSpPr>
        <p:spPr>
          <a:xfrm>
            <a:off x="4645152" y="1280160"/>
            <a:ext cx="1993392" cy="658368"/>
          </a:xfrm>
          <a:prstGeom prst="rect">
            <a:avLst/>
          </a:prstGeom>
          <a:solidFill>
            <a:srgbClr val="7B2D8B">
              <a:alpha val="82000"/>
            </a:srgbClr>
          </a:solidFill>
          <a:ln w="12700">
            <a:solidFill>
              <a:srgbClr val="7B2D8B"/>
            </a:solidFill>
            <a:prstDash val="solid"/>
          </a:ln>
        </p:spPr>
      </p:sp>
      <p:pic>
        <p:nvPicPr>
          <p:cNvPr id="25" name="Image 2" descr="preencoded.png"/>
          <p:cNvPicPr>
            <a:picLocks noChangeAspect="1"/>
          </p:cNvPicPr>
          <p:nvPr/>
        </p:nvPicPr>
        <p:blipFill>
          <a:blip r:embed="rId3"/>
          <a:stretch>
            <a:fillRect/>
          </a:stretch>
        </p:blipFill>
        <p:spPr>
          <a:xfrm>
            <a:off x="4754880" y="1362456"/>
            <a:ext cx="475488" cy="475488"/>
          </a:xfrm>
          <a:prstGeom prst="rect">
            <a:avLst/>
          </a:prstGeom>
        </p:spPr>
      </p:pic>
      <p:sp>
        <p:nvSpPr>
          <p:cNvPr id="26" name="Text 21"/>
          <p:cNvSpPr/>
          <p:nvPr/>
        </p:nvSpPr>
        <p:spPr>
          <a:xfrm>
            <a:off x="5303520" y="1298448"/>
            <a:ext cx="1261872" cy="621792"/>
          </a:xfrm>
          <a:prstGeom prst="rect">
            <a:avLst/>
          </a:prstGeom>
          <a:noFill/>
        </p:spPr>
        <p:txBody>
          <a:bodyPr wrap="square" lIns="0" tIns="0" rIns="0" bIns="0" rtlCol="0" anchor="ctr"/>
          <a:lstStyle/>
          <a:p>
            <a:pPr marL="0" indent="0">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Administrators</a:t>
            </a:r>
            <a:endParaRPr lang="en-US" sz="1400" dirty="0"/>
          </a:p>
        </p:txBody>
      </p:sp>
      <p:sp>
        <p:nvSpPr>
          <p:cNvPr id="27" name="Text 22"/>
          <p:cNvSpPr/>
          <p:nvPr/>
        </p:nvSpPr>
        <p:spPr>
          <a:xfrm>
            <a:off x="4736592" y="2011680"/>
            <a:ext cx="1810512" cy="475488"/>
          </a:xfrm>
          <a:prstGeom prst="rect">
            <a:avLst/>
          </a:prstGeom>
          <a:noFill/>
        </p:spPr>
        <p:txBody>
          <a:bodyPr wrap="square" rtlCol="0" anchor="ctr"/>
          <a:lstStyle/>
          <a:p>
            <a:pPr marL="0" indent="0">
              <a:buNone/>
            </a:pPr>
            <a:r>
              <a:rPr lang="en-US" sz="1000" b="1" dirty="0">
                <a:solidFill>
                  <a:srgbClr val="7B2D8B"/>
                </a:solidFill>
              </a:rPr>
              <a:t>›  </a:t>
            </a:r>
            <a:r>
              <a:rPr lang="en-US" sz="1000" dirty="0">
                <a:solidFill>
                  <a:srgbClr val="C8D6E5"/>
                </a:solidFill>
              </a:rPr>
              <a:t>Oversee all platform activity</a:t>
            </a:r>
            <a:endParaRPr lang="en-US" sz="1000" dirty="0"/>
          </a:p>
        </p:txBody>
      </p:sp>
      <p:sp>
        <p:nvSpPr>
          <p:cNvPr id="28" name="Text 23"/>
          <p:cNvSpPr/>
          <p:nvPr/>
        </p:nvSpPr>
        <p:spPr>
          <a:xfrm>
            <a:off x="4736592" y="2514600"/>
            <a:ext cx="1810512" cy="475488"/>
          </a:xfrm>
          <a:prstGeom prst="rect">
            <a:avLst/>
          </a:prstGeom>
          <a:noFill/>
        </p:spPr>
        <p:txBody>
          <a:bodyPr wrap="square" rtlCol="0" anchor="ctr"/>
          <a:lstStyle/>
          <a:p>
            <a:pPr marL="0" indent="0">
              <a:buNone/>
            </a:pPr>
            <a:r>
              <a:rPr lang="en-US" sz="1000" b="1" dirty="0">
                <a:solidFill>
                  <a:srgbClr val="7B2D8B"/>
                </a:solidFill>
              </a:rPr>
              <a:t>›  </a:t>
            </a:r>
            <a:r>
              <a:rPr lang="en-US" sz="1000" dirty="0">
                <a:solidFill>
                  <a:srgbClr val="C8D6E5"/>
                </a:solidFill>
              </a:rPr>
              <a:t>Manage user roles &amp; permissions</a:t>
            </a:r>
            <a:endParaRPr lang="en-US" sz="1000" dirty="0"/>
          </a:p>
        </p:txBody>
      </p:sp>
      <p:sp>
        <p:nvSpPr>
          <p:cNvPr id="29" name="Text 24"/>
          <p:cNvSpPr/>
          <p:nvPr/>
        </p:nvSpPr>
        <p:spPr>
          <a:xfrm>
            <a:off x="4736592" y="3017520"/>
            <a:ext cx="1810512" cy="475488"/>
          </a:xfrm>
          <a:prstGeom prst="rect">
            <a:avLst/>
          </a:prstGeom>
          <a:noFill/>
        </p:spPr>
        <p:txBody>
          <a:bodyPr wrap="square" rtlCol="0" anchor="ctr"/>
          <a:lstStyle/>
          <a:p>
            <a:pPr marL="0" indent="0">
              <a:buNone/>
            </a:pPr>
            <a:r>
              <a:rPr lang="en-US" sz="1000" b="1" dirty="0">
                <a:solidFill>
                  <a:srgbClr val="7B2D8B"/>
                </a:solidFill>
              </a:rPr>
              <a:t>›  </a:t>
            </a:r>
            <a:r>
              <a:rPr lang="en-US" sz="1000" dirty="0">
                <a:solidFill>
                  <a:srgbClr val="C8D6E5"/>
                </a:solidFill>
              </a:rPr>
              <a:t>Monitor system-wide academic data</a:t>
            </a:r>
            <a:endParaRPr lang="en-US" sz="1000" dirty="0"/>
          </a:p>
        </p:txBody>
      </p:sp>
      <p:sp>
        <p:nvSpPr>
          <p:cNvPr id="30" name="Text 25"/>
          <p:cNvSpPr/>
          <p:nvPr/>
        </p:nvSpPr>
        <p:spPr>
          <a:xfrm>
            <a:off x="4736592" y="3520440"/>
            <a:ext cx="1810512" cy="475488"/>
          </a:xfrm>
          <a:prstGeom prst="rect">
            <a:avLst/>
          </a:prstGeom>
          <a:noFill/>
        </p:spPr>
        <p:txBody>
          <a:bodyPr wrap="square" rtlCol="0" anchor="ctr"/>
          <a:lstStyle/>
          <a:p>
            <a:pPr marL="0" indent="0">
              <a:buNone/>
            </a:pPr>
            <a:r>
              <a:rPr lang="en-US" sz="1000" b="1" dirty="0">
                <a:solidFill>
                  <a:srgbClr val="7B2D8B"/>
                </a:solidFill>
              </a:rPr>
              <a:t>›  </a:t>
            </a:r>
            <a:r>
              <a:rPr lang="en-US" sz="1000" dirty="0">
                <a:solidFill>
                  <a:srgbClr val="C8D6E5"/>
                </a:solidFill>
              </a:rPr>
              <a:t>Publish opportunities and events</a:t>
            </a:r>
            <a:endParaRPr lang="en-US" sz="1000" dirty="0"/>
          </a:p>
        </p:txBody>
      </p:sp>
      <p:sp>
        <p:nvSpPr>
          <p:cNvPr id="31" name="Text 26"/>
          <p:cNvSpPr/>
          <p:nvPr/>
        </p:nvSpPr>
        <p:spPr>
          <a:xfrm>
            <a:off x="4736592" y="4023360"/>
            <a:ext cx="1810512" cy="475488"/>
          </a:xfrm>
          <a:prstGeom prst="rect">
            <a:avLst/>
          </a:prstGeom>
          <a:noFill/>
        </p:spPr>
        <p:txBody>
          <a:bodyPr wrap="square" rtlCol="0" anchor="ctr"/>
          <a:lstStyle/>
          <a:p>
            <a:pPr marL="0" indent="0">
              <a:buNone/>
            </a:pPr>
            <a:r>
              <a:rPr lang="en-US" sz="1000" b="1" dirty="0">
                <a:solidFill>
                  <a:srgbClr val="7B2D8B"/>
                </a:solidFill>
              </a:rPr>
              <a:t>›  </a:t>
            </a:r>
            <a:r>
              <a:rPr lang="en-US" sz="1000" dirty="0">
                <a:solidFill>
                  <a:srgbClr val="C8D6E5"/>
                </a:solidFill>
              </a:rPr>
              <a:t>Ensure data integrity &amp; security</a:t>
            </a:r>
            <a:endParaRPr lang="en-US" sz="1000" dirty="0"/>
          </a:p>
        </p:txBody>
      </p:sp>
      <p:sp>
        <p:nvSpPr>
          <p:cNvPr id="32" name="Shape 27"/>
          <p:cNvSpPr/>
          <p:nvPr/>
        </p:nvSpPr>
        <p:spPr>
          <a:xfrm>
            <a:off x="6821424" y="1280160"/>
            <a:ext cx="1993392" cy="3429000"/>
          </a:xfrm>
          <a:prstGeom prst="rect">
            <a:avLst/>
          </a:prstGeom>
          <a:solidFill>
            <a:srgbClr val="0D2137"/>
          </a:solidFill>
          <a:ln w="19050">
            <a:solidFill>
              <a:srgbClr val="F5A623"/>
            </a:solidFill>
            <a:prstDash val="solid"/>
          </a:ln>
        </p:spPr>
      </p:sp>
      <p:sp>
        <p:nvSpPr>
          <p:cNvPr id="33" name="Shape 28"/>
          <p:cNvSpPr/>
          <p:nvPr/>
        </p:nvSpPr>
        <p:spPr>
          <a:xfrm>
            <a:off x="6821424" y="1280160"/>
            <a:ext cx="1993392" cy="658368"/>
          </a:xfrm>
          <a:prstGeom prst="rect">
            <a:avLst/>
          </a:prstGeom>
          <a:solidFill>
            <a:srgbClr val="F5A623">
              <a:alpha val="82000"/>
            </a:srgbClr>
          </a:solidFill>
          <a:ln w="12700">
            <a:solidFill>
              <a:srgbClr val="F5A623"/>
            </a:solidFill>
            <a:prstDash val="solid"/>
          </a:ln>
        </p:spPr>
      </p:sp>
      <p:pic>
        <p:nvPicPr>
          <p:cNvPr id="34" name="Image 3" descr="preencoded.png"/>
          <p:cNvPicPr>
            <a:picLocks noChangeAspect="1"/>
          </p:cNvPicPr>
          <p:nvPr/>
        </p:nvPicPr>
        <p:blipFill>
          <a:blip r:embed="rId4"/>
          <a:stretch>
            <a:fillRect/>
          </a:stretch>
        </p:blipFill>
        <p:spPr>
          <a:xfrm>
            <a:off x="6931152" y="1362456"/>
            <a:ext cx="475488" cy="475488"/>
          </a:xfrm>
          <a:prstGeom prst="rect">
            <a:avLst/>
          </a:prstGeom>
        </p:spPr>
      </p:pic>
      <p:sp>
        <p:nvSpPr>
          <p:cNvPr id="35" name="Text 29"/>
          <p:cNvSpPr/>
          <p:nvPr/>
        </p:nvSpPr>
        <p:spPr>
          <a:xfrm>
            <a:off x="7479792" y="1298448"/>
            <a:ext cx="1261872" cy="621792"/>
          </a:xfrm>
          <a:prstGeom prst="rect">
            <a:avLst/>
          </a:prstGeom>
          <a:noFill/>
        </p:spPr>
        <p:txBody>
          <a:bodyPr wrap="square" lIns="0" tIns="0" rIns="0" bIns="0" rtlCol="0" anchor="ctr"/>
          <a:lstStyle/>
          <a:p>
            <a:pPr marL="0" indent="0">
              <a:buNone/>
            </a:pPr>
            <a:r>
              <a:rPr lang="en-US" sz="14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Institution</a:t>
            </a:r>
            <a:endParaRPr lang="en-US" sz="1400" dirty="0"/>
          </a:p>
        </p:txBody>
      </p:sp>
      <p:sp>
        <p:nvSpPr>
          <p:cNvPr id="36" name="Text 30"/>
          <p:cNvSpPr/>
          <p:nvPr/>
        </p:nvSpPr>
        <p:spPr>
          <a:xfrm>
            <a:off x="6912864" y="2011680"/>
            <a:ext cx="1810512" cy="475488"/>
          </a:xfrm>
          <a:prstGeom prst="rect">
            <a:avLst/>
          </a:prstGeom>
          <a:noFill/>
        </p:spPr>
        <p:txBody>
          <a:bodyPr wrap="square" rtlCol="0" anchor="ctr"/>
          <a:lstStyle/>
          <a:p>
            <a:pPr marL="0" indent="0">
              <a:buNone/>
            </a:pPr>
            <a:r>
              <a:rPr lang="en-US" sz="1000" b="1" dirty="0">
                <a:solidFill>
                  <a:srgbClr val="F5A623"/>
                </a:solidFill>
              </a:rPr>
              <a:t>›  </a:t>
            </a:r>
            <a:r>
              <a:rPr lang="en-US" sz="1000" dirty="0">
                <a:solidFill>
                  <a:srgbClr val="C8D6E5"/>
                </a:solidFill>
              </a:rPr>
              <a:t>Digitize campus workflows</a:t>
            </a:r>
            <a:endParaRPr lang="en-US" sz="1000" dirty="0"/>
          </a:p>
        </p:txBody>
      </p:sp>
      <p:sp>
        <p:nvSpPr>
          <p:cNvPr id="37" name="Text 31"/>
          <p:cNvSpPr/>
          <p:nvPr/>
        </p:nvSpPr>
        <p:spPr>
          <a:xfrm>
            <a:off x="6912864" y="2514600"/>
            <a:ext cx="1810512" cy="475488"/>
          </a:xfrm>
          <a:prstGeom prst="rect">
            <a:avLst/>
          </a:prstGeom>
          <a:noFill/>
        </p:spPr>
        <p:txBody>
          <a:bodyPr wrap="square" rtlCol="0" anchor="ctr"/>
          <a:lstStyle/>
          <a:p>
            <a:pPr marL="0" indent="0">
              <a:buNone/>
            </a:pPr>
            <a:r>
              <a:rPr lang="en-US" sz="1000" b="1" dirty="0">
                <a:solidFill>
                  <a:srgbClr val="F5A623"/>
                </a:solidFill>
              </a:rPr>
              <a:t>›  </a:t>
            </a:r>
            <a:r>
              <a:rPr lang="en-US" sz="1000" dirty="0">
                <a:solidFill>
                  <a:srgbClr val="C8D6E5"/>
                </a:solidFill>
              </a:rPr>
              <a:t>Reduce dependency on scattered tools</a:t>
            </a:r>
            <a:endParaRPr lang="en-US" sz="1000" dirty="0"/>
          </a:p>
        </p:txBody>
      </p:sp>
      <p:sp>
        <p:nvSpPr>
          <p:cNvPr id="38" name="Text 32"/>
          <p:cNvSpPr/>
          <p:nvPr/>
        </p:nvSpPr>
        <p:spPr>
          <a:xfrm>
            <a:off x="6912864" y="3017520"/>
            <a:ext cx="1810512" cy="475488"/>
          </a:xfrm>
          <a:prstGeom prst="rect">
            <a:avLst/>
          </a:prstGeom>
          <a:noFill/>
        </p:spPr>
        <p:txBody>
          <a:bodyPr wrap="square" rtlCol="0" anchor="ctr"/>
          <a:lstStyle/>
          <a:p>
            <a:pPr marL="0" indent="0">
              <a:buNone/>
            </a:pPr>
            <a:r>
              <a:rPr lang="en-US" sz="1000" b="1" dirty="0">
                <a:solidFill>
                  <a:srgbClr val="F5A623"/>
                </a:solidFill>
              </a:rPr>
              <a:t>›  </a:t>
            </a:r>
            <a:r>
              <a:rPr lang="en-US" sz="1000" dirty="0">
                <a:solidFill>
                  <a:srgbClr val="C8D6E5"/>
                </a:solidFill>
              </a:rPr>
              <a:t>Improve student engagement &amp; outcomes</a:t>
            </a:r>
            <a:endParaRPr lang="en-US" sz="1000" dirty="0"/>
          </a:p>
        </p:txBody>
      </p:sp>
      <p:sp>
        <p:nvSpPr>
          <p:cNvPr id="39" name="Text 33"/>
          <p:cNvSpPr/>
          <p:nvPr/>
        </p:nvSpPr>
        <p:spPr>
          <a:xfrm>
            <a:off x="6912864" y="3520440"/>
            <a:ext cx="1810512" cy="475488"/>
          </a:xfrm>
          <a:prstGeom prst="rect">
            <a:avLst/>
          </a:prstGeom>
          <a:noFill/>
        </p:spPr>
        <p:txBody>
          <a:bodyPr wrap="square" rtlCol="0" anchor="ctr"/>
          <a:lstStyle/>
          <a:p>
            <a:pPr marL="0" indent="0">
              <a:buNone/>
            </a:pPr>
            <a:r>
              <a:rPr lang="en-US" sz="1000" b="1" dirty="0">
                <a:solidFill>
                  <a:srgbClr val="F5A623"/>
                </a:solidFill>
              </a:rPr>
              <a:t>›  </a:t>
            </a:r>
            <a:r>
              <a:rPr lang="en-US" sz="1000" dirty="0">
                <a:solidFill>
                  <a:srgbClr val="C8D6E5"/>
                </a:solidFill>
              </a:rPr>
              <a:t>Centralize data for reporting</a:t>
            </a:r>
            <a:endParaRPr lang="en-US" sz="1000" dirty="0"/>
          </a:p>
        </p:txBody>
      </p:sp>
      <p:sp>
        <p:nvSpPr>
          <p:cNvPr id="40" name="Text 34"/>
          <p:cNvSpPr/>
          <p:nvPr/>
        </p:nvSpPr>
        <p:spPr>
          <a:xfrm>
            <a:off x="6912864" y="4023360"/>
            <a:ext cx="1810512" cy="475488"/>
          </a:xfrm>
          <a:prstGeom prst="rect">
            <a:avLst/>
          </a:prstGeom>
          <a:noFill/>
        </p:spPr>
        <p:txBody>
          <a:bodyPr wrap="square" rtlCol="0" anchor="ctr"/>
          <a:lstStyle/>
          <a:p>
            <a:pPr marL="0" indent="0">
              <a:buNone/>
            </a:pPr>
            <a:r>
              <a:rPr lang="en-US" sz="1000" b="1" dirty="0">
                <a:solidFill>
                  <a:srgbClr val="F5A623"/>
                </a:solidFill>
              </a:rPr>
              <a:t>›  </a:t>
            </a:r>
            <a:r>
              <a:rPr lang="en-US" sz="1000" dirty="0">
                <a:solidFill>
                  <a:srgbClr val="C8D6E5"/>
                </a:solidFill>
              </a:rPr>
              <a:t>Support accreditation documentation</a:t>
            </a:r>
            <a:endParaRPr lang="en-US" sz="1000" dirty="0"/>
          </a:p>
        </p:txBody>
      </p:sp>
      <p:sp>
        <p:nvSpPr>
          <p:cNvPr id="41" name="Shape 35"/>
          <p:cNvSpPr/>
          <p:nvPr/>
        </p:nvSpPr>
        <p:spPr>
          <a:xfrm>
            <a:off x="0" y="4846320"/>
            <a:ext cx="9144000" cy="297180"/>
          </a:xfrm>
          <a:prstGeom prst="rect">
            <a:avLst/>
          </a:prstGeom>
          <a:solidFill>
            <a:srgbClr val="0F3460"/>
          </a:solidFill>
          <a:ln w="12700">
            <a:solidFill>
              <a:srgbClr val="0F3460"/>
            </a:solidFill>
            <a:prstDash val="solid"/>
          </a:ln>
        </p:spPr>
      </p:sp>
      <p:sp>
        <p:nvSpPr>
          <p:cNvPr id="42" name="Text 36"/>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Stakeholders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7B2D8B"/>
          </a:solidFill>
          <a:ln w="12700">
            <a:solidFill>
              <a:srgbClr val="7B2D8B"/>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Languages, Tools &amp; Software</a:t>
            </a:r>
            <a:endParaRPr lang="en-US" sz="2600" dirty="0"/>
          </a:p>
        </p:txBody>
      </p:sp>
      <p:sp>
        <p:nvSpPr>
          <p:cNvPr id="4" name="Shape 2"/>
          <p:cNvSpPr/>
          <p:nvPr/>
        </p:nvSpPr>
        <p:spPr>
          <a:xfrm>
            <a:off x="228600" y="868680"/>
            <a:ext cx="1572768" cy="3840480"/>
          </a:xfrm>
          <a:prstGeom prst="rect">
            <a:avLst/>
          </a:prstGeom>
          <a:solidFill>
            <a:srgbClr val="0D2137"/>
          </a:solidFill>
          <a:ln w="19050">
            <a:solidFill>
              <a:srgbClr val="61DAFB"/>
            </a:solidFill>
            <a:prstDash val="solid"/>
          </a:ln>
        </p:spPr>
      </p:sp>
      <p:sp>
        <p:nvSpPr>
          <p:cNvPr id="5" name="Shape 3"/>
          <p:cNvSpPr/>
          <p:nvPr/>
        </p:nvSpPr>
        <p:spPr>
          <a:xfrm>
            <a:off x="557784" y="960120"/>
            <a:ext cx="914400" cy="914400"/>
          </a:xfrm>
          <a:prstGeom prst="ellipse">
            <a:avLst/>
          </a:prstGeom>
          <a:solidFill>
            <a:srgbClr val="61DAFB">
              <a:alpha val="78000"/>
            </a:srgbClr>
          </a:solidFill>
          <a:ln w="12700">
            <a:solidFill>
              <a:srgbClr val="61DAFB"/>
            </a:solidFill>
            <a:prstDash val="solid"/>
          </a:ln>
        </p:spPr>
      </p:sp>
      <p:pic>
        <p:nvPicPr>
          <p:cNvPr id="6" name="Image 0" descr="preencoded.png"/>
          <p:cNvPicPr>
            <a:picLocks noChangeAspect="1"/>
          </p:cNvPicPr>
          <p:nvPr/>
        </p:nvPicPr>
        <p:blipFill>
          <a:blip r:embed="rId1"/>
          <a:stretch>
            <a:fillRect/>
          </a:stretch>
        </p:blipFill>
        <p:spPr>
          <a:xfrm>
            <a:off x="649224" y="1051560"/>
            <a:ext cx="731520" cy="731520"/>
          </a:xfrm>
          <a:prstGeom prst="rect">
            <a:avLst/>
          </a:prstGeom>
        </p:spPr>
      </p:pic>
      <p:sp>
        <p:nvSpPr>
          <p:cNvPr id="7" name="Text 4"/>
          <p:cNvSpPr/>
          <p:nvPr/>
        </p:nvSpPr>
        <p:spPr>
          <a:xfrm>
            <a:off x="265176" y="1993392"/>
            <a:ext cx="1508760" cy="384048"/>
          </a:xfrm>
          <a:prstGeom prst="rect">
            <a:avLst/>
          </a:prstGeom>
          <a:noFill/>
        </p:spPr>
        <p:txBody>
          <a:bodyPr wrap="square" rtlCol="0" anchor="ctr"/>
          <a:lstStyle/>
          <a:p>
            <a:pPr marL="0" indent="0" algn="ctr">
              <a:buNone/>
            </a:pPr>
            <a:r>
              <a:rPr lang="en-US" sz="1300" b="1" dirty="0">
                <a:solidFill>
                  <a:srgbClr val="61DAFB"/>
                </a:solidFill>
                <a:latin typeface="Trebuchet MS" panose="020B0603020202020204" pitchFamily="34" charset="0"/>
                <a:ea typeface="Trebuchet MS" panose="020B0603020202020204" pitchFamily="34" charset="-122"/>
                <a:cs typeface="Trebuchet MS" panose="020B0603020202020204" pitchFamily="34" charset="-120"/>
              </a:rPr>
              <a:t>Frontend</a:t>
            </a:r>
            <a:endParaRPr lang="en-US" sz="1300" dirty="0"/>
          </a:p>
        </p:txBody>
      </p:sp>
      <p:sp>
        <p:nvSpPr>
          <p:cNvPr id="8" name="Shape 5"/>
          <p:cNvSpPr/>
          <p:nvPr/>
        </p:nvSpPr>
        <p:spPr>
          <a:xfrm>
            <a:off x="320040" y="2487168"/>
            <a:ext cx="1389888" cy="347472"/>
          </a:xfrm>
          <a:prstGeom prst="rect">
            <a:avLst/>
          </a:prstGeom>
          <a:solidFill>
            <a:srgbClr val="0F3460"/>
          </a:solidFill>
          <a:ln w="12700">
            <a:solidFill>
              <a:srgbClr val="0F3460"/>
            </a:solidFill>
            <a:prstDash val="solid"/>
          </a:ln>
        </p:spPr>
      </p:sp>
      <p:sp>
        <p:nvSpPr>
          <p:cNvPr id="9" name="Text 6"/>
          <p:cNvSpPr/>
          <p:nvPr/>
        </p:nvSpPr>
        <p:spPr>
          <a:xfrm>
            <a:off x="320040" y="2487168"/>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React.js</a:t>
            </a:r>
            <a:endParaRPr lang="en-US" sz="1000" dirty="0"/>
          </a:p>
        </p:txBody>
      </p:sp>
      <p:sp>
        <p:nvSpPr>
          <p:cNvPr id="10" name="Shape 7"/>
          <p:cNvSpPr/>
          <p:nvPr/>
        </p:nvSpPr>
        <p:spPr>
          <a:xfrm>
            <a:off x="320040" y="2907792"/>
            <a:ext cx="1389888" cy="347472"/>
          </a:xfrm>
          <a:prstGeom prst="rect">
            <a:avLst/>
          </a:prstGeom>
          <a:solidFill>
            <a:srgbClr val="0F3460"/>
          </a:solidFill>
          <a:ln w="12700">
            <a:solidFill>
              <a:srgbClr val="0F3460"/>
            </a:solidFill>
            <a:prstDash val="solid"/>
          </a:ln>
        </p:spPr>
      </p:sp>
      <p:sp>
        <p:nvSpPr>
          <p:cNvPr id="11" name="Text 8"/>
          <p:cNvSpPr/>
          <p:nvPr/>
        </p:nvSpPr>
        <p:spPr>
          <a:xfrm>
            <a:off x="320040" y="2907792"/>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TypeScript</a:t>
            </a:r>
            <a:endParaRPr lang="en-US" sz="1000" dirty="0"/>
          </a:p>
        </p:txBody>
      </p:sp>
      <p:sp>
        <p:nvSpPr>
          <p:cNvPr id="12" name="Shape 9"/>
          <p:cNvSpPr/>
          <p:nvPr/>
        </p:nvSpPr>
        <p:spPr>
          <a:xfrm>
            <a:off x="320040" y="3328416"/>
            <a:ext cx="1389888" cy="347472"/>
          </a:xfrm>
          <a:prstGeom prst="rect">
            <a:avLst/>
          </a:prstGeom>
          <a:solidFill>
            <a:srgbClr val="0F3460"/>
          </a:solidFill>
          <a:ln w="12700">
            <a:solidFill>
              <a:srgbClr val="0F3460"/>
            </a:solidFill>
            <a:prstDash val="solid"/>
          </a:ln>
        </p:spPr>
      </p:sp>
      <p:sp>
        <p:nvSpPr>
          <p:cNvPr id="13" name="Text 10"/>
          <p:cNvSpPr/>
          <p:nvPr/>
        </p:nvSpPr>
        <p:spPr>
          <a:xfrm>
            <a:off x="320040" y="3328416"/>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Tailwind CSS</a:t>
            </a:r>
            <a:endParaRPr lang="en-US" sz="1000" dirty="0"/>
          </a:p>
        </p:txBody>
      </p:sp>
      <p:sp>
        <p:nvSpPr>
          <p:cNvPr id="14" name="Shape 11"/>
          <p:cNvSpPr/>
          <p:nvPr/>
        </p:nvSpPr>
        <p:spPr>
          <a:xfrm>
            <a:off x="320040" y="3749040"/>
            <a:ext cx="1389888" cy="347472"/>
          </a:xfrm>
          <a:prstGeom prst="rect">
            <a:avLst/>
          </a:prstGeom>
          <a:solidFill>
            <a:srgbClr val="0F3460"/>
          </a:solidFill>
          <a:ln w="12700">
            <a:solidFill>
              <a:srgbClr val="0F3460"/>
            </a:solidFill>
            <a:prstDash val="solid"/>
          </a:ln>
        </p:spPr>
      </p:sp>
      <p:sp>
        <p:nvSpPr>
          <p:cNvPr id="15" name="Text 12"/>
          <p:cNvSpPr/>
          <p:nvPr/>
        </p:nvSpPr>
        <p:spPr>
          <a:xfrm>
            <a:off x="320040" y="3749040"/>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Lucide React Icons</a:t>
            </a:r>
            <a:endParaRPr lang="en-US" sz="1000" dirty="0"/>
          </a:p>
        </p:txBody>
      </p:sp>
      <p:sp>
        <p:nvSpPr>
          <p:cNvPr id="16" name="Shape 13"/>
          <p:cNvSpPr/>
          <p:nvPr/>
        </p:nvSpPr>
        <p:spPr>
          <a:xfrm>
            <a:off x="320040" y="4169664"/>
            <a:ext cx="1389888" cy="347472"/>
          </a:xfrm>
          <a:prstGeom prst="rect">
            <a:avLst/>
          </a:prstGeom>
          <a:solidFill>
            <a:srgbClr val="0F3460"/>
          </a:solidFill>
          <a:ln w="12700">
            <a:solidFill>
              <a:srgbClr val="0F3460"/>
            </a:solidFill>
            <a:prstDash val="solid"/>
          </a:ln>
        </p:spPr>
      </p:sp>
      <p:sp>
        <p:nvSpPr>
          <p:cNvPr id="17" name="Text 14"/>
          <p:cNvSpPr/>
          <p:nvPr/>
        </p:nvSpPr>
        <p:spPr>
          <a:xfrm>
            <a:off x="320040" y="4169664"/>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Vite (Build Tool)</a:t>
            </a:r>
            <a:endParaRPr lang="en-US" sz="1000" dirty="0"/>
          </a:p>
        </p:txBody>
      </p:sp>
      <p:sp>
        <p:nvSpPr>
          <p:cNvPr id="18" name="Shape 15"/>
          <p:cNvSpPr/>
          <p:nvPr/>
        </p:nvSpPr>
        <p:spPr>
          <a:xfrm>
            <a:off x="1984248" y="868680"/>
            <a:ext cx="1572768" cy="3840480"/>
          </a:xfrm>
          <a:prstGeom prst="rect">
            <a:avLst/>
          </a:prstGeom>
          <a:solidFill>
            <a:srgbClr val="0D2137"/>
          </a:solidFill>
          <a:ln w="19050">
            <a:solidFill>
              <a:srgbClr val="68A063"/>
            </a:solidFill>
            <a:prstDash val="solid"/>
          </a:ln>
        </p:spPr>
      </p:sp>
      <p:sp>
        <p:nvSpPr>
          <p:cNvPr id="19" name="Shape 16"/>
          <p:cNvSpPr/>
          <p:nvPr/>
        </p:nvSpPr>
        <p:spPr>
          <a:xfrm>
            <a:off x="2313432" y="960120"/>
            <a:ext cx="914400" cy="914400"/>
          </a:xfrm>
          <a:prstGeom prst="ellipse">
            <a:avLst/>
          </a:prstGeom>
          <a:solidFill>
            <a:srgbClr val="68A063">
              <a:alpha val="78000"/>
            </a:srgbClr>
          </a:solidFill>
          <a:ln w="12700">
            <a:solidFill>
              <a:srgbClr val="68A063"/>
            </a:solidFill>
            <a:prstDash val="solid"/>
          </a:ln>
        </p:spPr>
      </p:sp>
      <p:pic>
        <p:nvPicPr>
          <p:cNvPr id="20" name="Image 1" descr="preencoded.png"/>
          <p:cNvPicPr>
            <a:picLocks noChangeAspect="1"/>
          </p:cNvPicPr>
          <p:nvPr/>
        </p:nvPicPr>
        <p:blipFill>
          <a:blip r:embed="rId2"/>
          <a:stretch>
            <a:fillRect/>
          </a:stretch>
        </p:blipFill>
        <p:spPr>
          <a:xfrm>
            <a:off x="2404872" y="1051560"/>
            <a:ext cx="731520" cy="731520"/>
          </a:xfrm>
          <a:prstGeom prst="rect">
            <a:avLst/>
          </a:prstGeom>
        </p:spPr>
      </p:pic>
      <p:sp>
        <p:nvSpPr>
          <p:cNvPr id="21" name="Text 17"/>
          <p:cNvSpPr/>
          <p:nvPr/>
        </p:nvSpPr>
        <p:spPr>
          <a:xfrm>
            <a:off x="2020824" y="1993392"/>
            <a:ext cx="1508760" cy="384048"/>
          </a:xfrm>
          <a:prstGeom prst="rect">
            <a:avLst/>
          </a:prstGeom>
          <a:noFill/>
        </p:spPr>
        <p:txBody>
          <a:bodyPr wrap="square" rtlCol="0" anchor="ctr"/>
          <a:lstStyle/>
          <a:p>
            <a:pPr marL="0" indent="0" algn="ctr">
              <a:buNone/>
            </a:pPr>
            <a:r>
              <a:rPr lang="en-US" sz="1300" b="1" dirty="0">
                <a:solidFill>
                  <a:srgbClr val="68A063"/>
                </a:solidFill>
                <a:latin typeface="Trebuchet MS" panose="020B0603020202020204" pitchFamily="34" charset="0"/>
                <a:ea typeface="Trebuchet MS" panose="020B0603020202020204" pitchFamily="34" charset="-122"/>
                <a:cs typeface="Trebuchet MS" panose="020B0603020202020204" pitchFamily="34" charset="-120"/>
              </a:rPr>
              <a:t>Backend</a:t>
            </a:r>
            <a:endParaRPr lang="en-US" sz="1300" dirty="0"/>
          </a:p>
        </p:txBody>
      </p:sp>
      <p:sp>
        <p:nvSpPr>
          <p:cNvPr id="22" name="Shape 18"/>
          <p:cNvSpPr/>
          <p:nvPr/>
        </p:nvSpPr>
        <p:spPr>
          <a:xfrm>
            <a:off x="2075688" y="2487168"/>
            <a:ext cx="1389888" cy="347472"/>
          </a:xfrm>
          <a:prstGeom prst="rect">
            <a:avLst/>
          </a:prstGeom>
          <a:solidFill>
            <a:srgbClr val="0F3460"/>
          </a:solidFill>
          <a:ln w="12700">
            <a:solidFill>
              <a:srgbClr val="0F3460"/>
            </a:solidFill>
            <a:prstDash val="solid"/>
          </a:ln>
        </p:spPr>
      </p:sp>
      <p:sp>
        <p:nvSpPr>
          <p:cNvPr id="23" name="Text 19"/>
          <p:cNvSpPr/>
          <p:nvPr/>
        </p:nvSpPr>
        <p:spPr>
          <a:xfrm>
            <a:off x="2075688" y="2487168"/>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Node.js</a:t>
            </a:r>
            <a:endParaRPr lang="en-US" sz="1000" dirty="0"/>
          </a:p>
        </p:txBody>
      </p:sp>
      <p:sp>
        <p:nvSpPr>
          <p:cNvPr id="24" name="Shape 20"/>
          <p:cNvSpPr/>
          <p:nvPr/>
        </p:nvSpPr>
        <p:spPr>
          <a:xfrm>
            <a:off x="2075688" y="2907792"/>
            <a:ext cx="1389888" cy="347472"/>
          </a:xfrm>
          <a:prstGeom prst="rect">
            <a:avLst/>
          </a:prstGeom>
          <a:solidFill>
            <a:srgbClr val="0F3460"/>
          </a:solidFill>
          <a:ln w="12700">
            <a:solidFill>
              <a:srgbClr val="0F3460"/>
            </a:solidFill>
            <a:prstDash val="solid"/>
          </a:ln>
        </p:spPr>
      </p:sp>
      <p:sp>
        <p:nvSpPr>
          <p:cNvPr id="25" name="Text 21"/>
          <p:cNvSpPr/>
          <p:nvPr/>
        </p:nvSpPr>
        <p:spPr>
          <a:xfrm>
            <a:off x="2075688" y="2907792"/>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Express.js</a:t>
            </a:r>
            <a:endParaRPr lang="en-US" sz="1000" dirty="0"/>
          </a:p>
        </p:txBody>
      </p:sp>
      <p:sp>
        <p:nvSpPr>
          <p:cNvPr id="26" name="Shape 22"/>
          <p:cNvSpPr/>
          <p:nvPr/>
        </p:nvSpPr>
        <p:spPr>
          <a:xfrm>
            <a:off x="2075688" y="3328416"/>
            <a:ext cx="1389888" cy="347472"/>
          </a:xfrm>
          <a:prstGeom prst="rect">
            <a:avLst/>
          </a:prstGeom>
          <a:solidFill>
            <a:srgbClr val="0F3460"/>
          </a:solidFill>
          <a:ln w="12700">
            <a:solidFill>
              <a:srgbClr val="0F3460"/>
            </a:solidFill>
            <a:prstDash val="solid"/>
          </a:ln>
        </p:spPr>
      </p:sp>
      <p:sp>
        <p:nvSpPr>
          <p:cNvPr id="27" name="Text 23"/>
          <p:cNvSpPr/>
          <p:nvPr/>
        </p:nvSpPr>
        <p:spPr>
          <a:xfrm>
            <a:off x="2075688" y="3328416"/>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REST API</a:t>
            </a:r>
            <a:endParaRPr lang="en-US" sz="1000" dirty="0"/>
          </a:p>
        </p:txBody>
      </p:sp>
      <p:sp>
        <p:nvSpPr>
          <p:cNvPr id="28" name="Shape 24"/>
          <p:cNvSpPr/>
          <p:nvPr/>
        </p:nvSpPr>
        <p:spPr>
          <a:xfrm>
            <a:off x="2075688" y="3749040"/>
            <a:ext cx="1389888" cy="347472"/>
          </a:xfrm>
          <a:prstGeom prst="rect">
            <a:avLst/>
          </a:prstGeom>
          <a:solidFill>
            <a:srgbClr val="0F3460"/>
          </a:solidFill>
          <a:ln w="12700">
            <a:solidFill>
              <a:srgbClr val="0F3460"/>
            </a:solidFill>
            <a:prstDash val="solid"/>
          </a:ln>
        </p:spPr>
      </p:sp>
      <p:sp>
        <p:nvSpPr>
          <p:cNvPr id="29" name="Text 25"/>
          <p:cNvSpPr/>
          <p:nvPr/>
        </p:nvSpPr>
        <p:spPr>
          <a:xfrm>
            <a:off x="2075688" y="3749040"/>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JWT (Auth)</a:t>
            </a:r>
            <a:endParaRPr lang="en-US" sz="1000" dirty="0"/>
          </a:p>
        </p:txBody>
      </p:sp>
      <p:sp>
        <p:nvSpPr>
          <p:cNvPr id="30" name="Shape 26"/>
          <p:cNvSpPr/>
          <p:nvPr/>
        </p:nvSpPr>
        <p:spPr>
          <a:xfrm>
            <a:off x="2075688" y="4169664"/>
            <a:ext cx="1389888" cy="347472"/>
          </a:xfrm>
          <a:prstGeom prst="rect">
            <a:avLst/>
          </a:prstGeom>
          <a:solidFill>
            <a:srgbClr val="0F3460"/>
          </a:solidFill>
          <a:ln w="12700">
            <a:solidFill>
              <a:srgbClr val="0F3460"/>
            </a:solidFill>
            <a:prstDash val="solid"/>
          </a:ln>
        </p:spPr>
      </p:sp>
      <p:sp>
        <p:nvSpPr>
          <p:cNvPr id="31" name="Text 27"/>
          <p:cNvSpPr/>
          <p:nvPr/>
        </p:nvSpPr>
        <p:spPr>
          <a:xfrm>
            <a:off x="2075688" y="4169664"/>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bcrypt (Security)</a:t>
            </a:r>
            <a:endParaRPr lang="en-US" sz="1000" dirty="0"/>
          </a:p>
        </p:txBody>
      </p:sp>
      <p:sp>
        <p:nvSpPr>
          <p:cNvPr id="32" name="Shape 28"/>
          <p:cNvSpPr/>
          <p:nvPr/>
        </p:nvSpPr>
        <p:spPr>
          <a:xfrm>
            <a:off x="3739896" y="868680"/>
            <a:ext cx="1572768" cy="3840480"/>
          </a:xfrm>
          <a:prstGeom prst="rect">
            <a:avLst/>
          </a:prstGeom>
          <a:solidFill>
            <a:srgbClr val="0D2137"/>
          </a:solidFill>
          <a:ln w="19050">
            <a:solidFill>
              <a:srgbClr val="F5A623"/>
            </a:solidFill>
            <a:prstDash val="solid"/>
          </a:ln>
        </p:spPr>
      </p:sp>
      <p:sp>
        <p:nvSpPr>
          <p:cNvPr id="33" name="Shape 29"/>
          <p:cNvSpPr/>
          <p:nvPr/>
        </p:nvSpPr>
        <p:spPr>
          <a:xfrm>
            <a:off x="4069080" y="960120"/>
            <a:ext cx="914400" cy="914400"/>
          </a:xfrm>
          <a:prstGeom prst="ellipse">
            <a:avLst/>
          </a:prstGeom>
          <a:solidFill>
            <a:srgbClr val="F5A623">
              <a:alpha val="78000"/>
            </a:srgbClr>
          </a:solidFill>
          <a:ln w="12700">
            <a:solidFill>
              <a:srgbClr val="F5A623"/>
            </a:solidFill>
            <a:prstDash val="solid"/>
          </a:ln>
        </p:spPr>
      </p:sp>
      <p:pic>
        <p:nvPicPr>
          <p:cNvPr id="34" name="Image 2" descr="preencoded.png"/>
          <p:cNvPicPr>
            <a:picLocks noChangeAspect="1"/>
          </p:cNvPicPr>
          <p:nvPr/>
        </p:nvPicPr>
        <p:blipFill>
          <a:blip r:embed="rId3"/>
          <a:stretch>
            <a:fillRect/>
          </a:stretch>
        </p:blipFill>
        <p:spPr>
          <a:xfrm>
            <a:off x="4160520" y="1051560"/>
            <a:ext cx="731520" cy="731520"/>
          </a:xfrm>
          <a:prstGeom prst="rect">
            <a:avLst/>
          </a:prstGeom>
        </p:spPr>
      </p:pic>
      <p:sp>
        <p:nvSpPr>
          <p:cNvPr id="35" name="Text 30"/>
          <p:cNvSpPr/>
          <p:nvPr/>
        </p:nvSpPr>
        <p:spPr>
          <a:xfrm>
            <a:off x="3776472" y="1993392"/>
            <a:ext cx="1508760" cy="384048"/>
          </a:xfrm>
          <a:prstGeom prst="rect">
            <a:avLst/>
          </a:prstGeom>
          <a:noFill/>
        </p:spPr>
        <p:txBody>
          <a:bodyPr wrap="square" rtlCol="0" anchor="ctr"/>
          <a:lstStyle/>
          <a:p>
            <a:pPr marL="0" indent="0" algn="ctr">
              <a:buNone/>
            </a:pPr>
            <a:r>
              <a:rPr lang="en-US" sz="1300" b="1" dirty="0">
                <a:solidFill>
                  <a:srgbClr val="F5A623"/>
                </a:solidFill>
                <a:latin typeface="Trebuchet MS" panose="020B0603020202020204" pitchFamily="34" charset="0"/>
                <a:ea typeface="Trebuchet MS" panose="020B0603020202020204" pitchFamily="34" charset="-122"/>
                <a:cs typeface="Trebuchet MS" panose="020B0603020202020204" pitchFamily="34" charset="-120"/>
              </a:rPr>
              <a:t>Database</a:t>
            </a:r>
            <a:endParaRPr lang="en-US" sz="1300" dirty="0"/>
          </a:p>
        </p:txBody>
      </p:sp>
      <p:sp>
        <p:nvSpPr>
          <p:cNvPr id="36" name="Shape 31"/>
          <p:cNvSpPr/>
          <p:nvPr/>
        </p:nvSpPr>
        <p:spPr>
          <a:xfrm>
            <a:off x="3831336" y="2487168"/>
            <a:ext cx="1389888" cy="347472"/>
          </a:xfrm>
          <a:prstGeom prst="rect">
            <a:avLst/>
          </a:prstGeom>
          <a:solidFill>
            <a:srgbClr val="0F3460"/>
          </a:solidFill>
          <a:ln w="12700">
            <a:solidFill>
              <a:srgbClr val="0F3460"/>
            </a:solidFill>
            <a:prstDash val="solid"/>
          </a:ln>
        </p:spPr>
      </p:sp>
      <p:sp>
        <p:nvSpPr>
          <p:cNvPr id="37" name="Text 32"/>
          <p:cNvSpPr/>
          <p:nvPr/>
        </p:nvSpPr>
        <p:spPr>
          <a:xfrm>
            <a:off x="3831336" y="2487168"/>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PostgreSQL</a:t>
            </a:r>
            <a:endParaRPr lang="en-US" sz="1000" dirty="0"/>
          </a:p>
        </p:txBody>
      </p:sp>
      <p:sp>
        <p:nvSpPr>
          <p:cNvPr id="38" name="Shape 33"/>
          <p:cNvSpPr/>
          <p:nvPr/>
        </p:nvSpPr>
        <p:spPr>
          <a:xfrm>
            <a:off x="3831336" y="2907792"/>
            <a:ext cx="1389888" cy="347472"/>
          </a:xfrm>
          <a:prstGeom prst="rect">
            <a:avLst/>
          </a:prstGeom>
          <a:solidFill>
            <a:srgbClr val="0F3460"/>
          </a:solidFill>
          <a:ln w="12700">
            <a:solidFill>
              <a:srgbClr val="0F3460"/>
            </a:solidFill>
            <a:prstDash val="solid"/>
          </a:ln>
        </p:spPr>
      </p:sp>
      <p:sp>
        <p:nvSpPr>
          <p:cNvPr id="39" name="Text 34"/>
          <p:cNvSpPr/>
          <p:nvPr/>
        </p:nvSpPr>
        <p:spPr>
          <a:xfrm>
            <a:off x="3831336" y="2907792"/>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Sequelize ORM</a:t>
            </a:r>
            <a:endParaRPr lang="en-US" sz="1000" dirty="0"/>
          </a:p>
        </p:txBody>
      </p:sp>
      <p:sp>
        <p:nvSpPr>
          <p:cNvPr id="40" name="Shape 35"/>
          <p:cNvSpPr/>
          <p:nvPr/>
        </p:nvSpPr>
        <p:spPr>
          <a:xfrm>
            <a:off x="3831336" y="3328416"/>
            <a:ext cx="1389888" cy="347472"/>
          </a:xfrm>
          <a:prstGeom prst="rect">
            <a:avLst/>
          </a:prstGeom>
          <a:solidFill>
            <a:srgbClr val="0F3460"/>
          </a:solidFill>
          <a:ln w="12700">
            <a:solidFill>
              <a:srgbClr val="0F3460"/>
            </a:solidFill>
            <a:prstDash val="solid"/>
          </a:ln>
        </p:spPr>
      </p:sp>
      <p:sp>
        <p:nvSpPr>
          <p:cNvPr id="41" name="Text 36"/>
          <p:cNvSpPr/>
          <p:nvPr/>
        </p:nvSpPr>
        <p:spPr>
          <a:xfrm>
            <a:off x="3831336" y="3328416"/>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Relational Schema</a:t>
            </a:r>
            <a:endParaRPr lang="en-US" sz="1000" dirty="0"/>
          </a:p>
        </p:txBody>
      </p:sp>
      <p:sp>
        <p:nvSpPr>
          <p:cNvPr id="42" name="Shape 37"/>
          <p:cNvSpPr/>
          <p:nvPr/>
        </p:nvSpPr>
        <p:spPr>
          <a:xfrm>
            <a:off x="3831336" y="3749040"/>
            <a:ext cx="1389888" cy="347472"/>
          </a:xfrm>
          <a:prstGeom prst="rect">
            <a:avLst/>
          </a:prstGeom>
          <a:solidFill>
            <a:srgbClr val="0F3460"/>
          </a:solidFill>
          <a:ln w="12700">
            <a:solidFill>
              <a:srgbClr val="0F3460"/>
            </a:solidFill>
            <a:prstDash val="solid"/>
          </a:ln>
        </p:spPr>
      </p:sp>
      <p:sp>
        <p:nvSpPr>
          <p:cNvPr id="43" name="Text 38"/>
          <p:cNvSpPr/>
          <p:nvPr/>
        </p:nvSpPr>
        <p:spPr>
          <a:xfrm>
            <a:off x="3831336" y="3749040"/>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Migrations</a:t>
            </a:r>
            <a:endParaRPr lang="en-US" sz="1000" dirty="0"/>
          </a:p>
        </p:txBody>
      </p:sp>
      <p:sp>
        <p:nvSpPr>
          <p:cNvPr id="44" name="Shape 39"/>
          <p:cNvSpPr/>
          <p:nvPr/>
        </p:nvSpPr>
        <p:spPr>
          <a:xfrm>
            <a:off x="3831336" y="4169664"/>
            <a:ext cx="1389888" cy="347472"/>
          </a:xfrm>
          <a:prstGeom prst="rect">
            <a:avLst/>
          </a:prstGeom>
          <a:solidFill>
            <a:srgbClr val="0F3460"/>
          </a:solidFill>
          <a:ln w="12700">
            <a:solidFill>
              <a:srgbClr val="0F3460"/>
            </a:solidFill>
            <a:prstDash val="solid"/>
          </a:ln>
        </p:spPr>
      </p:sp>
      <p:sp>
        <p:nvSpPr>
          <p:cNvPr id="45" name="Text 40"/>
          <p:cNvSpPr/>
          <p:nvPr/>
        </p:nvSpPr>
        <p:spPr>
          <a:xfrm>
            <a:off x="3831336" y="4169664"/>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Associations</a:t>
            </a:r>
            <a:endParaRPr lang="en-US" sz="1000" dirty="0"/>
          </a:p>
        </p:txBody>
      </p:sp>
      <p:sp>
        <p:nvSpPr>
          <p:cNvPr id="46" name="Shape 41"/>
          <p:cNvSpPr/>
          <p:nvPr/>
        </p:nvSpPr>
        <p:spPr>
          <a:xfrm>
            <a:off x="5495544" y="868680"/>
            <a:ext cx="1572768" cy="3840480"/>
          </a:xfrm>
          <a:prstGeom prst="rect">
            <a:avLst/>
          </a:prstGeom>
          <a:solidFill>
            <a:srgbClr val="0D2137"/>
          </a:solidFill>
          <a:ln w="19050">
            <a:solidFill>
              <a:srgbClr val="E94560"/>
            </a:solidFill>
            <a:prstDash val="solid"/>
          </a:ln>
        </p:spPr>
      </p:sp>
      <p:sp>
        <p:nvSpPr>
          <p:cNvPr id="47" name="Shape 42"/>
          <p:cNvSpPr/>
          <p:nvPr/>
        </p:nvSpPr>
        <p:spPr>
          <a:xfrm>
            <a:off x="5824728" y="960120"/>
            <a:ext cx="914400" cy="914400"/>
          </a:xfrm>
          <a:prstGeom prst="ellipse">
            <a:avLst/>
          </a:prstGeom>
          <a:solidFill>
            <a:srgbClr val="E94560">
              <a:alpha val="78000"/>
            </a:srgbClr>
          </a:solidFill>
          <a:ln w="12700">
            <a:solidFill>
              <a:srgbClr val="E94560"/>
            </a:solidFill>
            <a:prstDash val="solid"/>
          </a:ln>
        </p:spPr>
      </p:sp>
      <p:pic>
        <p:nvPicPr>
          <p:cNvPr id="48" name="Image 3" descr="preencoded.png"/>
          <p:cNvPicPr>
            <a:picLocks noChangeAspect="1"/>
          </p:cNvPicPr>
          <p:nvPr/>
        </p:nvPicPr>
        <p:blipFill>
          <a:blip r:embed="rId4"/>
          <a:stretch>
            <a:fillRect/>
          </a:stretch>
        </p:blipFill>
        <p:spPr>
          <a:xfrm>
            <a:off x="5916168" y="1051560"/>
            <a:ext cx="731520" cy="731520"/>
          </a:xfrm>
          <a:prstGeom prst="rect">
            <a:avLst/>
          </a:prstGeom>
        </p:spPr>
      </p:pic>
      <p:sp>
        <p:nvSpPr>
          <p:cNvPr id="49" name="Text 43"/>
          <p:cNvSpPr/>
          <p:nvPr/>
        </p:nvSpPr>
        <p:spPr>
          <a:xfrm>
            <a:off x="5532120" y="1993392"/>
            <a:ext cx="1508760" cy="384048"/>
          </a:xfrm>
          <a:prstGeom prst="rect">
            <a:avLst/>
          </a:prstGeom>
          <a:noFill/>
        </p:spPr>
        <p:txBody>
          <a:bodyPr wrap="square" rtlCol="0" anchor="ctr"/>
          <a:lstStyle/>
          <a:p>
            <a:pPr marL="0" indent="0" algn="ctr">
              <a:buNone/>
            </a:pPr>
            <a:r>
              <a:rPr lang="en-US" sz="1300" b="1" dirty="0">
                <a:solidFill>
                  <a:srgbClr val="E94560"/>
                </a:solidFill>
                <a:latin typeface="Trebuchet MS" panose="020B0603020202020204" pitchFamily="34" charset="0"/>
                <a:ea typeface="Trebuchet MS" panose="020B0603020202020204" pitchFamily="34" charset="-122"/>
                <a:cs typeface="Trebuchet MS" panose="020B0603020202020204" pitchFamily="34" charset="-120"/>
              </a:rPr>
              <a:t>Dev Tools</a:t>
            </a:r>
            <a:endParaRPr lang="en-US" sz="1300" dirty="0"/>
          </a:p>
        </p:txBody>
      </p:sp>
      <p:sp>
        <p:nvSpPr>
          <p:cNvPr id="50" name="Shape 44"/>
          <p:cNvSpPr/>
          <p:nvPr/>
        </p:nvSpPr>
        <p:spPr>
          <a:xfrm>
            <a:off x="5586984" y="2487168"/>
            <a:ext cx="1389888" cy="347472"/>
          </a:xfrm>
          <a:prstGeom prst="rect">
            <a:avLst/>
          </a:prstGeom>
          <a:solidFill>
            <a:srgbClr val="0F3460"/>
          </a:solidFill>
          <a:ln w="12700">
            <a:solidFill>
              <a:srgbClr val="0F3460"/>
            </a:solidFill>
            <a:prstDash val="solid"/>
          </a:ln>
        </p:spPr>
      </p:sp>
      <p:sp>
        <p:nvSpPr>
          <p:cNvPr id="51" name="Text 45"/>
          <p:cNvSpPr/>
          <p:nvPr/>
        </p:nvSpPr>
        <p:spPr>
          <a:xfrm>
            <a:off x="5586984" y="2487168"/>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VS Code</a:t>
            </a:r>
            <a:endParaRPr lang="en-US" sz="1000" dirty="0"/>
          </a:p>
        </p:txBody>
      </p:sp>
      <p:sp>
        <p:nvSpPr>
          <p:cNvPr id="52" name="Shape 46"/>
          <p:cNvSpPr/>
          <p:nvPr/>
        </p:nvSpPr>
        <p:spPr>
          <a:xfrm>
            <a:off x="5586984" y="2907792"/>
            <a:ext cx="1389888" cy="347472"/>
          </a:xfrm>
          <a:prstGeom prst="rect">
            <a:avLst/>
          </a:prstGeom>
          <a:solidFill>
            <a:srgbClr val="0F3460"/>
          </a:solidFill>
          <a:ln w="12700">
            <a:solidFill>
              <a:srgbClr val="0F3460"/>
            </a:solidFill>
            <a:prstDash val="solid"/>
          </a:ln>
        </p:spPr>
      </p:sp>
      <p:sp>
        <p:nvSpPr>
          <p:cNvPr id="53" name="Text 47"/>
          <p:cNvSpPr/>
          <p:nvPr/>
        </p:nvSpPr>
        <p:spPr>
          <a:xfrm>
            <a:off x="5586984" y="2907792"/>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Postman (API Testing)</a:t>
            </a:r>
            <a:endParaRPr lang="en-US" sz="1000" dirty="0"/>
          </a:p>
        </p:txBody>
      </p:sp>
      <p:sp>
        <p:nvSpPr>
          <p:cNvPr id="54" name="Shape 48"/>
          <p:cNvSpPr/>
          <p:nvPr/>
        </p:nvSpPr>
        <p:spPr>
          <a:xfrm>
            <a:off x="5586984" y="3328416"/>
            <a:ext cx="1389888" cy="347472"/>
          </a:xfrm>
          <a:prstGeom prst="rect">
            <a:avLst/>
          </a:prstGeom>
          <a:solidFill>
            <a:srgbClr val="0F3460"/>
          </a:solidFill>
          <a:ln w="12700">
            <a:solidFill>
              <a:srgbClr val="0F3460"/>
            </a:solidFill>
            <a:prstDash val="solid"/>
          </a:ln>
        </p:spPr>
      </p:sp>
      <p:sp>
        <p:nvSpPr>
          <p:cNvPr id="55" name="Text 49"/>
          <p:cNvSpPr/>
          <p:nvPr/>
        </p:nvSpPr>
        <p:spPr>
          <a:xfrm>
            <a:off x="5586984" y="3328416"/>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GitHub (Version Control)</a:t>
            </a:r>
            <a:endParaRPr lang="en-US" sz="1000" dirty="0"/>
          </a:p>
        </p:txBody>
      </p:sp>
      <p:sp>
        <p:nvSpPr>
          <p:cNvPr id="56" name="Shape 50"/>
          <p:cNvSpPr/>
          <p:nvPr/>
        </p:nvSpPr>
        <p:spPr>
          <a:xfrm>
            <a:off x="5586984" y="3749040"/>
            <a:ext cx="1389888" cy="347472"/>
          </a:xfrm>
          <a:prstGeom prst="rect">
            <a:avLst/>
          </a:prstGeom>
          <a:solidFill>
            <a:srgbClr val="0F3460"/>
          </a:solidFill>
          <a:ln w="12700">
            <a:solidFill>
              <a:srgbClr val="0F3460"/>
            </a:solidFill>
            <a:prstDash val="solid"/>
          </a:ln>
        </p:spPr>
      </p:sp>
      <p:sp>
        <p:nvSpPr>
          <p:cNvPr id="57" name="Text 51"/>
          <p:cNvSpPr/>
          <p:nvPr/>
        </p:nvSpPr>
        <p:spPr>
          <a:xfrm>
            <a:off x="5586984" y="3749040"/>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pgAdmin</a:t>
            </a:r>
            <a:endParaRPr lang="en-US" sz="1000" dirty="0"/>
          </a:p>
        </p:txBody>
      </p:sp>
      <p:sp>
        <p:nvSpPr>
          <p:cNvPr id="58" name="Shape 52"/>
          <p:cNvSpPr/>
          <p:nvPr/>
        </p:nvSpPr>
        <p:spPr>
          <a:xfrm>
            <a:off x="5586984" y="4169664"/>
            <a:ext cx="1389888" cy="347472"/>
          </a:xfrm>
          <a:prstGeom prst="rect">
            <a:avLst/>
          </a:prstGeom>
          <a:solidFill>
            <a:srgbClr val="0F3460"/>
          </a:solidFill>
          <a:ln w="12700">
            <a:solidFill>
              <a:srgbClr val="0F3460"/>
            </a:solidFill>
            <a:prstDash val="solid"/>
          </a:ln>
        </p:spPr>
      </p:sp>
      <p:sp>
        <p:nvSpPr>
          <p:cNvPr id="59" name="Text 53"/>
          <p:cNvSpPr/>
          <p:nvPr/>
        </p:nvSpPr>
        <p:spPr>
          <a:xfrm>
            <a:off x="5586984" y="4169664"/>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npm / Node</a:t>
            </a:r>
            <a:endParaRPr lang="en-US" sz="1000" dirty="0"/>
          </a:p>
        </p:txBody>
      </p:sp>
      <p:sp>
        <p:nvSpPr>
          <p:cNvPr id="60" name="Shape 54"/>
          <p:cNvSpPr/>
          <p:nvPr/>
        </p:nvSpPr>
        <p:spPr>
          <a:xfrm>
            <a:off x="7251192" y="868680"/>
            <a:ext cx="1572768" cy="3840480"/>
          </a:xfrm>
          <a:prstGeom prst="rect">
            <a:avLst/>
          </a:prstGeom>
          <a:solidFill>
            <a:srgbClr val="0D2137"/>
          </a:solidFill>
          <a:ln w="19050">
            <a:solidFill>
              <a:srgbClr val="00C9B1"/>
            </a:solidFill>
            <a:prstDash val="solid"/>
          </a:ln>
        </p:spPr>
      </p:sp>
      <p:sp>
        <p:nvSpPr>
          <p:cNvPr id="61" name="Shape 55"/>
          <p:cNvSpPr/>
          <p:nvPr/>
        </p:nvSpPr>
        <p:spPr>
          <a:xfrm>
            <a:off x="7580376" y="960120"/>
            <a:ext cx="914400" cy="914400"/>
          </a:xfrm>
          <a:prstGeom prst="ellipse">
            <a:avLst/>
          </a:prstGeom>
          <a:solidFill>
            <a:srgbClr val="00C9B1">
              <a:alpha val="78000"/>
            </a:srgbClr>
          </a:solidFill>
          <a:ln w="12700">
            <a:solidFill>
              <a:srgbClr val="00C9B1"/>
            </a:solidFill>
            <a:prstDash val="solid"/>
          </a:ln>
        </p:spPr>
      </p:sp>
      <p:pic>
        <p:nvPicPr>
          <p:cNvPr id="62" name="Image 4" descr="preencoded.png"/>
          <p:cNvPicPr>
            <a:picLocks noChangeAspect="1"/>
          </p:cNvPicPr>
          <p:nvPr/>
        </p:nvPicPr>
        <p:blipFill>
          <a:blip r:embed="rId5"/>
          <a:stretch>
            <a:fillRect/>
          </a:stretch>
        </p:blipFill>
        <p:spPr>
          <a:xfrm>
            <a:off x="7671816" y="1051560"/>
            <a:ext cx="731520" cy="731520"/>
          </a:xfrm>
          <a:prstGeom prst="rect">
            <a:avLst/>
          </a:prstGeom>
        </p:spPr>
      </p:pic>
      <p:sp>
        <p:nvSpPr>
          <p:cNvPr id="63" name="Text 56"/>
          <p:cNvSpPr/>
          <p:nvPr/>
        </p:nvSpPr>
        <p:spPr>
          <a:xfrm>
            <a:off x="7287768" y="1993392"/>
            <a:ext cx="1508760" cy="384048"/>
          </a:xfrm>
          <a:prstGeom prst="rect">
            <a:avLst/>
          </a:prstGeom>
          <a:noFill/>
        </p:spPr>
        <p:txBody>
          <a:bodyPr wrap="square" rtlCol="0" anchor="ctr"/>
          <a:lstStyle/>
          <a:p>
            <a:pPr marL="0" indent="0" algn="ctr">
              <a:buNone/>
            </a:pPr>
            <a:r>
              <a:rPr lang="en-US" sz="1300" b="1" dirty="0">
                <a:solidFill>
                  <a:srgbClr val="00C9B1"/>
                </a:solidFill>
                <a:latin typeface="Trebuchet MS" panose="020B0603020202020204" pitchFamily="34" charset="0"/>
                <a:ea typeface="Trebuchet MS" panose="020B0603020202020204" pitchFamily="34" charset="-122"/>
                <a:cs typeface="Trebuchet MS" panose="020B0603020202020204" pitchFamily="34" charset="-120"/>
              </a:rPr>
              <a:t>AI Tools Used</a:t>
            </a:r>
            <a:endParaRPr lang="en-US" sz="1300" dirty="0"/>
          </a:p>
        </p:txBody>
      </p:sp>
      <p:sp>
        <p:nvSpPr>
          <p:cNvPr id="64" name="Shape 57"/>
          <p:cNvSpPr/>
          <p:nvPr/>
        </p:nvSpPr>
        <p:spPr>
          <a:xfrm>
            <a:off x="7342632" y="2487168"/>
            <a:ext cx="1389888" cy="347472"/>
          </a:xfrm>
          <a:prstGeom prst="rect">
            <a:avLst/>
          </a:prstGeom>
          <a:solidFill>
            <a:srgbClr val="0F3460"/>
          </a:solidFill>
          <a:ln w="12700">
            <a:solidFill>
              <a:srgbClr val="0F3460"/>
            </a:solidFill>
            <a:prstDash val="solid"/>
          </a:ln>
        </p:spPr>
      </p:sp>
      <p:sp>
        <p:nvSpPr>
          <p:cNvPr id="65" name="Text 58"/>
          <p:cNvSpPr/>
          <p:nvPr/>
        </p:nvSpPr>
        <p:spPr>
          <a:xfrm>
            <a:off x="7342632" y="2487168"/>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ChatGPT (Logic &amp; Prompts)</a:t>
            </a:r>
            <a:endParaRPr lang="en-US" sz="1000" dirty="0"/>
          </a:p>
        </p:txBody>
      </p:sp>
      <p:sp>
        <p:nvSpPr>
          <p:cNvPr id="66" name="Shape 59"/>
          <p:cNvSpPr/>
          <p:nvPr/>
        </p:nvSpPr>
        <p:spPr>
          <a:xfrm>
            <a:off x="7342632" y="2907792"/>
            <a:ext cx="1389888" cy="347472"/>
          </a:xfrm>
          <a:prstGeom prst="rect">
            <a:avLst/>
          </a:prstGeom>
          <a:solidFill>
            <a:srgbClr val="0F3460"/>
          </a:solidFill>
          <a:ln w="12700">
            <a:solidFill>
              <a:srgbClr val="0F3460"/>
            </a:solidFill>
            <a:prstDash val="solid"/>
          </a:ln>
        </p:spPr>
      </p:sp>
      <p:sp>
        <p:nvSpPr>
          <p:cNvPr id="67" name="Text 60"/>
          <p:cNvSpPr/>
          <p:nvPr/>
        </p:nvSpPr>
        <p:spPr>
          <a:xfrm>
            <a:off x="7342632" y="2907792"/>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GitHub Copilot (Code)</a:t>
            </a:r>
            <a:endParaRPr lang="en-US" sz="1000" dirty="0"/>
          </a:p>
        </p:txBody>
      </p:sp>
      <p:sp>
        <p:nvSpPr>
          <p:cNvPr id="68" name="Shape 61"/>
          <p:cNvSpPr/>
          <p:nvPr/>
        </p:nvSpPr>
        <p:spPr>
          <a:xfrm>
            <a:off x="7342632" y="3328416"/>
            <a:ext cx="1389888" cy="347472"/>
          </a:xfrm>
          <a:prstGeom prst="rect">
            <a:avLst/>
          </a:prstGeom>
          <a:solidFill>
            <a:srgbClr val="0F3460"/>
          </a:solidFill>
          <a:ln w="12700">
            <a:solidFill>
              <a:srgbClr val="0F3460"/>
            </a:solidFill>
            <a:prstDash val="solid"/>
          </a:ln>
        </p:spPr>
      </p:sp>
      <p:sp>
        <p:nvSpPr>
          <p:cNvPr id="69" name="Text 62"/>
          <p:cNvSpPr/>
          <p:nvPr/>
        </p:nvSpPr>
        <p:spPr>
          <a:xfrm>
            <a:off x="7342632" y="3328416"/>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Claude (Code Review)</a:t>
            </a:r>
            <a:endParaRPr lang="en-US" sz="1000" dirty="0"/>
          </a:p>
        </p:txBody>
      </p:sp>
      <p:sp>
        <p:nvSpPr>
          <p:cNvPr id="70" name="Shape 63"/>
          <p:cNvSpPr/>
          <p:nvPr/>
        </p:nvSpPr>
        <p:spPr>
          <a:xfrm>
            <a:off x="7342632" y="3749040"/>
            <a:ext cx="1389888" cy="347472"/>
          </a:xfrm>
          <a:prstGeom prst="rect">
            <a:avLst/>
          </a:prstGeom>
          <a:solidFill>
            <a:srgbClr val="0F3460"/>
          </a:solidFill>
          <a:ln w="12700">
            <a:solidFill>
              <a:srgbClr val="0F3460"/>
            </a:solidFill>
            <a:prstDash val="solid"/>
          </a:ln>
        </p:spPr>
      </p:sp>
      <p:sp>
        <p:nvSpPr>
          <p:cNvPr id="71" name="Text 64"/>
          <p:cNvSpPr/>
          <p:nvPr/>
        </p:nvSpPr>
        <p:spPr>
          <a:xfrm>
            <a:off x="7342632" y="3749040"/>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Cursor AI (Refactoring)</a:t>
            </a:r>
            <a:endParaRPr lang="en-US" sz="1000" dirty="0"/>
          </a:p>
        </p:txBody>
      </p:sp>
      <p:sp>
        <p:nvSpPr>
          <p:cNvPr id="72" name="Shape 65"/>
          <p:cNvSpPr/>
          <p:nvPr/>
        </p:nvSpPr>
        <p:spPr>
          <a:xfrm>
            <a:off x="7342632" y="4169664"/>
            <a:ext cx="1389888" cy="347472"/>
          </a:xfrm>
          <a:prstGeom prst="rect">
            <a:avLst/>
          </a:prstGeom>
          <a:solidFill>
            <a:srgbClr val="0F3460"/>
          </a:solidFill>
          <a:ln w="12700">
            <a:solidFill>
              <a:srgbClr val="0F3460"/>
            </a:solidFill>
            <a:prstDash val="solid"/>
          </a:ln>
        </p:spPr>
      </p:sp>
      <p:sp>
        <p:nvSpPr>
          <p:cNvPr id="73" name="Text 66"/>
          <p:cNvSpPr/>
          <p:nvPr/>
        </p:nvSpPr>
        <p:spPr>
          <a:xfrm>
            <a:off x="7342632" y="4169664"/>
            <a:ext cx="1389888" cy="347472"/>
          </a:xfrm>
          <a:prstGeom prst="rect">
            <a:avLst/>
          </a:prstGeom>
          <a:noFill/>
        </p:spPr>
        <p:txBody>
          <a:bodyPr wrap="square" lIns="0" tIns="0" rIns="0" bIns="0" rtlCol="0" anchor="ctr"/>
          <a:lstStyle/>
          <a:p>
            <a:pPr marL="0" indent="0" algn="ctr">
              <a:buNone/>
            </a:pPr>
            <a:r>
              <a:rPr lang="en-US" sz="1000" dirty="0">
                <a:solidFill>
                  <a:srgbClr val="FFFFFF"/>
                </a:solidFill>
              </a:rPr>
              <a:t>v0.dev (UI Scaffolding)</a:t>
            </a:r>
            <a:endParaRPr lang="en-US" sz="1000" dirty="0"/>
          </a:p>
        </p:txBody>
      </p:sp>
      <p:sp>
        <p:nvSpPr>
          <p:cNvPr id="74" name="Shape 67"/>
          <p:cNvSpPr/>
          <p:nvPr/>
        </p:nvSpPr>
        <p:spPr>
          <a:xfrm>
            <a:off x="0" y="4846320"/>
            <a:ext cx="9144000" cy="297180"/>
          </a:xfrm>
          <a:prstGeom prst="rect">
            <a:avLst/>
          </a:prstGeom>
          <a:solidFill>
            <a:srgbClr val="0F3460"/>
          </a:solidFill>
          <a:ln w="12700">
            <a:solidFill>
              <a:srgbClr val="0F3460"/>
            </a:solidFill>
            <a:prstDash val="solid"/>
          </a:ln>
        </p:spPr>
      </p:sp>
      <p:sp>
        <p:nvSpPr>
          <p:cNvPr id="75" name="Text 68"/>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Technology Stack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94560"/>
          </a:solidFill>
          <a:ln w="12700">
            <a:solidFill>
              <a:srgbClr val="E94560"/>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AI Prompts Used to Generate Code</a:t>
            </a:r>
            <a:endParaRPr lang="en-US" sz="2600" dirty="0"/>
          </a:p>
        </p:txBody>
      </p:sp>
      <p:sp>
        <p:nvSpPr>
          <p:cNvPr id="4" name="Text 2"/>
          <p:cNvSpPr/>
          <p:nvPr/>
        </p:nvSpPr>
        <p:spPr>
          <a:xfrm>
            <a:off x="365760" y="822960"/>
            <a:ext cx="8412480" cy="347472"/>
          </a:xfrm>
          <a:prstGeom prst="rect">
            <a:avLst/>
          </a:prstGeom>
          <a:noFill/>
        </p:spPr>
        <p:txBody>
          <a:bodyPr wrap="square" rtlCol="0" anchor="ctr"/>
          <a:lstStyle/>
          <a:p>
            <a:pPr marL="0" indent="0">
              <a:buNone/>
            </a:pPr>
            <a:r>
              <a:rPr lang="en-US" sz="1200" i="1" dirty="0">
                <a:solidFill>
                  <a:srgbClr val="C8D6E5"/>
                </a:solidFill>
              </a:rPr>
              <a:t>Actual prompts submitted to AI tools (ChatGPT / GitHub Copilot / Claude) during development:</a:t>
            </a:r>
            <a:endParaRPr lang="en-US" sz="1200" dirty="0"/>
          </a:p>
        </p:txBody>
      </p:sp>
      <p:sp>
        <p:nvSpPr>
          <p:cNvPr id="5" name="Shape 3"/>
          <p:cNvSpPr/>
          <p:nvPr/>
        </p:nvSpPr>
        <p:spPr>
          <a:xfrm>
            <a:off x="320040" y="1261872"/>
            <a:ext cx="8503920" cy="804672"/>
          </a:xfrm>
          <a:prstGeom prst="rect">
            <a:avLst/>
          </a:prstGeom>
          <a:solidFill>
            <a:srgbClr val="0D2137"/>
          </a:solidFill>
          <a:ln w="12700">
            <a:solidFill>
              <a:srgbClr val="00C9B1"/>
            </a:solidFill>
            <a:prstDash val="solid"/>
          </a:ln>
        </p:spPr>
      </p:sp>
      <p:sp>
        <p:nvSpPr>
          <p:cNvPr id="6" name="Shape 4"/>
          <p:cNvSpPr/>
          <p:nvPr/>
        </p:nvSpPr>
        <p:spPr>
          <a:xfrm>
            <a:off x="320040" y="1261872"/>
            <a:ext cx="64008" cy="804672"/>
          </a:xfrm>
          <a:prstGeom prst="rect">
            <a:avLst/>
          </a:prstGeom>
          <a:solidFill>
            <a:srgbClr val="00C9B1"/>
          </a:solidFill>
          <a:ln w="12700">
            <a:solidFill>
              <a:srgbClr val="00C9B1"/>
            </a:solidFill>
            <a:prstDash val="solid"/>
          </a:ln>
        </p:spPr>
      </p:sp>
      <p:sp>
        <p:nvSpPr>
          <p:cNvPr id="7" name="Shape 5"/>
          <p:cNvSpPr/>
          <p:nvPr/>
        </p:nvSpPr>
        <p:spPr>
          <a:xfrm>
            <a:off x="457200" y="1371600"/>
            <a:ext cx="438912" cy="256032"/>
          </a:xfrm>
          <a:prstGeom prst="rect">
            <a:avLst/>
          </a:prstGeom>
          <a:solidFill>
            <a:srgbClr val="00C9B1"/>
          </a:solidFill>
          <a:ln w="12700">
            <a:solidFill>
              <a:srgbClr val="00C9B1"/>
            </a:solidFill>
            <a:prstDash val="solid"/>
          </a:ln>
        </p:spPr>
      </p:sp>
      <p:sp>
        <p:nvSpPr>
          <p:cNvPr id="8" name="Text 6"/>
          <p:cNvSpPr/>
          <p:nvPr/>
        </p:nvSpPr>
        <p:spPr>
          <a:xfrm>
            <a:off x="457200" y="1371600"/>
            <a:ext cx="438912" cy="256032"/>
          </a:xfrm>
          <a:prstGeom prst="rect">
            <a:avLst/>
          </a:prstGeom>
          <a:noFill/>
        </p:spPr>
        <p:txBody>
          <a:bodyPr wrap="square" lIns="0" tIns="0" rIns="0" bIns="0" rtlCol="0" anchor="ctr"/>
          <a:lstStyle/>
          <a:p>
            <a:pPr marL="0" indent="0" algn="ctr">
              <a:buNone/>
            </a:pPr>
            <a:r>
              <a:rPr lang="en-US" sz="900" b="1" dirty="0">
                <a:solidFill>
                  <a:srgbClr val="FFFFFF"/>
                </a:solidFill>
              </a:rPr>
              <a:t>P1</a:t>
            </a:r>
            <a:endParaRPr lang="en-US" sz="900" dirty="0"/>
          </a:p>
        </p:txBody>
      </p:sp>
      <p:sp>
        <p:nvSpPr>
          <p:cNvPr id="10" name="Text 8"/>
          <p:cNvSpPr/>
          <p:nvPr/>
        </p:nvSpPr>
        <p:spPr>
          <a:xfrm>
            <a:off x="960120" y="1353312"/>
            <a:ext cx="1234440" cy="274320"/>
          </a:xfrm>
          <a:prstGeom prst="rect">
            <a:avLst/>
          </a:prstGeom>
          <a:noFill/>
        </p:spPr>
        <p:txBody>
          <a:bodyPr wrap="square" lIns="0" tIns="0" rIns="0" bIns="0" rtlCol="0" anchor="ctr"/>
          <a:lstStyle/>
          <a:p>
            <a:pPr marL="0" indent="0" algn="ctr">
              <a:buNone/>
            </a:pPr>
            <a:endParaRPr lang="en-US" sz="900" dirty="0"/>
          </a:p>
        </p:txBody>
      </p:sp>
      <p:sp>
        <p:nvSpPr>
          <p:cNvPr id="11" name="Text 9"/>
          <p:cNvSpPr/>
          <p:nvPr/>
        </p:nvSpPr>
        <p:spPr>
          <a:xfrm>
            <a:off x="1231265" y="1353185"/>
            <a:ext cx="3249295" cy="274320"/>
          </a:xfrm>
          <a:prstGeom prst="rect">
            <a:avLst/>
          </a:prstGeom>
          <a:noFill/>
        </p:spPr>
        <p:txBody>
          <a:bodyPr wrap="square" rtlCol="0" anchor="ctr"/>
          <a:lstStyle/>
          <a:p>
            <a:pPr marL="0" indent="0">
              <a:buNone/>
            </a:pPr>
            <a:r>
              <a:rPr lang="en-US" sz="1200" b="1" dirty="0">
                <a:solidFill>
                  <a:srgbClr val="00C9B1"/>
                </a:solidFill>
                <a:latin typeface="Trebuchet MS" panose="020B0603020202020204" pitchFamily="34" charset="0"/>
                <a:ea typeface="Trebuchet MS" panose="020B0603020202020204" pitchFamily="34" charset="-122"/>
                <a:cs typeface="Trebuchet MS" panose="020B0603020202020204" pitchFamily="34" charset="-120"/>
              </a:rPr>
              <a:t>Authentication</a:t>
            </a:r>
            <a:endParaRPr lang="en-US" sz="1200" dirty="0"/>
          </a:p>
        </p:txBody>
      </p:sp>
      <p:sp>
        <p:nvSpPr>
          <p:cNvPr id="12" name="Text 10"/>
          <p:cNvSpPr/>
          <p:nvPr/>
        </p:nvSpPr>
        <p:spPr>
          <a:xfrm>
            <a:off x="502920" y="1682496"/>
            <a:ext cx="8229600" cy="347472"/>
          </a:xfrm>
          <a:prstGeom prst="rect">
            <a:avLst/>
          </a:prstGeom>
          <a:noFill/>
        </p:spPr>
        <p:txBody>
          <a:bodyPr wrap="square" rtlCol="0" anchor="ctr"/>
          <a:lstStyle/>
          <a:p>
            <a:pPr marL="0" indent="0">
              <a:buNone/>
            </a:pPr>
            <a:r>
              <a:rPr lang="en-US" sz="1000" i="1" dirty="0">
                <a:solidFill>
                  <a:srgbClr val="C8D6E5"/>
                </a:solidFill>
              </a:rPr>
              <a:t>"Create a Node.js Express authentication system with JWT tokens and bcrypt password hashing. Include register and login endpoints with role-based user model (student/staff) using Sequelize ORM and PostgreSQL."</a:t>
            </a:r>
            <a:endParaRPr lang="en-US" sz="1000" dirty="0"/>
          </a:p>
        </p:txBody>
      </p:sp>
      <p:sp>
        <p:nvSpPr>
          <p:cNvPr id="13" name="Shape 11"/>
          <p:cNvSpPr/>
          <p:nvPr/>
        </p:nvSpPr>
        <p:spPr>
          <a:xfrm>
            <a:off x="320040" y="2157984"/>
            <a:ext cx="8503920" cy="804672"/>
          </a:xfrm>
          <a:prstGeom prst="rect">
            <a:avLst/>
          </a:prstGeom>
          <a:solidFill>
            <a:srgbClr val="0D2137"/>
          </a:solidFill>
          <a:ln w="12700">
            <a:solidFill>
              <a:srgbClr val="F5A623"/>
            </a:solidFill>
            <a:prstDash val="solid"/>
          </a:ln>
        </p:spPr>
      </p:sp>
      <p:sp>
        <p:nvSpPr>
          <p:cNvPr id="14" name="Shape 12"/>
          <p:cNvSpPr/>
          <p:nvPr/>
        </p:nvSpPr>
        <p:spPr>
          <a:xfrm>
            <a:off x="320040" y="2157984"/>
            <a:ext cx="64008" cy="804672"/>
          </a:xfrm>
          <a:prstGeom prst="rect">
            <a:avLst/>
          </a:prstGeom>
          <a:solidFill>
            <a:srgbClr val="F5A623"/>
          </a:solidFill>
          <a:ln w="12700">
            <a:solidFill>
              <a:srgbClr val="F5A623"/>
            </a:solidFill>
            <a:prstDash val="solid"/>
          </a:ln>
        </p:spPr>
      </p:sp>
      <p:sp>
        <p:nvSpPr>
          <p:cNvPr id="15" name="Shape 13"/>
          <p:cNvSpPr/>
          <p:nvPr/>
        </p:nvSpPr>
        <p:spPr>
          <a:xfrm>
            <a:off x="457200" y="2267712"/>
            <a:ext cx="438912" cy="256032"/>
          </a:xfrm>
          <a:prstGeom prst="rect">
            <a:avLst/>
          </a:prstGeom>
          <a:solidFill>
            <a:srgbClr val="F5A623"/>
          </a:solidFill>
          <a:ln w="12700">
            <a:solidFill>
              <a:srgbClr val="F5A623"/>
            </a:solidFill>
            <a:prstDash val="solid"/>
          </a:ln>
        </p:spPr>
      </p:sp>
      <p:sp>
        <p:nvSpPr>
          <p:cNvPr id="16" name="Text 14"/>
          <p:cNvSpPr/>
          <p:nvPr/>
        </p:nvSpPr>
        <p:spPr>
          <a:xfrm>
            <a:off x="457200" y="2267712"/>
            <a:ext cx="438912" cy="256032"/>
          </a:xfrm>
          <a:prstGeom prst="rect">
            <a:avLst/>
          </a:prstGeom>
          <a:noFill/>
        </p:spPr>
        <p:txBody>
          <a:bodyPr wrap="square" lIns="0" tIns="0" rIns="0" bIns="0" rtlCol="0" anchor="ctr"/>
          <a:lstStyle/>
          <a:p>
            <a:pPr marL="0" indent="0" algn="ctr">
              <a:buNone/>
            </a:pPr>
            <a:r>
              <a:rPr lang="en-US" sz="900" b="1" dirty="0">
                <a:solidFill>
                  <a:srgbClr val="FFFFFF"/>
                </a:solidFill>
              </a:rPr>
              <a:t>P2</a:t>
            </a:r>
            <a:endParaRPr lang="en-US" sz="900" dirty="0"/>
          </a:p>
        </p:txBody>
      </p:sp>
      <p:sp>
        <p:nvSpPr>
          <p:cNvPr id="18" name="Text 16"/>
          <p:cNvSpPr/>
          <p:nvPr/>
        </p:nvSpPr>
        <p:spPr>
          <a:xfrm>
            <a:off x="960120" y="2249424"/>
            <a:ext cx="1234440" cy="274320"/>
          </a:xfrm>
          <a:prstGeom prst="rect">
            <a:avLst/>
          </a:prstGeom>
          <a:noFill/>
        </p:spPr>
        <p:txBody>
          <a:bodyPr wrap="square" lIns="0" tIns="0" rIns="0" bIns="0" rtlCol="0" anchor="ctr"/>
          <a:lstStyle/>
          <a:p>
            <a:pPr marL="0" indent="0" algn="ctr">
              <a:buNone/>
            </a:pPr>
            <a:endParaRPr lang="en-US" sz="900" dirty="0"/>
          </a:p>
        </p:txBody>
      </p:sp>
      <p:sp>
        <p:nvSpPr>
          <p:cNvPr id="19" name="Text 17"/>
          <p:cNvSpPr/>
          <p:nvPr/>
        </p:nvSpPr>
        <p:spPr>
          <a:xfrm>
            <a:off x="1230630" y="2249170"/>
            <a:ext cx="3249930" cy="274320"/>
          </a:xfrm>
          <a:prstGeom prst="rect">
            <a:avLst/>
          </a:prstGeom>
          <a:noFill/>
        </p:spPr>
        <p:txBody>
          <a:bodyPr wrap="square" rtlCol="0" anchor="ctr"/>
          <a:lstStyle/>
          <a:p>
            <a:pPr marL="0" indent="0">
              <a:buNone/>
            </a:pPr>
            <a:r>
              <a:rPr lang="en-US" sz="1200" b="1" dirty="0">
                <a:solidFill>
                  <a:srgbClr val="F5A623"/>
                </a:solidFill>
                <a:latin typeface="Trebuchet MS" panose="020B0603020202020204" pitchFamily="34" charset="0"/>
                <a:ea typeface="Trebuchet MS" panose="020B0603020202020204" pitchFamily="34" charset="-122"/>
                <a:cs typeface="Trebuchet MS" panose="020B0603020202020204" pitchFamily="34" charset="-120"/>
              </a:rPr>
              <a:t>Attendance Module</a:t>
            </a:r>
            <a:endParaRPr lang="en-US" sz="1200" dirty="0"/>
          </a:p>
        </p:txBody>
      </p:sp>
      <p:sp>
        <p:nvSpPr>
          <p:cNvPr id="20" name="Text 18"/>
          <p:cNvSpPr/>
          <p:nvPr/>
        </p:nvSpPr>
        <p:spPr>
          <a:xfrm>
            <a:off x="502920" y="2578608"/>
            <a:ext cx="8229600" cy="347472"/>
          </a:xfrm>
          <a:prstGeom prst="rect">
            <a:avLst/>
          </a:prstGeom>
          <a:noFill/>
        </p:spPr>
        <p:txBody>
          <a:bodyPr wrap="square" rtlCol="0" anchor="ctr"/>
          <a:lstStyle/>
          <a:p>
            <a:pPr marL="0" indent="0">
              <a:buNone/>
            </a:pPr>
            <a:r>
              <a:rPr lang="en-US" sz="1000" i="1" dirty="0">
                <a:solidFill>
                  <a:srgbClr val="C8D6E5"/>
                </a:solidFill>
              </a:rPr>
              <a:t>"Build a full-stack attendance tracking module. Staff should be able to mark daily attendance per subject. Students should see their attendance percentage and history. Use React frontend with Axios and Express backend with PostgreSQL."</a:t>
            </a:r>
            <a:endParaRPr lang="en-US" sz="1000" dirty="0"/>
          </a:p>
        </p:txBody>
      </p:sp>
      <p:sp>
        <p:nvSpPr>
          <p:cNvPr id="21" name="Shape 19"/>
          <p:cNvSpPr/>
          <p:nvPr/>
        </p:nvSpPr>
        <p:spPr>
          <a:xfrm>
            <a:off x="320040" y="3054096"/>
            <a:ext cx="8503920" cy="804672"/>
          </a:xfrm>
          <a:prstGeom prst="rect">
            <a:avLst/>
          </a:prstGeom>
          <a:solidFill>
            <a:srgbClr val="0D2137"/>
          </a:solidFill>
          <a:ln w="12700">
            <a:solidFill>
              <a:srgbClr val="E94560"/>
            </a:solidFill>
            <a:prstDash val="solid"/>
          </a:ln>
        </p:spPr>
      </p:sp>
      <p:sp>
        <p:nvSpPr>
          <p:cNvPr id="22" name="Shape 20"/>
          <p:cNvSpPr/>
          <p:nvPr/>
        </p:nvSpPr>
        <p:spPr>
          <a:xfrm>
            <a:off x="320040" y="3054096"/>
            <a:ext cx="64008" cy="804672"/>
          </a:xfrm>
          <a:prstGeom prst="rect">
            <a:avLst/>
          </a:prstGeom>
          <a:solidFill>
            <a:srgbClr val="E94560"/>
          </a:solidFill>
          <a:ln w="12700">
            <a:solidFill>
              <a:srgbClr val="E94560"/>
            </a:solidFill>
            <a:prstDash val="solid"/>
          </a:ln>
        </p:spPr>
      </p:sp>
      <p:sp>
        <p:nvSpPr>
          <p:cNvPr id="23" name="Shape 21"/>
          <p:cNvSpPr/>
          <p:nvPr/>
        </p:nvSpPr>
        <p:spPr>
          <a:xfrm>
            <a:off x="457200" y="3163824"/>
            <a:ext cx="438912" cy="256032"/>
          </a:xfrm>
          <a:prstGeom prst="rect">
            <a:avLst/>
          </a:prstGeom>
          <a:solidFill>
            <a:srgbClr val="E94560"/>
          </a:solidFill>
          <a:ln w="12700">
            <a:solidFill>
              <a:srgbClr val="E94560"/>
            </a:solidFill>
            <a:prstDash val="solid"/>
          </a:ln>
        </p:spPr>
      </p:sp>
      <p:sp>
        <p:nvSpPr>
          <p:cNvPr id="24" name="Text 22"/>
          <p:cNvSpPr/>
          <p:nvPr/>
        </p:nvSpPr>
        <p:spPr>
          <a:xfrm>
            <a:off x="457200" y="3163824"/>
            <a:ext cx="438912" cy="256032"/>
          </a:xfrm>
          <a:prstGeom prst="rect">
            <a:avLst/>
          </a:prstGeom>
          <a:noFill/>
        </p:spPr>
        <p:txBody>
          <a:bodyPr wrap="square" lIns="0" tIns="0" rIns="0" bIns="0" rtlCol="0" anchor="ctr"/>
          <a:lstStyle/>
          <a:p>
            <a:pPr marL="0" indent="0" algn="ctr">
              <a:buNone/>
            </a:pPr>
            <a:r>
              <a:rPr lang="en-US" sz="900" b="1" dirty="0">
                <a:solidFill>
                  <a:srgbClr val="FFFFFF"/>
                </a:solidFill>
              </a:rPr>
              <a:t>P3</a:t>
            </a:r>
            <a:endParaRPr lang="en-US" sz="900" dirty="0"/>
          </a:p>
        </p:txBody>
      </p:sp>
      <p:sp>
        <p:nvSpPr>
          <p:cNvPr id="27" name="Text 25"/>
          <p:cNvSpPr/>
          <p:nvPr/>
        </p:nvSpPr>
        <p:spPr>
          <a:xfrm>
            <a:off x="1233170" y="3145790"/>
            <a:ext cx="3247390" cy="274320"/>
          </a:xfrm>
          <a:prstGeom prst="rect">
            <a:avLst/>
          </a:prstGeom>
          <a:noFill/>
        </p:spPr>
        <p:txBody>
          <a:bodyPr wrap="square" rtlCol="0" anchor="ctr"/>
          <a:lstStyle/>
          <a:p>
            <a:pPr marL="0" indent="0">
              <a:buNone/>
            </a:pPr>
            <a:r>
              <a:rPr lang="en-US" sz="1200" b="1" dirty="0">
                <a:solidFill>
                  <a:srgbClr val="E94560"/>
                </a:solidFill>
                <a:latin typeface="Trebuchet MS" panose="020B0603020202020204" pitchFamily="34" charset="0"/>
                <a:ea typeface="Trebuchet MS" panose="020B0603020202020204" pitchFamily="34" charset="-122"/>
                <a:cs typeface="Trebuchet MS" panose="020B0603020202020204" pitchFamily="34" charset="-120"/>
              </a:rPr>
              <a:t>Grades Portal</a:t>
            </a:r>
            <a:endParaRPr lang="en-US" sz="1200" dirty="0"/>
          </a:p>
        </p:txBody>
      </p:sp>
      <p:sp>
        <p:nvSpPr>
          <p:cNvPr id="28" name="Text 26"/>
          <p:cNvSpPr/>
          <p:nvPr/>
        </p:nvSpPr>
        <p:spPr>
          <a:xfrm>
            <a:off x="502920" y="3474720"/>
            <a:ext cx="8229600" cy="347472"/>
          </a:xfrm>
          <a:prstGeom prst="rect">
            <a:avLst/>
          </a:prstGeom>
          <a:noFill/>
        </p:spPr>
        <p:txBody>
          <a:bodyPr wrap="square" rtlCol="0" anchor="ctr"/>
          <a:lstStyle/>
          <a:p>
            <a:pPr marL="0" indent="0">
              <a:buNone/>
            </a:pPr>
            <a:r>
              <a:rPr lang="en-US" sz="1000" i="1" dirty="0">
                <a:solidFill>
                  <a:srgbClr val="C8D6E5"/>
                </a:solidFill>
              </a:rPr>
              <a:t>"Generate a grades management system where staff enter internal and external marks and grades are calculated automatically (A/B/C/D/F). Students can filter their grades by subject. Use Sequelize for DB operations."</a:t>
            </a:r>
            <a:endParaRPr lang="en-US" sz="1000" dirty="0"/>
          </a:p>
        </p:txBody>
      </p:sp>
      <p:sp>
        <p:nvSpPr>
          <p:cNvPr id="29" name="Shape 27"/>
          <p:cNvSpPr/>
          <p:nvPr/>
        </p:nvSpPr>
        <p:spPr>
          <a:xfrm>
            <a:off x="320040" y="3950208"/>
            <a:ext cx="8503920" cy="804672"/>
          </a:xfrm>
          <a:prstGeom prst="rect">
            <a:avLst/>
          </a:prstGeom>
          <a:solidFill>
            <a:srgbClr val="0D2137"/>
          </a:solidFill>
          <a:ln w="12700">
            <a:solidFill>
              <a:srgbClr val="7B2D8B"/>
            </a:solidFill>
            <a:prstDash val="solid"/>
          </a:ln>
        </p:spPr>
      </p:sp>
      <p:sp>
        <p:nvSpPr>
          <p:cNvPr id="30" name="Shape 28"/>
          <p:cNvSpPr/>
          <p:nvPr/>
        </p:nvSpPr>
        <p:spPr>
          <a:xfrm>
            <a:off x="320040" y="3950208"/>
            <a:ext cx="64008" cy="804672"/>
          </a:xfrm>
          <a:prstGeom prst="rect">
            <a:avLst/>
          </a:prstGeom>
          <a:solidFill>
            <a:srgbClr val="7B2D8B"/>
          </a:solidFill>
          <a:ln w="12700">
            <a:solidFill>
              <a:srgbClr val="7B2D8B"/>
            </a:solidFill>
            <a:prstDash val="solid"/>
          </a:ln>
        </p:spPr>
      </p:sp>
      <p:sp>
        <p:nvSpPr>
          <p:cNvPr id="31" name="Shape 29"/>
          <p:cNvSpPr/>
          <p:nvPr/>
        </p:nvSpPr>
        <p:spPr>
          <a:xfrm>
            <a:off x="457200" y="4059936"/>
            <a:ext cx="438912" cy="256032"/>
          </a:xfrm>
          <a:prstGeom prst="rect">
            <a:avLst/>
          </a:prstGeom>
          <a:solidFill>
            <a:srgbClr val="7B2D8B"/>
          </a:solidFill>
          <a:ln w="12700">
            <a:solidFill>
              <a:srgbClr val="7B2D8B"/>
            </a:solidFill>
            <a:prstDash val="solid"/>
          </a:ln>
        </p:spPr>
      </p:sp>
      <p:sp>
        <p:nvSpPr>
          <p:cNvPr id="32" name="Text 30"/>
          <p:cNvSpPr/>
          <p:nvPr/>
        </p:nvSpPr>
        <p:spPr>
          <a:xfrm>
            <a:off x="457200" y="4059936"/>
            <a:ext cx="438912" cy="256032"/>
          </a:xfrm>
          <a:prstGeom prst="rect">
            <a:avLst/>
          </a:prstGeom>
          <a:noFill/>
        </p:spPr>
        <p:txBody>
          <a:bodyPr wrap="square" lIns="0" tIns="0" rIns="0" bIns="0" rtlCol="0" anchor="ctr"/>
          <a:lstStyle/>
          <a:p>
            <a:pPr marL="0" indent="0" algn="ctr">
              <a:buNone/>
            </a:pPr>
            <a:r>
              <a:rPr lang="en-US" sz="900" b="1" dirty="0">
                <a:solidFill>
                  <a:srgbClr val="FFFFFF"/>
                </a:solidFill>
              </a:rPr>
              <a:t>P4</a:t>
            </a:r>
            <a:endParaRPr lang="en-US" sz="900" dirty="0"/>
          </a:p>
        </p:txBody>
      </p:sp>
      <p:sp>
        <p:nvSpPr>
          <p:cNvPr id="34" name="Text 32"/>
          <p:cNvSpPr/>
          <p:nvPr/>
        </p:nvSpPr>
        <p:spPr>
          <a:xfrm>
            <a:off x="960120" y="4041648"/>
            <a:ext cx="1234440" cy="274320"/>
          </a:xfrm>
          <a:prstGeom prst="rect">
            <a:avLst/>
          </a:prstGeom>
          <a:noFill/>
        </p:spPr>
        <p:txBody>
          <a:bodyPr wrap="square" lIns="0" tIns="0" rIns="0" bIns="0" rtlCol="0" anchor="ctr"/>
          <a:lstStyle/>
          <a:p>
            <a:pPr marL="0" indent="0" algn="ctr">
              <a:buNone/>
            </a:pPr>
            <a:endParaRPr lang="en-US" sz="900" dirty="0"/>
          </a:p>
        </p:txBody>
      </p:sp>
      <p:sp>
        <p:nvSpPr>
          <p:cNvPr id="35" name="Text 33"/>
          <p:cNvSpPr/>
          <p:nvPr/>
        </p:nvSpPr>
        <p:spPr>
          <a:xfrm>
            <a:off x="1212850" y="4041775"/>
            <a:ext cx="3267710" cy="274320"/>
          </a:xfrm>
          <a:prstGeom prst="rect">
            <a:avLst/>
          </a:prstGeom>
          <a:noFill/>
        </p:spPr>
        <p:txBody>
          <a:bodyPr wrap="square" rtlCol="0" anchor="ctr"/>
          <a:lstStyle/>
          <a:p>
            <a:pPr marL="0" indent="0">
              <a:buNone/>
            </a:pPr>
            <a:r>
              <a:rPr lang="en-US" sz="1200" b="1" dirty="0">
                <a:solidFill>
                  <a:srgbClr val="7B2D8B"/>
                </a:solidFill>
                <a:latin typeface="Trebuchet MS" panose="020B0603020202020204" pitchFamily="34" charset="0"/>
                <a:ea typeface="Trebuchet MS" panose="020B0603020202020204" pitchFamily="34" charset="-122"/>
                <a:cs typeface="Trebuchet MS" panose="020B0603020202020204" pitchFamily="34" charset="-120"/>
              </a:rPr>
              <a:t>Team Finder Feature</a:t>
            </a:r>
            <a:endParaRPr lang="en-US" sz="1200" dirty="0"/>
          </a:p>
        </p:txBody>
      </p:sp>
      <p:sp>
        <p:nvSpPr>
          <p:cNvPr id="36" name="Text 34"/>
          <p:cNvSpPr/>
          <p:nvPr/>
        </p:nvSpPr>
        <p:spPr>
          <a:xfrm>
            <a:off x="502920" y="4370832"/>
            <a:ext cx="8229600" cy="347472"/>
          </a:xfrm>
          <a:prstGeom prst="rect">
            <a:avLst/>
          </a:prstGeom>
          <a:noFill/>
        </p:spPr>
        <p:txBody>
          <a:bodyPr wrap="square" rtlCol="0" anchor="ctr"/>
          <a:lstStyle/>
          <a:p>
            <a:pPr marL="0" indent="0">
              <a:buNone/>
            </a:pPr>
            <a:r>
              <a:rPr lang="en-US" sz="1000" i="1" dirty="0">
                <a:solidFill>
                  <a:srgbClr val="C8D6E5"/>
                </a:solidFill>
              </a:rPr>
              <a:t>"Implement a Team Finder page in React where students can post their skills and project ideas, and browse other students' profiles to form teams. Include a backend API with Express to save and retrieve team listings."</a:t>
            </a:r>
            <a:endParaRPr lang="en-US" sz="1000" dirty="0"/>
          </a:p>
        </p:txBody>
      </p:sp>
      <p:sp>
        <p:nvSpPr>
          <p:cNvPr id="37" name="Shape 35"/>
          <p:cNvSpPr/>
          <p:nvPr/>
        </p:nvSpPr>
        <p:spPr>
          <a:xfrm>
            <a:off x="0" y="4846320"/>
            <a:ext cx="9144000" cy="297180"/>
          </a:xfrm>
          <a:prstGeom prst="rect">
            <a:avLst/>
          </a:prstGeom>
          <a:solidFill>
            <a:srgbClr val="0F3460"/>
          </a:solidFill>
          <a:ln w="12700">
            <a:solidFill>
              <a:srgbClr val="0F3460"/>
            </a:solidFill>
            <a:prstDash val="solid"/>
          </a:ln>
        </p:spPr>
      </p:sp>
      <p:sp>
        <p:nvSpPr>
          <p:cNvPr id="38" name="Text 36"/>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AI Prompts Used  </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C9B1"/>
          </a:solidFill>
          <a:ln w="12700">
            <a:solidFill>
              <a:srgbClr val="00C9B1"/>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System Workflow Flowchart</a:t>
            </a:r>
            <a:endParaRPr lang="en-US" sz="2600" dirty="0"/>
          </a:p>
        </p:txBody>
      </p:sp>
      <p:sp>
        <p:nvSpPr>
          <p:cNvPr id="4" name="Shape 2"/>
          <p:cNvSpPr/>
          <p:nvPr/>
        </p:nvSpPr>
        <p:spPr>
          <a:xfrm>
            <a:off x="3931920" y="822960"/>
            <a:ext cx="1280160" cy="384048"/>
          </a:xfrm>
          <a:prstGeom prst="ellipse">
            <a:avLst/>
          </a:prstGeom>
          <a:solidFill>
            <a:srgbClr val="00C9B1"/>
          </a:solidFill>
          <a:ln w="12700">
            <a:solidFill>
              <a:srgbClr val="00C9B1"/>
            </a:solidFill>
            <a:prstDash val="solid"/>
          </a:ln>
        </p:spPr>
      </p:sp>
      <p:sp>
        <p:nvSpPr>
          <p:cNvPr id="5" name="Text 3"/>
          <p:cNvSpPr/>
          <p:nvPr/>
        </p:nvSpPr>
        <p:spPr>
          <a:xfrm>
            <a:off x="3931920" y="822960"/>
            <a:ext cx="1280160" cy="384048"/>
          </a:xfrm>
          <a:prstGeom prst="rect">
            <a:avLst/>
          </a:prstGeom>
          <a:noFill/>
        </p:spPr>
        <p:txBody>
          <a:bodyPr wrap="square" lIns="0" tIns="0" rIns="0" bIns="0" rtlCol="0" anchor="ctr"/>
          <a:lstStyle/>
          <a:p>
            <a:pPr marL="0" indent="0" algn="ctr">
              <a:buNone/>
            </a:pPr>
            <a:r>
              <a:rPr lang="en-US" sz="1100" b="1" dirty="0">
                <a:solidFill>
                  <a:srgbClr val="FFFFFF"/>
                </a:solidFill>
              </a:rPr>
              <a:t>START</a:t>
            </a:r>
            <a:endParaRPr lang="en-US" sz="1100" dirty="0"/>
          </a:p>
        </p:txBody>
      </p:sp>
      <p:sp>
        <p:nvSpPr>
          <p:cNvPr id="6" name="Shape 4"/>
          <p:cNvSpPr/>
          <p:nvPr/>
        </p:nvSpPr>
        <p:spPr>
          <a:xfrm>
            <a:off x="4572000" y="1207008"/>
            <a:ext cx="0" cy="274320"/>
          </a:xfrm>
          <a:prstGeom prst="line">
            <a:avLst/>
          </a:prstGeom>
          <a:noFill/>
          <a:ln w="22860">
            <a:solidFill>
              <a:srgbClr val="F5A623"/>
            </a:solidFill>
            <a:prstDash val="solid"/>
          </a:ln>
        </p:spPr>
      </p:sp>
      <p:sp>
        <p:nvSpPr>
          <p:cNvPr id="7" name="Shape 5"/>
          <p:cNvSpPr/>
          <p:nvPr/>
        </p:nvSpPr>
        <p:spPr>
          <a:xfrm>
            <a:off x="3200400" y="1481328"/>
            <a:ext cx="2743200" cy="411480"/>
          </a:xfrm>
          <a:prstGeom prst="rect">
            <a:avLst/>
          </a:prstGeom>
          <a:solidFill>
            <a:srgbClr val="0F3460"/>
          </a:solidFill>
          <a:ln w="19050">
            <a:solidFill>
              <a:srgbClr val="00C9B1"/>
            </a:solidFill>
            <a:prstDash val="solid"/>
          </a:ln>
        </p:spPr>
      </p:sp>
      <p:sp>
        <p:nvSpPr>
          <p:cNvPr id="8" name="Text 6"/>
          <p:cNvSpPr/>
          <p:nvPr/>
        </p:nvSpPr>
        <p:spPr>
          <a:xfrm>
            <a:off x="3200400" y="1481328"/>
            <a:ext cx="274320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 Visits Campus Connect</a:t>
            </a:r>
            <a:endParaRPr lang="en-US" sz="1100" dirty="0"/>
          </a:p>
        </p:txBody>
      </p:sp>
      <p:sp>
        <p:nvSpPr>
          <p:cNvPr id="9" name="Shape 7"/>
          <p:cNvSpPr/>
          <p:nvPr/>
        </p:nvSpPr>
        <p:spPr>
          <a:xfrm>
            <a:off x="4572000" y="1892808"/>
            <a:ext cx="0" cy="256032"/>
          </a:xfrm>
          <a:prstGeom prst="line">
            <a:avLst/>
          </a:prstGeom>
          <a:noFill/>
          <a:ln w="22860">
            <a:solidFill>
              <a:srgbClr val="F5A623"/>
            </a:solidFill>
            <a:prstDash val="solid"/>
          </a:ln>
        </p:spPr>
      </p:sp>
      <p:sp>
        <p:nvSpPr>
          <p:cNvPr id="10" name="Shape 8"/>
          <p:cNvSpPr/>
          <p:nvPr/>
        </p:nvSpPr>
        <p:spPr>
          <a:xfrm>
            <a:off x="3310128" y="2148840"/>
            <a:ext cx="2523744" cy="438912"/>
          </a:xfrm>
          <a:prstGeom prst="rect">
            <a:avLst/>
          </a:prstGeom>
          <a:solidFill>
            <a:srgbClr val="4A1060"/>
          </a:solidFill>
          <a:ln w="19050">
            <a:solidFill>
              <a:srgbClr val="7B2D8B"/>
            </a:solidFill>
            <a:prstDash val="solid"/>
          </a:ln>
        </p:spPr>
      </p:sp>
      <p:sp>
        <p:nvSpPr>
          <p:cNvPr id="11" name="Text 9"/>
          <p:cNvSpPr/>
          <p:nvPr/>
        </p:nvSpPr>
        <p:spPr>
          <a:xfrm>
            <a:off x="3310128" y="2148840"/>
            <a:ext cx="2523744" cy="438912"/>
          </a:xfrm>
          <a:prstGeom prst="rect">
            <a:avLst/>
          </a:prstGeom>
          <a:noFill/>
        </p:spPr>
        <p:txBody>
          <a:bodyPr wrap="square" lIns="0" tIns="0" rIns="0" bIns="0" rtlCol="0" anchor="ctr"/>
          <a:lstStyle/>
          <a:p>
            <a:pPr marL="0" indent="0" algn="ctr">
              <a:buNone/>
            </a:pPr>
            <a:r>
              <a:rPr lang="en-US" sz="1100" b="1" dirty="0">
                <a:solidFill>
                  <a:srgbClr val="FFFFFF"/>
                </a:solidFill>
              </a:rPr>
              <a:t>Registered?</a:t>
            </a:r>
            <a:endParaRPr lang="en-US" sz="1100" dirty="0"/>
          </a:p>
        </p:txBody>
      </p:sp>
      <p:sp>
        <p:nvSpPr>
          <p:cNvPr id="12" name="Shape 10"/>
          <p:cNvSpPr/>
          <p:nvPr/>
        </p:nvSpPr>
        <p:spPr>
          <a:xfrm>
            <a:off x="3291840" y="2372868"/>
            <a:ext cx="18288" cy="0"/>
          </a:xfrm>
          <a:prstGeom prst="line">
            <a:avLst/>
          </a:prstGeom>
          <a:noFill/>
          <a:ln w="22860">
            <a:solidFill>
              <a:srgbClr val="F5A623"/>
            </a:solidFill>
            <a:prstDash val="solid"/>
          </a:ln>
        </p:spPr>
      </p:sp>
      <p:sp>
        <p:nvSpPr>
          <p:cNvPr id="13" name="Text 11"/>
          <p:cNvSpPr/>
          <p:nvPr/>
        </p:nvSpPr>
        <p:spPr>
          <a:xfrm>
            <a:off x="3310128" y="2231136"/>
            <a:ext cx="640080" cy="201168"/>
          </a:xfrm>
          <a:prstGeom prst="rect">
            <a:avLst/>
          </a:prstGeom>
          <a:noFill/>
        </p:spPr>
        <p:txBody>
          <a:bodyPr wrap="square" rtlCol="0" anchor="ctr"/>
          <a:lstStyle/>
          <a:p>
            <a:pPr marL="0" indent="0" algn="ctr">
              <a:buNone/>
            </a:pPr>
            <a:r>
              <a:rPr lang="en-US" sz="850" b="1" dirty="0">
                <a:solidFill>
                  <a:srgbClr val="E94560"/>
                </a:solidFill>
              </a:rPr>
              <a:t>NO</a:t>
            </a:r>
            <a:endParaRPr lang="en-US" sz="850" dirty="0"/>
          </a:p>
        </p:txBody>
      </p:sp>
      <p:sp>
        <p:nvSpPr>
          <p:cNvPr id="14" name="Shape 12"/>
          <p:cNvSpPr/>
          <p:nvPr/>
        </p:nvSpPr>
        <p:spPr>
          <a:xfrm>
            <a:off x="5669280" y="2148840"/>
            <a:ext cx="1828800" cy="438912"/>
          </a:xfrm>
          <a:prstGeom prst="rect">
            <a:avLst/>
          </a:prstGeom>
          <a:solidFill>
            <a:srgbClr val="E94560"/>
          </a:solidFill>
          <a:ln w="19050">
            <a:solidFill>
              <a:srgbClr val="E94560"/>
            </a:solidFill>
            <a:prstDash val="solid"/>
          </a:ln>
        </p:spPr>
      </p:sp>
      <p:sp>
        <p:nvSpPr>
          <p:cNvPr id="15" name="Text 13"/>
          <p:cNvSpPr/>
          <p:nvPr/>
        </p:nvSpPr>
        <p:spPr>
          <a:xfrm>
            <a:off x="5669280" y="2148840"/>
            <a:ext cx="1828800" cy="43891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Register Account</a:t>
            </a:r>
            <a:endParaRPr lang="en-US" sz="1100" dirty="0"/>
          </a:p>
        </p:txBody>
      </p:sp>
      <p:sp>
        <p:nvSpPr>
          <p:cNvPr id="16" name="Shape 14"/>
          <p:cNvSpPr/>
          <p:nvPr/>
        </p:nvSpPr>
        <p:spPr>
          <a:xfrm>
            <a:off x="6583680" y="2587752"/>
            <a:ext cx="0" cy="320040"/>
          </a:xfrm>
          <a:prstGeom prst="line">
            <a:avLst/>
          </a:prstGeom>
          <a:noFill/>
          <a:ln w="22860">
            <a:solidFill>
              <a:srgbClr val="F5A623"/>
            </a:solidFill>
            <a:prstDash val="solid"/>
          </a:ln>
        </p:spPr>
      </p:sp>
      <p:sp>
        <p:nvSpPr>
          <p:cNvPr id="17" name="Shape 15"/>
          <p:cNvSpPr/>
          <p:nvPr/>
        </p:nvSpPr>
        <p:spPr>
          <a:xfrm>
            <a:off x="4572000" y="2907792"/>
            <a:ext cx="1097280" cy="0"/>
          </a:xfrm>
          <a:prstGeom prst="line">
            <a:avLst/>
          </a:prstGeom>
          <a:noFill/>
          <a:ln w="22860">
            <a:solidFill>
              <a:srgbClr val="F5A623"/>
            </a:solidFill>
            <a:prstDash val="solid"/>
          </a:ln>
        </p:spPr>
      </p:sp>
      <p:sp>
        <p:nvSpPr>
          <p:cNvPr id="18" name="Shape 16"/>
          <p:cNvSpPr/>
          <p:nvPr/>
        </p:nvSpPr>
        <p:spPr>
          <a:xfrm>
            <a:off x="4572000" y="2587752"/>
            <a:ext cx="0" cy="320040"/>
          </a:xfrm>
          <a:prstGeom prst="line">
            <a:avLst/>
          </a:prstGeom>
          <a:noFill/>
          <a:ln w="22860">
            <a:solidFill>
              <a:srgbClr val="F5A623"/>
            </a:solidFill>
            <a:prstDash val="solid"/>
          </a:ln>
        </p:spPr>
      </p:sp>
      <p:sp>
        <p:nvSpPr>
          <p:cNvPr id="19" name="Text 17"/>
          <p:cNvSpPr/>
          <p:nvPr/>
        </p:nvSpPr>
        <p:spPr>
          <a:xfrm>
            <a:off x="4572000" y="2587752"/>
            <a:ext cx="640080" cy="201168"/>
          </a:xfrm>
          <a:prstGeom prst="rect">
            <a:avLst/>
          </a:prstGeom>
          <a:noFill/>
        </p:spPr>
        <p:txBody>
          <a:bodyPr wrap="square" rtlCol="0" anchor="ctr"/>
          <a:lstStyle/>
          <a:p>
            <a:pPr marL="0" indent="0" algn="ctr">
              <a:buNone/>
            </a:pPr>
            <a:r>
              <a:rPr lang="en-US" sz="850" b="1" dirty="0">
                <a:solidFill>
                  <a:srgbClr val="00C9B1"/>
                </a:solidFill>
              </a:rPr>
              <a:t>YES</a:t>
            </a:r>
            <a:endParaRPr lang="en-US" sz="850" dirty="0"/>
          </a:p>
        </p:txBody>
      </p:sp>
      <p:sp>
        <p:nvSpPr>
          <p:cNvPr id="20" name="Shape 18"/>
          <p:cNvSpPr/>
          <p:nvPr/>
        </p:nvSpPr>
        <p:spPr>
          <a:xfrm>
            <a:off x="3200400" y="2907792"/>
            <a:ext cx="2743200" cy="411480"/>
          </a:xfrm>
          <a:prstGeom prst="rect">
            <a:avLst/>
          </a:prstGeom>
          <a:solidFill>
            <a:srgbClr val="0D2137"/>
          </a:solidFill>
          <a:ln w="19050">
            <a:solidFill>
              <a:srgbClr val="F5A623"/>
            </a:solidFill>
            <a:prstDash val="solid"/>
          </a:ln>
        </p:spPr>
      </p:sp>
      <p:sp>
        <p:nvSpPr>
          <p:cNvPr id="21" name="Text 19"/>
          <p:cNvSpPr/>
          <p:nvPr/>
        </p:nvSpPr>
        <p:spPr>
          <a:xfrm>
            <a:off x="3200400" y="2907792"/>
            <a:ext cx="2743200" cy="41148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Login → JWT Token Generated</a:t>
            </a:r>
            <a:endParaRPr lang="en-US" sz="1100" dirty="0"/>
          </a:p>
        </p:txBody>
      </p:sp>
      <p:sp>
        <p:nvSpPr>
          <p:cNvPr id="22" name="Shape 20"/>
          <p:cNvSpPr/>
          <p:nvPr/>
        </p:nvSpPr>
        <p:spPr>
          <a:xfrm>
            <a:off x="4572000" y="3319272"/>
            <a:ext cx="0" cy="246888"/>
          </a:xfrm>
          <a:prstGeom prst="line">
            <a:avLst/>
          </a:prstGeom>
          <a:noFill/>
          <a:ln w="22860">
            <a:solidFill>
              <a:srgbClr val="F5A623"/>
            </a:solidFill>
            <a:prstDash val="solid"/>
          </a:ln>
        </p:spPr>
      </p:sp>
      <p:sp>
        <p:nvSpPr>
          <p:cNvPr id="23" name="Shape 21"/>
          <p:cNvSpPr/>
          <p:nvPr/>
        </p:nvSpPr>
        <p:spPr>
          <a:xfrm>
            <a:off x="3310128" y="3566160"/>
            <a:ext cx="2523744" cy="438912"/>
          </a:xfrm>
          <a:prstGeom prst="rect">
            <a:avLst/>
          </a:prstGeom>
          <a:solidFill>
            <a:srgbClr val="1A3A60"/>
          </a:solidFill>
          <a:ln w="19050">
            <a:solidFill>
              <a:srgbClr val="F5A623"/>
            </a:solidFill>
            <a:prstDash val="solid"/>
          </a:ln>
        </p:spPr>
      </p:sp>
      <p:sp>
        <p:nvSpPr>
          <p:cNvPr id="24" name="Text 22"/>
          <p:cNvSpPr/>
          <p:nvPr/>
        </p:nvSpPr>
        <p:spPr>
          <a:xfrm>
            <a:off x="3310128" y="3566160"/>
            <a:ext cx="2523744" cy="438912"/>
          </a:xfrm>
          <a:prstGeom prst="rect">
            <a:avLst/>
          </a:prstGeom>
          <a:noFill/>
        </p:spPr>
        <p:txBody>
          <a:bodyPr wrap="square" lIns="0" tIns="0" rIns="0" bIns="0" rtlCol="0" anchor="ctr"/>
          <a:lstStyle/>
          <a:p>
            <a:pPr marL="0" indent="0" algn="ctr">
              <a:buNone/>
            </a:pPr>
            <a:r>
              <a:rPr lang="en-US" sz="1100" b="1" dirty="0">
                <a:solidFill>
                  <a:srgbClr val="F5A623"/>
                </a:solidFill>
              </a:rPr>
              <a:t>Role?</a:t>
            </a:r>
            <a:endParaRPr lang="en-US" sz="1100" dirty="0"/>
          </a:p>
        </p:txBody>
      </p:sp>
      <p:sp>
        <p:nvSpPr>
          <p:cNvPr id="25" name="Shape 23"/>
          <p:cNvSpPr/>
          <p:nvPr/>
        </p:nvSpPr>
        <p:spPr>
          <a:xfrm>
            <a:off x="2286000" y="3785616"/>
            <a:ext cx="1024128" cy="0"/>
          </a:xfrm>
          <a:prstGeom prst="line">
            <a:avLst/>
          </a:prstGeom>
          <a:noFill/>
          <a:ln w="22860">
            <a:solidFill>
              <a:srgbClr val="F5A623"/>
            </a:solidFill>
            <a:prstDash val="solid"/>
          </a:ln>
        </p:spPr>
      </p:sp>
      <p:sp>
        <p:nvSpPr>
          <p:cNvPr id="26" name="Text 24"/>
          <p:cNvSpPr/>
          <p:nvPr/>
        </p:nvSpPr>
        <p:spPr>
          <a:xfrm>
            <a:off x="2011680" y="3675888"/>
            <a:ext cx="640080" cy="201168"/>
          </a:xfrm>
          <a:prstGeom prst="rect">
            <a:avLst/>
          </a:prstGeom>
          <a:noFill/>
        </p:spPr>
        <p:txBody>
          <a:bodyPr wrap="square" rtlCol="0" anchor="ctr"/>
          <a:lstStyle/>
          <a:p>
            <a:pPr marL="0" indent="0" algn="ctr">
              <a:buNone/>
            </a:pPr>
            <a:r>
              <a:rPr lang="en-US" sz="850" b="1" dirty="0">
                <a:solidFill>
                  <a:srgbClr val="00C9B1"/>
                </a:solidFill>
              </a:rPr>
              <a:t>Student</a:t>
            </a:r>
            <a:endParaRPr lang="en-US" sz="850" dirty="0"/>
          </a:p>
        </p:txBody>
      </p:sp>
      <p:sp>
        <p:nvSpPr>
          <p:cNvPr id="27" name="Shape 25"/>
          <p:cNvSpPr/>
          <p:nvPr/>
        </p:nvSpPr>
        <p:spPr>
          <a:xfrm>
            <a:off x="457200" y="3566160"/>
            <a:ext cx="1691640" cy="438912"/>
          </a:xfrm>
          <a:prstGeom prst="rect">
            <a:avLst/>
          </a:prstGeom>
          <a:solidFill>
            <a:srgbClr val="0D2137"/>
          </a:solidFill>
          <a:ln w="19050">
            <a:solidFill>
              <a:srgbClr val="00C9B1"/>
            </a:solidFill>
            <a:prstDash val="solid"/>
          </a:ln>
        </p:spPr>
      </p:sp>
      <p:sp>
        <p:nvSpPr>
          <p:cNvPr id="28" name="Text 26"/>
          <p:cNvSpPr/>
          <p:nvPr/>
        </p:nvSpPr>
        <p:spPr>
          <a:xfrm>
            <a:off x="457200" y="3566160"/>
            <a:ext cx="1691640" cy="43891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Student Dashboard</a:t>
            </a:r>
            <a:endParaRPr lang="en-US" sz="1100" dirty="0"/>
          </a:p>
        </p:txBody>
      </p:sp>
      <p:sp>
        <p:nvSpPr>
          <p:cNvPr id="29" name="Text 27"/>
          <p:cNvSpPr/>
          <p:nvPr/>
        </p:nvSpPr>
        <p:spPr>
          <a:xfrm>
            <a:off x="457200" y="4069080"/>
            <a:ext cx="1691640" cy="201168"/>
          </a:xfrm>
          <a:prstGeom prst="rect">
            <a:avLst/>
          </a:prstGeom>
          <a:noFill/>
        </p:spPr>
        <p:txBody>
          <a:bodyPr wrap="square" rtlCol="0" anchor="ctr"/>
          <a:lstStyle/>
          <a:p>
            <a:pPr marL="0" indent="0">
              <a:buNone/>
            </a:pPr>
            <a:r>
              <a:rPr lang="en-US" sz="900" b="1" dirty="0">
                <a:solidFill>
                  <a:srgbClr val="00C9B1"/>
                </a:solidFill>
              </a:rPr>
              <a:t>›  </a:t>
            </a:r>
            <a:r>
              <a:rPr lang="en-US" sz="900" dirty="0">
                <a:solidFill>
                  <a:srgbClr val="C8D6E5"/>
                </a:solidFill>
              </a:rPr>
              <a:t>Tasks &amp; Grades</a:t>
            </a:r>
            <a:endParaRPr lang="en-US" sz="900" dirty="0"/>
          </a:p>
        </p:txBody>
      </p:sp>
      <p:sp>
        <p:nvSpPr>
          <p:cNvPr id="30" name="Text 28"/>
          <p:cNvSpPr/>
          <p:nvPr/>
        </p:nvSpPr>
        <p:spPr>
          <a:xfrm>
            <a:off x="457200" y="4251960"/>
            <a:ext cx="1691640" cy="201168"/>
          </a:xfrm>
          <a:prstGeom prst="rect">
            <a:avLst/>
          </a:prstGeom>
          <a:noFill/>
        </p:spPr>
        <p:txBody>
          <a:bodyPr wrap="square" rtlCol="0" anchor="ctr"/>
          <a:lstStyle/>
          <a:p>
            <a:pPr marL="0" indent="0">
              <a:buNone/>
            </a:pPr>
            <a:r>
              <a:rPr lang="en-US" sz="900" b="1" dirty="0">
                <a:solidFill>
                  <a:srgbClr val="00C9B1"/>
                </a:solidFill>
              </a:rPr>
              <a:t>›  </a:t>
            </a:r>
            <a:r>
              <a:rPr lang="en-US" sz="900" dirty="0">
                <a:solidFill>
                  <a:srgbClr val="C8D6E5"/>
                </a:solidFill>
              </a:rPr>
              <a:t>Attendance &amp; Forum</a:t>
            </a:r>
            <a:endParaRPr lang="en-US" sz="900" dirty="0"/>
          </a:p>
        </p:txBody>
      </p:sp>
      <p:sp>
        <p:nvSpPr>
          <p:cNvPr id="31" name="Shape 29"/>
          <p:cNvSpPr/>
          <p:nvPr/>
        </p:nvSpPr>
        <p:spPr>
          <a:xfrm>
            <a:off x="5833872" y="3785616"/>
            <a:ext cx="749808" cy="0"/>
          </a:xfrm>
          <a:prstGeom prst="line">
            <a:avLst/>
          </a:prstGeom>
          <a:noFill/>
          <a:ln w="22860">
            <a:solidFill>
              <a:srgbClr val="F5A623"/>
            </a:solidFill>
            <a:prstDash val="solid"/>
          </a:ln>
        </p:spPr>
      </p:sp>
      <p:sp>
        <p:nvSpPr>
          <p:cNvPr id="32" name="Text 30"/>
          <p:cNvSpPr/>
          <p:nvPr/>
        </p:nvSpPr>
        <p:spPr>
          <a:xfrm>
            <a:off x="6583680" y="3675888"/>
            <a:ext cx="640080" cy="201168"/>
          </a:xfrm>
          <a:prstGeom prst="rect">
            <a:avLst/>
          </a:prstGeom>
          <a:noFill/>
        </p:spPr>
        <p:txBody>
          <a:bodyPr wrap="square" rtlCol="0" anchor="ctr"/>
          <a:lstStyle/>
          <a:p>
            <a:pPr marL="0" indent="0" algn="ctr">
              <a:buNone/>
            </a:pPr>
            <a:r>
              <a:rPr lang="en-US" sz="850" b="1" dirty="0">
                <a:solidFill>
                  <a:srgbClr val="E94560"/>
                </a:solidFill>
              </a:rPr>
              <a:t>Staff</a:t>
            </a:r>
            <a:endParaRPr lang="en-US" sz="850" dirty="0"/>
          </a:p>
        </p:txBody>
      </p:sp>
      <p:sp>
        <p:nvSpPr>
          <p:cNvPr id="33" name="Shape 31"/>
          <p:cNvSpPr/>
          <p:nvPr/>
        </p:nvSpPr>
        <p:spPr>
          <a:xfrm>
            <a:off x="6675120" y="3566160"/>
            <a:ext cx="1691640" cy="438912"/>
          </a:xfrm>
          <a:prstGeom prst="rect">
            <a:avLst/>
          </a:prstGeom>
          <a:solidFill>
            <a:srgbClr val="0D2137"/>
          </a:solidFill>
          <a:ln w="19050">
            <a:solidFill>
              <a:srgbClr val="E94560"/>
            </a:solidFill>
            <a:prstDash val="solid"/>
          </a:ln>
        </p:spPr>
      </p:sp>
      <p:sp>
        <p:nvSpPr>
          <p:cNvPr id="34" name="Text 32"/>
          <p:cNvSpPr/>
          <p:nvPr/>
        </p:nvSpPr>
        <p:spPr>
          <a:xfrm>
            <a:off x="6675120" y="3566160"/>
            <a:ext cx="1691640" cy="43891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Staff Dashboard</a:t>
            </a:r>
            <a:endParaRPr lang="en-US" sz="1100" dirty="0"/>
          </a:p>
        </p:txBody>
      </p:sp>
      <p:sp>
        <p:nvSpPr>
          <p:cNvPr id="35" name="Text 33"/>
          <p:cNvSpPr/>
          <p:nvPr/>
        </p:nvSpPr>
        <p:spPr>
          <a:xfrm>
            <a:off x="6675120" y="4069080"/>
            <a:ext cx="1691640" cy="201168"/>
          </a:xfrm>
          <a:prstGeom prst="rect">
            <a:avLst/>
          </a:prstGeom>
          <a:noFill/>
        </p:spPr>
        <p:txBody>
          <a:bodyPr wrap="square" rtlCol="0" anchor="ctr"/>
          <a:lstStyle/>
          <a:p>
            <a:pPr marL="0" indent="0">
              <a:buNone/>
            </a:pPr>
            <a:r>
              <a:rPr lang="en-US" sz="900" b="1" dirty="0">
                <a:solidFill>
                  <a:srgbClr val="E94560"/>
                </a:solidFill>
              </a:rPr>
              <a:t>›  </a:t>
            </a:r>
            <a:r>
              <a:rPr lang="en-US" sz="900" dirty="0">
                <a:solidFill>
                  <a:srgbClr val="C8D6E5"/>
                </a:solidFill>
              </a:rPr>
              <a:t>CRUD Tasks/Events</a:t>
            </a:r>
            <a:endParaRPr lang="en-US" sz="900" dirty="0"/>
          </a:p>
        </p:txBody>
      </p:sp>
      <p:sp>
        <p:nvSpPr>
          <p:cNvPr id="36" name="Text 34"/>
          <p:cNvSpPr/>
          <p:nvPr/>
        </p:nvSpPr>
        <p:spPr>
          <a:xfrm>
            <a:off x="6675120" y="4251960"/>
            <a:ext cx="1691640" cy="201168"/>
          </a:xfrm>
          <a:prstGeom prst="rect">
            <a:avLst/>
          </a:prstGeom>
          <a:noFill/>
        </p:spPr>
        <p:txBody>
          <a:bodyPr wrap="square" rtlCol="0" anchor="ctr"/>
          <a:lstStyle/>
          <a:p>
            <a:pPr marL="0" indent="0">
              <a:buNone/>
            </a:pPr>
            <a:r>
              <a:rPr lang="en-US" sz="900" b="1" dirty="0">
                <a:solidFill>
                  <a:srgbClr val="E94560"/>
                </a:solidFill>
              </a:rPr>
              <a:t>›  </a:t>
            </a:r>
            <a:r>
              <a:rPr lang="en-US" sz="900" dirty="0">
                <a:solidFill>
                  <a:srgbClr val="C8D6E5"/>
                </a:solidFill>
              </a:rPr>
              <a:t>Attendance &amp; Marks</a:t>
            </a:r>
            <a:endParaRPr lang="en-US" sz="900" dirty="0"/>
          </a:p>
        </p:txBody>
      </p:sp>
      <p:sp>
        <p:nvSpPr>
          <p:cNvPr id="37" name="Shape 35"/>
          <p:cNvSpPr/>
          <p:nvPr/>
        </p:nvSpPr>
        <p:spPr>
          <a:xfrm>
            <a:off x="4572000" y="4005072"/>
            <a:ext cx="0" cy="246888"/>
          </a:xfrm>
          <a:prstGeom prst="line">
            <a:avLst/>
          </a:prstGeom>
          <a:noFill/>
          <a:ln w="22860">
            <a:solidFill>
              <a:srgbClr val="F5A623"/>
            </a:solidFill>
            <a:prstDash val="solid"/>
          </a:ln>
        </p:spPr>
      </p:sp>
      <p:sp>
        <p:nvSpPr>
          <p:cNvPr id="38" name="Shape 36"/>
          <p:cNvSpPr/>
          <p:nvPr/>
        </p:nvSpPr>
        <p:spPr>
          <a:xfrm>
            <a:off x="3931920" y="4251960"/>
            <a:ext cx="1280160" cy="384048"/>
          </a:xfrm>
          <a:prstGeom prst="ellipse">
            <a:avLst/>
          </a:prstGeom>
          <a:solidFill>
            <a:srgbClr val="F5A623"/>
          </a:solidFill>
          <a:ln w="12700">
            <a:solidFill>
              <a:srgbClr val="F5A623"/>
            </a:solidFill>
            <a:prstDash val="solid"/>
          </a:ln>
        </p:spPr>
      </p:sp>
      <p:sp>
        <p:nvSpPr>
          <p:cNvPr id="39" name="Text 37"/>
          <p:cNvSpPr/>
          <p:nvPr/>
        </p:nvSpPr>
        <p:spPr>
          <a:xfrm>
            <a:off x="3931920" y="4251960"/>
            <a:ext cx="1280160" cy="384048"/>
          </a:xfrm>
          <a:prstGeom prst="rect">
            <a:avLst/>
          </a:prstGeom>
          <a:noFill/>
        </p:spPr>
        <p:txBody>
          <a:bodyPr wrap="square" lIns="0" tIns="0" rIns="0" bIns="0" rtlCol="0" anchor="ctr"/>
          <a:lstStyle/>
          <a:p>
            <a:pPr marL="0" indent="0" algn="ctr">
              <a:buNone/>
            </a:pPr>
            <a:r>
              <a:rPr lang="en-US" sz="900" b="1" dirty="0">
                <a:solidFill>
                  <a:srgbClr val="FFFFFF"/>
                </a:solidFill>
              </a:rPr>
              <a:t>END / Logout</a:t>
            </a:r>
            <a:endParaRPr lang="en-US" sz="900" dirty="0"/>
          </a:p>
        </p:txBody>
      </p:sp>
      <p:sp>
        <p:nvSpPr>
          <p:cNvPr id="40" name="Shape 38"/>
          <p:cNvSpPr/>
          <p:nvPr/>
        </p:nvSpPr>
        <p:spPr>
          <a:xfrm>
            <a:off x="0" y="4846320"/>
            <a:ext cx="9144000" cy="297180"/>
          </a:xfrm>
          <a:prstGeom prst="rect">
            <a:avLst/>
          </a:prstGeom>
          <a:solidFill>
            <a:srgbClr val="0F3460"/>
          </a:solidFill>
          <a:ln w="12700">
            <a:solidFill>
              <a:srgbClr val="0F3460"/>
            </a:solidFill>
            <a:prstDash val="solid"/>
          </a:ln>
        </p:spPr>
      </p:sp>
      <p:sp>
        <p:nvSpPr>
          <p:cNvPr id="41" name="Text 39"/>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System Workflow</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5A623"/>
          </a:solidFill>
          <a:ln w="12700">
            <a:solidFill>
              <a:srgbClr val="F5A623"/>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Front-End View of Web Application</a:t>
            </a:r>
            <a:endParaRPr lang="en-US" sz="2600" dirty="0"/>
          </a:p>
        </p:txBody>
      </p:sp>
      <p:sp>
        <p:nvSpPr>
          <p:cNvPr id="4" name="Text 2"/>
          <p:cNvSpPr/>
          <p:nvPr/>
        </p:nvSpPr>
        <p:spPr>
          <a:xfrm>
            <a:off x="365760" y="822960"/>
            <a:ext cx="8412480" cy="347472"/>
          </a:xfrm>
          <a:prstGeom prst="rect">
            <a:avLst/>
          </a:prstGeom>
          <a:noFill/>
        </p:spPr>
        <p:txBody>
          <a:bodyPr wrap="square" rtlCol="0" anchor="ctr"/>
          <a:lstStyle/>
          <a:p>
            <a:pPr marL="0" indent="0">
              <a:buNone/>
            </a:pPr>
            <a:r>
              <a:rPr lang="en-US" sz="1200" i="1" dirty="0">
                <a:solidFill>
                  <a:srgbClr val="C8D6E5"/>
                </a:solidFill>
              </a:rPr>
              <a:t>Key screens from the Campus Connect web application</a:t>
            </a:r>
            <a:endParaRPr lang="en-US" sz="1200" dirty="0"/>
          </a:p>
        </p:txBody>
      </p:sp>
      <p:sp>
        <p:nvSpPr>
          <p:cNvPr id="5" name="Shape 3"/>
          <p:cNvSpPr/>
          <p:nvPr/>
        </p:nvSpPr>
        <p:spPr>
          <a:xfrm>
            <a:off x="292608" y="1261872"/>
            <a:ext cx="2670048" cy="1572768"/>
          </a:xfrm>
          <a:prstGeom prst="rect">
            <a:avLst/>
          </a:prstGeom>
          <a:solidFill>
            <a:srgbClr val="0D2137"/>
          </a:solidFill>
          <a:ln w="19050">
            <a:solidFill>
              <a:srgbClr val="00C9B1"/>
            </a:solidFill>
            <a:prstDash val="solid"/>
          </a:ln>
        </p:spPr>
      </p:sp>
      <p:sp>
        <p:nvSpPr>
          <p:cNvPr id="6" name="Shape 4"/>
          <p:cNvSpPr/>
          <p:nvPr/>
        </p:nvSpPr>
        <p:spPr>
          <a:xfrm>
            <a:off x="292608" y="1261872"/>
            <a:ext cx="2670048" cy="256032"/>
          </a:xfrm>
          <a:prstGeom prst="rect">
            <a:avLst/>
          </a:prstGeom>
          <a:solidFill>
            <a:srgbClr val="00C9B1">
              <a:alpha val="75000"/>
            </a:srgbClr>
          </a:solidFill>
          <a:ln w="12700">
            <a:solidFill>
              <a:srgbClr val="00C9B1"/>
            </a:solidFill>
            <a:prstDash val="solid"/>
          </a:ln>
        </p:spPr>
      </p:sp>
      <p:sp>
        <p:nvSpPr>
          <p:cNvPr id="7" name="Shape 5"/>
          <p:cNvSpPr/>
          <p:nvPr/>
        </p:nvSpPr>
        <p:spPr>
          <a:xfrm>
            <a:off x="384048" y="1316736"/>
            <a:ext cx="137160" cy="137160"/>
          </a:xfrm>
          <a:prstGeom prst="ellipse">
            <a:avLst/>
          </a:prstGeom>
          <a:solidFill>
            <a:srgbClr val="E94560"/>
          </a:solidFill>
          <a:ln w="12700">
            <a:solidFill>
              <a:srgbClr val="E94560"/>
            </a:solidFill>
            <a:prstDash val="solid"/>
          </a:ln>
        </p:spPr>
      </p:sp>
      <p:sp>
        <p:nvSpPr>
          <p:cNvPr id="8" name="Shape 6"/>
          <p:cNvSpPr/>
          <p:nvPr/>
        </p:nvSpPr>
        <p:spPr>
          <a:xfrm>
            <a:off x="566928" y="1316736"/>
            <a:ext cx="137160" cy="137160"/>
          </a:xfrm>
          <a:prstGeom prst="ellipse">
            <a:avLst/>
          </a:prstGeom>
          <a:solidFill>
            <a:srgbClr val="F5A623"/>
          </a:solidFill>
          <a:ln w="12700">
            <a:solidFill>
              <a:srgbClr val="F5A623"/>
            </a:solidFill>
            <a:prstDash val="solid"/>
          </a:ln>
        </p:spPr>
      </p:sp>
      <p:sp>
        <p:nvSpPr>
          <p:cNvPr id="9" name="Shape 7"/>
          <p:cNvSpPr/>
          <p:nvPr/>
        </p:nvSpPr>
        <p:spPr>
          <a:xfrm>
            <a:off x="749808" y="1316736"/>
            <a:ext cx="137160" cy="137160"/>
          </a:xfrm>
          <a:prstGeom prst="ellipse">
            <a:avLst/>
          </a:prstGeom>
          <a:solidFill>
            <a:srgbClr val="00C9B1"/>
          </a:solidFill>
          <a:ln w="12700">
            <a:solidFill>
              <a:srgbClr val="00C9B1"/>
            </a:solidFill>
            <a:prstDash val="solid"/>
          </a:ln>
        </p:spPr>
      </p:sp>
      <p:sp>
        <p:nvSpPr>
          <p:cNvPr id="10" name="Text 8"/>
          <p:cNvSpPr/>
          <p:nvPr/>
        </p:nvSpPr>
        <p:spPr>
          <a:xfrm>
            <a:off x="950976" y="1289304"/>
            <a:ext cx="1645920" cy="201168"/>
          </a:xfrm>
          <a:prstGeom prst="rect">
            <a:avLst/>
          </a:prstGeom>
          <a:noFill/>
        </p:spPr>
        <p:txBody>
          <a:bodyPr wrap="square" rtlCol="0" anchor="ctr"/>
          <a:lstStyle/>
          <a:p>
            <a:pPr marL="0" indent="0" algn="ctr">
              <a:buNone/>
            </a:pPr>
            <a:r>
              <a:rPr lang="en-US" sz="800" dirty="0">
                <a:solidFill>
                  <a:srgbClr val="C8D6E5"/>
                </a:solidFill>
              </a:rPr>
              <a:t>localhost:3000</a:t>
            </a:r>
            <a:endParaRPr lang="en-US" sz="800" dirty="0"/>
          </a:p>
        </p:txBody>
      </p:sp>
      <p:pic>
        <p:nvPicPr>
          <p:cNvPr id="11" name="Image 0" descr="preencoded.png"/>
          <p:cNvPicPr>
            <a:picLocks noChangeAspect="1"/>
          </p:cNvPicPr>
          <p:nvPr/>
        </p:nvPicPr>
        <p:blipFill>
          <a:blip r:embed="rId1"/>
          <a:stretch>
            <a:fillRect/>
          </a:stretch>
        </p:blipFill>
        <p:spPr>
          <a:xfrm>
            <a:off x="457200" y="1645920"/>
            <a:ext cx="566928" cy="566928"/>
          </a:xfrm>
          <a:prstGeom prst="rect">
            <a:avLst/>
          </a:prstGeom>
        </p:spPr>
      </p:pic>
      <p:sp>
        <p:nvSpPr>
          <p:cNvPr id="12" name="Text 9"/>
          <p:cNvSpPr/>
          <p:nvPr/>
        </p:nvSpPr>
        <p:spPr>
          <a:xfrm>
            <a:off x="1115568" y="1609344"/>
            <a:ext cx="1719072" cy="347472"/>
          </a:xfrm>
          <a:prstGeom prst="rect">
            <a:avLst/>
          </a:prstGeom>
          <a:noFill/>
        </p:spPr>
        <p:txBody>
          <a:bodyPr wrap="square" rtlCol="0" anchor="ctr"/>
          <a:lstStyle/>
          <a:p>
            <a:pPr marL="0" indent="0">
              <a:buNone/>
            </a:pPr>
            <a:r>
              <a:rPr lang="en-US" sz="1200" b="1" dirty="0">
                <a:solidFill>
                  <a:srgbClr val="00C9B1"/>
                </a:solidFill>
                <a:latin typeface="Trebuchet MS" panose="020B0603020202020204" pitchFamily="34" charset="0"/>
                <a:ea typeface="Trebuchet MS" panose="020B0603020202020204" pitchFamily="34" charset="-122"/>
                <a:cs typeface="Trebuchet MS" panose="020B0603020202020204" pitchFamily="34" charset="-120"/>
              </a:rPr>
              <a:t>Login Page</a:t>
            </a:r>
            <a:endParaRPr lang="en-US" sz="1200" dirty="0"/>
          </a:p>
        </p:txBody>
      </p:sp>
      <p:sp>
        <p:nvSpPr>
          <p:cNvPr id="13" name="Text 10"/>
          <p:cNvSpPr/>
          <p:nvPr/>
        </p:nvSpPr>
        <p:spPr>
          <a:xfrm>
            <a:off x="1115568" y="1975104"/>
            <a:ext cx="1719072" cy="475488"/>
          </a:xfrm>
          <a:prstGeom prst="rect">
            <a:avLst/>
          </a:prstGeom>
          <a:noFill/>
        </p:spPr>
        <p:txBody>
          <a:bodyPr wrap="square" rtlCol="0" anchor="ctr"/>
          <a:lstStyle/>
          <a:p>
            <a:pPr marL="0" indent="0">
              <a:buNone/>
            </a:pPr>
            <a:r>
              <a:rPr lang="en-US" sz="1000" dirty="0">
                <a:solidFill>
                  <a:srgbClr val="C8D6E5"/>
                </a:solidFill>
              </a:rPr>
              <a:t>JWT-secured login</a:t>
            </a:r>
            <a:endParaRPr lang="en-US" sz="1000" dirty="0"/>
          </a:p>
          <a:p>
            <a:pPr marL="0" indent="0">
              <a:buNone/>
            </a:pPr>
            <a:r>
              <a:rPr lang="en-US" sz="1000" dirty="0">
                <a:solidFill>
                  <a:srgbClr val="C8D6E5"/>
                </a:solidFill>
              </a:rPr>
              <a:t>with role detection</a:t>
            </a:r>
            <a:endParaRPr lang="en-US" sz="1000" dirty="0"/>
          </a:p>
        </p:txBody>
      </p:sp>
      <p:sp>
        <p:nvSpPr>
          <p:cNvPr id="14" name="Shape 11"/>
          <p:cNvSpPr/>
          <p:nvPr/>
        </p:nvSpPr>
        <p:spPr>
          <a:xfrm>
            <a:off x="384048" y="2523744"/>
            <a:ext cx="2487168" cy="228600"/>
          </a:xfrm>
          <a:prstGeom prst="rect">
            <a:avLst/>
          </a:prstGeom>
          <a:solidFill>
            <a:srgbClr val="0F3460">
              <a:alpha val="70000"/>
            </a:srgbClr>
          </a:solidFill>
          <a:ln w="12700">
            <a:solidFill>
              <a:srgbClr val="0F3460"/>
            </a:solidFill>
            <a:prstDash val="solid"/>
          </a:ln>
        </p:spPr>
      </p:sp>
      <p:sp>
        <p:nvSpPr>
          <p:cNvPr id="15" name="Text 12"/>
          <p:cNvSpPr/>
          <p:nvPr/>
        </p:nvSpPr>
        <p:spPr>
          <a:xfrm>
            <a:off x="384048" y="2523744"/>
            <a:ext cx="2487168" cy="228600"/>
          </a:xfrm>
          <a:prstGeom prst="rect">
            <a:avLst/>
          </a:prstGeom>
          <a:noFill/>
        </p:spPr>
        <p:txBody>
          <a:bodyPr wrap="square" rtlCol="0" anchor="ctr"/>
          <a:lstStyle/>
          <a:p>
            <a:pPr marL="0" indent="0" algn="ctr">
              <a:buNone/>
            </a:pPr>
            <a:endParaRPr lang="en-US" sz="800" dirty="0"/>
          </a:p>
        </p:txBody>
      </p:sp>
      <p:sp>
        <p:nvSpPr>
          <p:cNvPr id="16" name="Shape 13"/>
          <p:cNvSpPr/>
          <p:nvPr/>
        </p:nvSpPr>
        <p:spPr>
          <a:xfrm>
            <a:off x="3172968" y="1261872"/>
            <a:ext cx="2670048" cy="1572768"/>
          </a:xfrm>
          <a:prstGeom prst="rect">
            <a:avLst/>
          </a:prstGeom>
          <a:solidFill>
            <a:srgbClr val="0D2137"/>
          </a:solidFill>
          <a:ln w="19050">
            <a:solidFill>
              <a:srgbClr val="E94560"/>
            </a:solidFill>
            <a:prstDash val="solid"/>
          </a:ln>
        </p:spPr>
      </p:sp>
      <p:sp>
        <p:nvSpPr>
          <p:cNvPr id="17" name="Shape 14"/>
          <p:cNvSpPr/>
          <p:nvPr/>
        </p:nvSpPr>
        <p:spPr>
          <a:xfrm>
            <a:off x="3172968" y="1261872"/>
            <a:ext cx="2670048" cy="256032"/>
          </a:xfrm>
          <a:prstGeom prst="rect">
            <a:avLst/>
          </a:prstGeom>
          <a:solidFill>
            <a:srgbClr val="E94560">
              <a:alpha val="75000"/>
            </a:srgbClr>
          </a:solidFill>
          <a:ln w="12700">
            <a:solidFill>
              <a:srgbClr val="E94560"/>
            </a:solidFill>
            <a:prstDash val="solid"/>
          </a:ln>
        </p:spPr>
      </p:sp>
      <p:sp>
        <p:nvSpPr>
          <p:cNvPr id="18" name="Shape 15"/>
          <p:cNvSpPr/>
          <p:nvPr/>
        </p:nvSpPr>
        <p:spPr>
          <a:xfrm>
            <a:off x="3264408" y="1316736"/>
            <a:ext cx="137160" cy="137160"/>
          </a:xfrm>
          <a:prstGeom prst="ellipse">
            <a:avLst/>
          </a:prstGeom>
          <a:solidFill>
            <a:srgbClr val="E94560"/>
          </a:solidFill>
          <a:ln w="12700">
            <a:solidFill>
              <a:srgbClr val="E94560"/>
            </a:solidFill>
            <a:prstDash val="solid"/>
          </a:ln>
        </p:spPr>
      </p:sp>
      <p:sp>
        <p:nvSpPr>
          <p:cNvPr id="19" name="Shape 16"/>
          <p:cNvSpPr/>
          <p:nvPr/>
        </p:nvSpPr>
        <p:spPr>
          <a:xfrm>
            <a:off x="3447288" y="1316736"/>
            <a:ext cx="137160" cy="137160"/>
          </a:xfrm>
          <a:prstGeom prst="ellipse">
            <a:avLst/>
          </a:prstGeom>
          <a:solidFill>
            <a:srgbClr val="F5A623"/>
          </a:solidFill>
          <a:ln w="12700">
            <a:solidFill>
              <a:srgbClr val="F5A623"/>
            </a:solidFill>
            <a:prstDash val="solid"/>
          </a:ln>
        </p:spPr>
      </p:sp>
      <p:sp>
        <p:nvSpPr>
          <p:cNvPr id="20" name="Shape 17"/>
          <p:cNvSpPr/>
          <p:nvPr/>
        </p:nvSpPr>
        <p:spPr>
          <a:xfrm>
            <a:off x="3630168" y="1316736"/>
            <a:ext cx="137160" cy="137160"/>
          </a:xfrm>
          <a:prstGeom prst="ellipse">
            <a:avLst/>
          </a:prstGeom>
          <a:solidFill>
            <a:srgbClr val="00C9B1"/>
          </a:solidFill>
          <a:ln w="12700">
            <a:solidFill>
              <a:srgbClr val="00C9B1"/>
            </a:solidFill>
            <a:prstDash val="solid"/>
          </a:ln>
        </p:spPr>
      </p:sp>
      <p:sp>
        <p:nvSpPr>
          <p:cNvPr id="21" name="Text 18"/>
          <p:cNvSpPr/>
          <p:nvPr/>
        </p:nvSpPr>
        <p:spPr>
          <a:xfrm>
            <a:off x="3831336" y="1289304"/>
            <a:ext cx="1645920" cy="201168"/>
          </a:xfrm>
          <a:prstGeom prst="rect">
            <a:avLst/>
          </a:prstGeom>
          <a:noFill/>
        </p:spPr>
        <p:txBody>
          <a:bodyPr wrap="square" rtlCol="0" anchor="ctr"/>
          <a:lstStyle/>
          <a:p>
            <a:pPr marL="0" indent="0" algn="ctr">
              <a:buNone/>
            </a:pPr>
            <a:r>
              <a:rPr lang="en-US" sz="800" dirty="0">
                <a:solidFill>
                  <a:srgbClr val="C8D6E5"/>
                </a:solidFill>
              </a:rPr>
              <a:t>localhost:3000</a:t>
            </a:r>
            <a:endParaRPr lang="en-US" sz="800" dirty="0"/>
          </a:p>
        </p:txBody>
      </p:sp>
      <p:pic>
        <p:nvPicPr>
          <p:cNvPr id="22" name="Image 1" descr="preencoded.png"/>
          <p:cNvPicPr>
            <a:picLocks noChangeAspect="1"/>
          </p:cNvPicPr>
          <p:nvPr/>
        </p:nvPicPr>
        <p:blipFill>
          <a:blip r:embed="rId2"/>
          <a:stretch>
            <a:fillRect/>
          </a:stretch>
        </p:blipFill>
        <p:spPr>
          <a:xfrm>
            <a:off x="3337560" y="1645920"/>
            <a:ext cx="566928" cy="566928"/>
          </a:xfrm>
          <a:prstGeom prst="rect">
            <a:avLst/>
          </a:prstGeom>
        </p:spPr>
      </p:pic>
      <p:sp>
        <p:nvSpPr>
          <p:cNvPr id="23" name="Text 19"/>
          <p:cNvSpPr/>
          <p:nvPr/>
        </p:nvSpPr>
        <p:spPr>
          <a:xfrm>
            <a:off x="3995928" y="1609344"/>
            <a:ext cx="1719072" cy="347472"/>
          </a:xfrm>
          <a:prstGeom prst="rect">
            <a:avLst/>
          </a:prstGeom>
          <a:noFill/>
        </p:spPr>
        <p:txBody>
          <a:bodyPr wrap="square" rtlCol="0" anchor="ctr"/>
          <a:lstStyle/>
          <a:p>
            <a:pPr marL="0" indent="0">
              <a:buNone/>
            </a:pPr>
            <a:r>
              <a:rPr lang="en-US" sz="1200" b="1" dirty="0">
                <a:solidFill>
                  <a:srgbClr val="E94560"/>
                </a:solidFill>
                <a:latin typeface="Trebuchet MS" panose="020B0603020202020204" pitchFamily="34" charset="0"/>
                <a:ea typeface="Trebuchet MS" panose="020B0603020202020204" pitchFamily="34" charset="-122"/>
                <a:cs typeface="Trebuchet MS" panose="020B0603020202020204" pitchFamily="34" charset="-120"/>
              </a:rPr>
              <a:t>Student Dashboard</a:t>
            </a:r>
            <a:endParaRPr lang="en-US" sz="1200" dirty="0"/>
          </a:p>
        </p:txBody>
      </p:sp>
      <p:sp>
        <p:nvSpPr>
          <p:cNvPr id="24" name="Text 20"/>
          <p:cNvSpPr/>
          <p:nvPr/>
        </p:nvSpPr>
        <p:spPr>
          <a:xfrm>
            <a:off x="3995928" y="1975104"/>
            <a:ext cx="1719072" cy="475488"/>
          </a:xfrm>
          <a:prstGeom prst="rect">
            <a:avLst/>
          </a:prstGeom>
          <a:noFill/>
        </p:spPr>
        <p:txBody>
          <a:bodyPr wrap="square" rtlCol="0" anchor="ctr"/>
          <a:lstStyle/>
          <a:p>
            <a:pPr marL="0" indent="0">
              <a:buNone/>
            </a:pPr>
            <a:r>
              <a:rPr lang="en-US" sz="1000" dirty="0">
                <a:solidFill>
                  <a:srgbClr val="C8D6E5"/>
                </a:solidFill>
              </a:rPr>
              <a:t>Personalized feed</a:t>
            </a:r>
            <a:endParaRPr lang="en-US" sz="1000" dirty="0"/>
          </a:p>
          <a:p>
            <a:pPr marL="0" indent="0">
              <a:buNone/>
            </a:pPr>
            <a:r>
              <a:rPr lang="en-US" sz="1000" dirty="0">
                <a:solidFill>
                  <a:srgbClr val="C8D6E5"/>
                </a:solidFill>
              </a:rPr>
              <a:t>Tasks &amp; Grades view</a:t>
            </a:r>
            <a:endParaRPr lang="en-US" sz="1000" dirty="0"/>
          </a:p>
        </p:txBody>
      </p:sp>
      <p:sp>
        <p:nvSpPr>
          <p:cNvPr id="25" name="Shape 21"/>
          <p:cNvSpPr/>
          <p:nvPr/>
        </p:nvSpPr>
        <p:spPr>
          <a:xfrm>
            <a:off x="3264408" y="2523744"/>
            <a:ext cx="2487168" cy="228600"/>
          </a:xfrm>
          <a:prstGeom prst="rect">
            <a:avLst/>
          </a:prstGeom>
          <a:solidFill>
            <a:srgbClr val="0F3460">
              <a:alpha val="70000"/>
            </a:srgbClr>
          </a:solidFill>
          <a:ln w="12700">
            <a:solidFill>
              <a:srgbClr val="0F3460"/>
            </a:solidFill>
            <a:prstDash val="solid"/>
          </a:ln>
        </p:spPr>
      </p:sp>
      <p:sp>
        <p:nvSpPr>
          <p:cNvPr id="26" name="Text 22"/>
          <p:cNvSpPr/>
          <p:nvPr/>
        </p:nvSpPr>
        <p:spPr>
          <a:xfrm>
            <a:off x="3264408" y="2523744"/>
            <a:ext cx="2487168" cy="228600"/>
          </a:xfrm>
          <a:prstGeom prst="rect">
            <a:avLst/>
          </a:prstGeom>
          <a:noFill/>
        </p:spPr>
        <p:txBody>
          <a:bodyPr wrap="square" rtlCol="0" anchor="ctr"/>
          <a:lstStyle/>
          <a:p>
            <a:pPr marL="0" indent="0" algn="ctr">
              <a:buNone/>
            </a:pPr>
            <a:endParaRPr lang="en-US" sz="800" dirty="0"/>
          </a:p>
        </p:txBody>
      </p:sp>
      <p:sp>
        <p:nvSpPr>
          <p:cNvPr id="27" name="Shape 23"/>
          <p:cNvSpPr/>
          <p:nvPr/>
        </p:nvSpPr>
        <p:spPr>
          <a:xfrm>
            <a:off x="6053328" y="1261872"/>
            <a:ext cx="2670048" cy="1572768"/>
          </a:xfrm>
          <a:prstGeom prst="rect">
            <a:avLst/>
          </a:prstGeom>
          <a:solidFill>
            <a:srgbClr val="0D2137"/>
          </a:solidFill>
          <a:ln w="19050">
            <a:solidFill>
              <a:srgbClr val="F5A623"/>
            </a:solidFill>
            <a:prstDash val="solid"/>
          </a:ln>
        </p:spPr>
      </p:sp>
      <p:sp>
        <p:nvSpPr>
          <p:cNvPr id="28" name="Shape 24"/>
          <p:cNvSpPr/>
          <p:nvPr/>
        </p:nvSpPr>
        <p:spPr>
          <a:xfrm>
            <a:off x="6053328" y="1261872"/>
            <a:ext cx="2670048" cy="256032"/>
          </a:xfrm>
          <a:prstGeom prst="rect">
            <a:avLst/>
          </a:prstGeom>
          <a:solidFill>
            <a:srgbClr val="F5A623">
              <a:alpha val="75000"/>
            </a:srgbClr>
          </a:solidFill>
          <a:ln w="12700">
            <a:solidFill>
              <a:srgbClr val="F5A623"/>
            </a:solidFill>
            <a:prstDash val="solid"/>
          </a:ln>
        </p:spPr>
      </p:sp>
      <p:sp>
        <p:nvSpPr>
          <p:cNvPr id="29" name="Shape 25"/>
          <p:cNvSpPr/>
          <p:nvPr/>
        </p:nvSpPr>
        <p:spPr>
          <a:xfrm>
            <a:off x="6144768" y="1316736"/>
            <a:ext cx="137160" cy="137160"/>
          </a:xfrm>
          <a:prstGeom prst="ellipse">
            <a:avLst/>
          </a:prstGeom>
          <a:solidFill>
            <a:srgbClr val="E94560"/>
          </a:solidFill>
          <a:ln w="12700">
            <a:solidFill>
              <a:srgbClr val="E94560"/>
            </a:solidFill>
            <a:prstDash val="solid"/>
          </a:ln>
        </p:spPr>
      </p:sp>
      <p:sp>
        <p:nvSpPr>
          <p:cNvPr id="30" name="Shape 26"/>
          <p:cNvSpPr/>
          <p:nvPr/>
        </p:nvSpPr>
        <p:spPr>
          <a:xfrm>
            <a:off x="6327648" y="1316736"/>
            <a:ext cx="137160" cy="137160"/>
          </a:xfrm>
          <a:prstGeom prst="ellipse">
            <a:avLst/>
          </a:prstGeom>
          <a:solidFill>
            <a:srgbClr val="F5A623"/>
          </a:solidFill>
          <a:ln w="12700">
            <a:solidFill>
              <a:srgbClr val="F5A623"/>
            </a:solidFill>
            <a:prstDash val="solid"/>
          </a:ln>
        </p:spPr>
      </p:sp>
      <p:sp>
        <p:nvSpPr>
          <p:cNvPr id="31" name="Shape 27"/>
          <p:cNvSpPr/>
          <p:nvPr/>
        </p:nvSpPr>
        <p:spPr>
          <a:xfrm>
            <a:off x="6510528" y="1316736"/>
            <a:ext cx="137160" cy="137160"/>
          </a:xfrm>
          <a:prstGeom prst="ellipse">
            <a:avLst/>
          </a:prstGeom>
          <a:solidFill>
            <a:srgbClr val="00C9B1"/>
          </a:solidFill>
          <a:ln w="12700">
            <a:solidFill>
              <a:srgbClr val="00C9B1"/>
            </a:solidFill>
            <a:prstDash val="solid"/>
          </a:ln>
        </p:spPr>
      </p:sp>
      <p:sp>
        <p:nvSpPr>
          <p:cNvPr id="32" name="Text 28"/>
          <p:cNvSpPr/>
          <p:nvPr/>
        </p:nvSpPr>
        <p:spPr>
          <a:xfrm>
            <a:off x="6711696" y="1289304"/>
            <a:ext cx="1645920" cy="201168"/>
          </a:xfrm>
          <a:prstGeom prst="rect">
            <a:avLst/>
          </a:prstGeom>
          <a:noFill/>
        </p:spPr>
        <p:txBody>
          <a:bodyPr wrap="square" rtlCol="0" anchor="ctr"/>
          <a:lstStyle/>
          <a:p>
            <a:pPr marL="0" indent="0" algn="ctr">
              <a:buNone/>
            </a:pPr>
            <a:r>
              <a:rPr lang="en-US" sz="800" dirty="0">
                <a:solidFill>
                  <a:srgbClr val="C8D6E5"/>
                </a:solidFill>
              </a:rPr>
              <a:t>localhost:3000</a:t>
            </a:r>
            <a:endParaRPr lang="en-US" sz="800" dirty="0"/>
          </a:p>
        </p:txBody>
      </p:sp>
      <p:pic>
        <p:nvPicPr>
          <p:cNvPr id="33" name="Image 2" descr="preencoded.png"/>
          <p:cNvPicPr>
            <a:picLocks noChangeAspect="1"/>
          </p:cNvPicPr>
          <p:nvPr/>
        </p:nvPicPr>
        <p:blipFill>
          <a:blip r:embed="rId3"/>
          <a:stretch>
            <a:fillRect/>
          </a:stretch>
        </p:blipFill>
        <p:spPr>
          <a:xfrm>
            <a:off x="6217920" y="1645920"/>
            <a:ext cx="566928" cy="566928"/>
          </a:xfrm>
          <a:prstGeom prst="rect">
            <a:avLst/>
          </a:prstGeom>
        </p:spPr>
      </p:pic>
      <p:sp>
        <p:nvSpPr>
          <p:cNvPr id="34" name="Text 29"/>
          <p:cNvSpPr/>
          <p:nvPr/>
        </p:nvSpPr>
        <p:spPr>
          <a:xfrm>
            <a:off x="6876288" y="1609344"/>
            <a:ext cx="1719072" cy="347472"/>
          </a:xfrm>
          <a:prstGeom prst="rect">
            <a:avLst/>
          </a:prstGeom>
          <a:noFill/>
        </p:spPr>
        <p:txBody>
          <a:bodyPr wrap="square" rtlCol="0" anchor="ctr"/>
          <a:lstStyle/>
          <a:p>
            <a:pPr marL="0" indent="0">
              <a:buNone/>
            </a:pPr>
            <a:r>
              <a:rPr lang="en-US" sz="1200" b="1" dirty="0">
                <a:solidFill>
                  <a:srgbClr val="F5A623"/>
                </a:solidFill>
                <a:latin typeface="Trebuchet MS" panose="020B0603020202020204" pitchFamily="34" charset="0"/>
                <a:ea typeface="Trebuchet MS" panose="020B0603020202020204" pitchFamily="34" charset="-122"/>
                <a:cs typeface="Trebuchet MS" panose="020B0603020202020204" pitchFamily="34" charset="-120"/>
              </a:rPr>
              <a:t>Attendance Portal</a:t>
            </a:r>
            <a:endParaRPr lang="en-US" sz="1200" dirty="0"/>
          </a:p>
        </p:txBody>
      </p:sp>
      <p:sp>
        <p:nvSpPr>
          <p:cNvPr id="35" name="Text 30"/>
          <p:cNvSpPr/>
          <p:nvPr/>
        </p:nvSpPr>
        <p:spPr>
          <a:xfrm>
            <a:off x="6876288" y="1975104"/>
            <a:ext cx="1719072" cy="475488"/>
          </a:xfrm>
          <a:prstGeom prst="rect">
            <a:avLst/>
          </a:prstGeom>
          <a:noFill/>
        </p:spPr>
        <p:txBody>
          <a:bodyPr wrap="square" rtlCol="0" anchor="ctr"/>
          <a:lstStyle/>
          <a:p>
            <a:pPr marL="0" indent="0">
              <a:buNone/>
            </a:pPr>
            <a:r>
              <a:rPr lang="en-US" sz="1000" dirty="0">
                <a:solidFill>
                  <a:srgbClr val="C8D6E5"/>
                </a:solidFill>
              </a:rPr>
              <a:t>Staff marks daily</a:t>
            </a:r>
            <a:endParaRPr lang="en-US" sz="1000" dirty="0"/>
          </a:p>
          <a:p>
            <a:pPr marL="0" indent="0">
              <a:buNone/>
            </a:pPr>
            <a:r>
              <a:rPr lang="en-US" sz="1000" dirty="0">
                <a:solidFill>
                  <a:srgbClr val="C8D6E5"/>
                </a:solidFill>
              </a:rPr>
              <a:t>Students view history</a:t>
            </a:r>
            <a:endParaRPr lang="en-US" sz="1000" dirty="0"/>
          </a:p>
        </p:txBody>
      </p:sp>
      <p:sp>
        <p:nvSpPr>
          <p:cNvPr id="36" name="Shape 31"/>
          <p:cNvSpPr/>
          <p:nvPr/>
        </p:nvSpPr>
        <p:spPr>
          <a:xfrm>
            <a:off x="6144768" y="2523744"/>
            <a:ext cx="2487168" cy="228600"/>
          </a:xfrm>
          <a:prstGeom prst="rect">
            <a:avLst/>
          </a:prstGeom>
          <a:solidFill>
            <a:srgbClr val="0F3460">
              <a:alpha val="70000"/>
            </a:srgbClr>
          </a:solidFill>
          <a:ln w="12700">
            <a:solidFill>
              <a:srgbClr val="0F3460"/>
            </a:solidFill>
            <a:prstDash val="solid"/>
          </a:ln>
        </p:spPr>
      </p:sp>
      <p:sp>
        <p:nvSpPr>
          <p:cNvPr id="37" name="Text 32"/>
          <p:cNvSpPr/>
          <p:nvPr/>
        </p:nvSpPr>
        <p:spPr>
          <a:xfrm>
            <a:off x="6144768" y="2523744"/>
            <a:ext cx="2487168" cy="228600"/>
          </a:xfrm>
          <a:prstGeom prst="rect">
            <a:avLst/>
          </a:prstGeom>
          <a:noFill/>
        </p:spPr>
        <p:txBody>
          <a:bodyPr wrap="square" rtlCol="0" anchor="ctr"/>
          <a:lstStyle/>
          <a:p>
            <a:pPr marL="0" indent="0" algn="ctr">
              <a:buNone/>
            </a:pPr>
            <a:endParaRPr lang="en-US" sz="800" dirty="0"/>
          </a:p>
        </p:txBody>
      </p:sp>
      <p:sp>
        <p:nvSpPr>
          <p:cNvPr id="38" name="Shape 33"/>
          <p:cNvSpPr/>
          <p:nvPr/>
        </p:nvSpPr>
        <p:spPr>
          <a:xfrm>
            <a:off x="292608" y="3017520"/>
            <a:ext cx="2670048" cy="1572768"/>
          </a:xfrm>
          <a:prstGeom prst="rect">
            <a:avLst/>
          </a:prstGeom>
          <a:solidFill>
            <a:srgbClr val="0D2137"/>
          </a:solidFill>
          <a:ln w="19050">
            <a:solidFill>
              <a:srgbClr val="7B2D8B"/>
            </a:solidFill>
            <a:prstDash val="solid"/>
          </a:ln>
        </p:spPr>
      </p:sp>
      <p:sp>
        <p:nvSpPr>
          <p:cNvPr id="39" name="Shape 34"/>
          <p:cNvSpPr/>
          <p:nvPr/>
        </p:nvSpPr>
        <p:spPr>
          <a:xfrm>
            <a:off x="292608" y="3017520"/>
            <a:ext cx="2670048" cy="256032"/>
          </a:xfrm>
          <a:prstGeom prst="rect">
            <a:avLst/>
          </a:prstGeom>
          <a:solidFill>
            <a:srgbClr val="7B2D8B">
              <a:alpha val="75000"/>
            </a:srgbClr>
          </a:solidFill>
          <a:ln w="12700">
            <a:solidFill>
              <a:srgbClr val="7B2D8B"/>
            </a:solidFill>
            <a:prstDash val="solid"/>
          </a:ln>
        </p:spPr>
      </p:sp>
      <p:sp>
        <p:nvSpPr>
          <p:cNvPr id="40" name="Shape 35"/>
          <p:cNvSpPr/>
          <p:nvPr/>
        </p:nvSpPr>
        <p:spPr>
          <a:xfrm>
            <a:off x="384048" y="3072384"/>
            <a:ext cx="137160" cy="137160"/>
          </a:xfrm>
          <a:prstGeom prst="ellipse">
            <a:avLst/>
          </a:prstGeom>
          <a:solidFill>
            <a:srgbClr val="E94560"/>
          </a:solidFill>
          <a:ln w="12700">
            <a:solidFill>
              <a:srgbClr val="E94560"/>
            </a:solidFill>
            <a:prstDash val="solid"/>
          </a:ln>
        </p:spPr>
      </p:sp>
      <p:sp>
        <p:nvSpPr>
          <p:cNvPr id="41" name="Shape 36"/>
          <p:cNvSpPr/>
          <p:nvPr/>
        </p:nvSpPr>
        <p:spPr>
          <a:xfrm>
            <a:off x="566928" y="3072384"/>
            <a:ext cx="137160" cy="137160"/>
          </a:xfrm>
          <a:prstGeom prst="ellipse">
            <a:avLst/>
          </a:prstGeom>
          <a:solidFill>
            <a:srgbClr val="F5A623"/>
          </a:solidFill>
          <a:ln w="12700">
            <a:solidFill>
              <a:srgbClr val="F5A623"/>
            </a:solidFill>
            <a:prstDash val="solid"/>
          </a:ln>
        </p:spPr>
      </p:sp>
      <p:sp>
        <p:nvSpPr>
          <p:cNvPr id="42" name="Shape 37"/>
          <p:cNvSpPr/>
          <p:nvPr/>
        </p:nvSpPr>
        <p:spPr>
          <a:xfrm>
            <a:off x="749808" y="3072384"/>
            <a:ext cx="137160" cy="137160"/>
          </a:xfrm>
          <a:prstGeom prst="ellipse">
            <a:avLst/>
          </a:prstGeom>
          <a:solidFill>
            <a:srgbClr val="00C9B1"/>
          </a:solidFill>
          <a:ln w="12700">
            <a:solidFill>
              <a:srgbClr val="00C9B1"/>
            </a:solidFill>
            <a:prstDash val="solid"/>
          </a:ln>
        </p:spPr>
      </p:sp>
      <p:sp>
        <p:nvSpPr>
          <p:cNvPr id="43" name="Text 38"/>
          <p:cNvSpPr/>
          <p:nvPr/>
        </p:nvSpPr>
        <p:spPr>
          <a:xfrm>
            <a:off x="950976" y="3044952"/>
            <a:ext cx="1645920" cy="201168"/>
          </a:xfrm>
          <a:prstGeom prst="rect">
            <a:avLst/>
          </a:prstGeom>
          <a:noFill/>
        </p:spPr>
        <p:txBody>
          <a:bodyPr wrap="square" rtlCol="0" anchor="ctr"/>
          <a:lstStyle/>
          <a:p>
            <a:pPr marL="0" indent="0" algn="ctr">
              <a:buNone/>
            </a:pPr>
            <a:r>
              <a:rPr lang="en-US" sz="800" dirty="0">
                <a:solidFill>
                  <a:srgbClr val="C8D6E5"/>
                </a:solidFill>
              </a:rPr>
              <a:t>localhost:3000</a:t>
            </a:r>
            <a:endParaRPr lang="en-US" sz="800" dirty="0"/>
          </a:p>
        </p:txBody>
      </p:sp>
      <p:pic>
        <p:nvPicPr>
          <p:cNvPr id="44" name="Image 3" descr="preencoded.png"/>
          <p:cNvPicPr>
            <a:picLocks noChangeAspect="1"/>
          </p:cNvPicPr>
          <p:nvPr/>
        </p:nvPicPr>
        <p:blipFill>
          <a:blip r:embed="rId4"/>
          <a:stretch>
            <a:fillRect/>
          </a:stretch>
        </p:blipFill>
        <p:spPr>
          <a:xfrm>
            <a:off x="457200" y="3401568"/>
            <a:ext cx="566928" cy="566928"/>
          </a:xfrm>
          <a:prstGeom prst="rect">
            <a:avLst/>
          </a:prstGeom>
        </p:spPr>
      </p:pic>
      <p:sp>
        <p:nvSpPr>
          <p:cNvPr id="45" name="Text 39"/>
          <p:cNvSpPr/>
          <p:nvPr/>
        </p:nvSpPr>
        <p:spPr>
          <a:xfrm>
            <a:off x="1115568" y="3364992"/>
            <a:ext cx="1719072" cy="347472"/>
          </a:xfrm>
          <a:prstGeom prst="rect">
            <a:avLst/>
          </a:prstGeom>
          <a:noFill/>
        </p:spPr>
        <p:txBody>
          <a:bodyPr wrap="square" rtlCol="0" anchor="ctr"/>
          <a:lstStyle/>
          <a:p>
            <a:pPr marL="0" indent="0">
              <a:buNone/>
            </a:pPr>
            <a:r>
              <a:rPr lang="en-US" sz="1200" b="1" dirty="0">
                <a:solidFill>
                  <a:srgbClr val="7B2D8B"/>
                </a:solidFill>
                <a:latin typeface="Trebuchet MS" panose="020B0603020202020204" pitchFamily="34" charset="0"/>
                <a:ea typeface="Trebuchet MS" panose="020B0603020202020204" pitchFamily="34" charset="-122"/>
                <a:cs typeface="Trebuchet MS" panose="020B0603020202020204" pitchFamily="34" charset="-120"/>
              </a:rPr>
              <a:t>Team Finder</a:t>
            </a:r>
            <a:endParaRPr lang="en-US" sz="1200" dirty="0"/>
          </a:p>
        </p:txBody>
      </p:sp>
      <p:sp>
        <p:nvSpPr>
          <p:cNvPr id="46" name="Text 40"/>
          <p:cNvSpPr/>
          <p:nvPr/>
        </p:nvSpPr>
        <p:spPr>
          <a:xfrm>
            <a:off x="1115568" y="3730752"/>
            <a:ext cx="1719072" cy="475488"/>
          </a:xfrm>
          <a:prstGeom prst="rect">
            <a:avLst/>
          </a:prstGeom>
          <a:noFill/>
        </p:spPr>
        <p:txBody>
          <a:bodyPr wrap="square" rtlCol="0" anchor="ctr"/>
          <a:lstStyle/>
          <a:p>
            <a:pPr marL="0" indent="0">
              <a:buNone/>
            </a:pPr>
            <a:r>
              <a:rPr lang="en-US" sz="1000" dirty="0">
                <a:solidFill>
                  <a:srgbClr val="C8D6E5"/>
                </a:solidFill>
              </a:rPr>
              <a:t>Browse &amp; post</a:t>
            </a:r>
            <a:endParaRPr lang="en-US" sz="1000" dirty="0"/>
          </a:p>
          <a:p>
            <a:pPr marL="0" indent="0">
              <a:buNone/>
            </a:pPr>
            <a:r>
              <a:rPr lang="en-US" sz="1000" dirty="0">
                <a:solidFill>
                  <a:srgbClr val="C8D6E5"/>
                </a:solidFill>
              </a:rPr>
              <a:t>project partner ads</a:t>
            </a:r>
            <a:endParaRPr lang="en-US" sz="1000" dirty="0"/>
          </a:p>
        </p:txBody>
      </p:sp>
      <p:sp>
        <p:nvSpPr>
          <p:cNvPr id="47" name="Shape 41"/>
          <p:cNvSpPr/>
          <p:nvPr/>
        </p:nvSpPr>
        <p:spPr>
          <a:xfrm>
            <a:off x="384048" y="4279392"/>
            <a:ext cx="2487168" cy="228600"/>
          </a:xfrm>
          <a:prstGeom prst="rect">
            <a:avLst/>
          </a:prstGeom>
          <a:solidFill>
            <a:srgbClr val="0F3460">
              <a:alpha val="70000"/>
            </a:srgbClr>
          </a:solidFill>
          <a:ln w="12700">
            <a:solidFill>
              <a:srgbClr val="0F3460"/>
            </a:solidFill>
            <a:prstDash val="solid"/>
          </a:ln>
        </p:spPr>
      </p:sp>
      <p:sp>
        <p:nvSpPr>
          <p:cNvPr id="48" name="Text 42"/>
          <p:cNvSpPr/>
          <p:nvPr/>
        </p:nvSpPr>
        <p:spPr>
          <a:xfrm>
            <a:off x="384048" y="4279392"/>
            <a:ext cx="2487168" cy="228600"/>
          </a:xfrm>
          <a:prstGeom prst="rect">
            <a:avLst/>
          </a:prstGeom>
          <a:noFill/>
        </p:spPr>
        <p:txBody>
          <a:bodyPr wrap="square" rtlCol="0" anchor="ctr"/>
          <a:lstStyle/>
          <a:p>
            <a:pPr marL="0" indent="0" algn="ctr">
              <a:buNone/>
            </a:pPr>
            <a:endParaRPr lang="en-US" sz="800" dirty="0"/>
          </a:p>
        </p:txBody>
      </p:sp>
      <p:sp>
        <p:nvSpPr>
          <p:cNvPr id="49" name="Shape 43"/>
          <p:cNvSpPr/>
          <p:nvPr/>
        </p:nvSpPr>
        <p:spPr>
          <a:xfrm>
            <a:off x="3172968" y="3017520"/>
            <a:ext cx="2670048" cy="1572768"/>
          </a:xfrm>
          <a:prstGeom prst="rect">
            <a:avLst/>
          </a:prstGeom>
          <a:solidFill>
            <a:srgbClr val="0D2137"/>
          </a:solidFill>
          <a:ln w="19050">
            <a:solidFill>
              <a:srgbClr val="00C9B1"/>
            </a:solidFill>
            <a:prstDash val="solid"/>
          </a:ln>
        </p:spPr>
      </p:sp>
      <p:sp>
        <p:nvSpPr>
          <p:cNvPr id="50" name="Shape 44"/>
          <p:cNvSpPr/>
          <p:nvPr/>
        </p:nvSpPr>
        <p:spPr>
          <a:xfrm>
            <a:off x="3172968" y="3017520"/>
            <a:ext cx="2670048" cy="256032"/>
          </a:xfrm>
          <a:prstGeom prst="rect">
            <a:avLst/>
          </a:prstGeom>
          <a:solidFill>
            <a:srgbClr val="00C9B1">
              <a:alpha val="75000"/>
            </a:srgbClr>
          </a:solidFill>
          <a:ln w="12700">
            <a:solidFill>
              <a:srgbClr val="00C9B1"/>
            </a:solidFill>
            <a:prstDash val="solid"/>
          </a:ln>
        </p:spPr>
      </p:sp>
      <p:sp>
        <p:nvSpPr>
          <p:cNvPr id="51" name="Shape 45"/>
          <p:cNvSpPr/>
          <p:nvPr/>
        </p:nvSpPr>
        <p:spPr>
          <a:xfrm>
            <a:off x="3264408" y="3072384"/>
            <a:ext cx="137160" cy="137160"/>
          </a:xfrm>
          <a:prstGeom prst="ellipse">
            <a:avLst/>
          </a:prstGeom>
          <a:solidFill>
            <a:srgbClr val="E94560"/>
          </a:solidFill>
          <a:ln w="12700">
            <a:solidFill>
              <a:srgbClr val="E94560"/>
            </a:solidFill>
            <a:prstDash val="solid"/>
          </a:ln>
        </p:spPr>
      </p:sp>
      <p:sp>
        <p:nvSpPr>
          <p:cNvPr id="52" name="Shape 46"/>
          <p:cNvSpPr/>
          <p:nvPr/>
        </p:nvSpPr>
        <p:spPr>
          <a:xfrm>
            <a:off x="3447288" y="3072384"/>
            <a:ext cx="137160" cy="137160"/>
          </a:xfrm>
          <a:prstGeom prst="ellipse">
            <a:avLst/>
          </a:prstGeom>
          <a:solidFill>
            <a:srgbClr val="F5A623"/>
          </a:solidFill>
          <a:ln w="12700">
            <a:solidFill>
              <a:srgbClr val="F5A623"/>
            </a:solidFill>
            <a:prstDash val="solid"/>
          </a:ln>
        </p:spPr>
      </p:sp>
      <p:sp>
        <p:nvSpPr>
          <p:cNvPr id="53" name="Shape 47"/>
          <p:cNvSpPr/>
          <p:nvPr/>
        </p:nvSpPr>
        <p:spPr>
          <a:xfrm>
            <a:off x="3630168" y="3072384"/>
            <a:ext cx="137160" cy="137160"/>
          </a:xfrm>
          <a:prstGeom prst="ellipse">
            <a:avLst/>
          </a:prstGeom>
          <a:solidFill>
            <a:srgbClr val="00C9B1"/>
          </a:solidFill>
          <a:ln w="12700">
            <a:solidFill>
              <a:srgbClr val="00C9B1"/>
            </a:solidFill>
            <a:prstDash val="solid"/>
          </a:ln>
        </p:spPr>
      </p:sp>
      <p:sp>
        <p:nvSpPr>
          <p:cNvPr id="54" name="Text 48"/>
          <p:cNvSpPr/>
          <p:nvPr/>
        </p:nvSpPr>
        <p:spPr>
          <a:xfrm>
            <a:off x="3831336" y="3044952"/>
            <a:ext cx="1645920" cy="201168"/>
          </a:xfrm>
          <a:prstGeom prst="rect">
            <a:avLst/>
          </a:prstGeom>
          <a:noFill/>
        </p:spPr>
        <p:txBody>
          <a:bodyPr wrap="square" rtlCol="0" anchor="ctr"/>
          <a:lstStyle/>
          <a:p>
            <a:pPr marL="0" indent="0" algn="ctr">
              <a:buNone/>
            </a:pPr>
            <a:r>
              <a:rPr lang="en-US" sz="800" dirty="0">
                <a:solidFill>
                  <a:srgbClr val="C8D6E5"/>
                </a:solidFill>
              </a:rPr>
              <a:t>localhost:3000</a:t>
            </a:r>
            <a:endParaRPr lang="en-US" sz="800" dirty="0"/>
          </a:p>
        </p:txBody>
      </p:sp>
      <p:pic>
        <p:nvPicPr>
          <p:cNvPr id="55" name="Image 4" descr="preencoded.png"/>
          <p:cNvPicPr>
            <a:picLocks noChangeAspect="1"/>
          </p:cNvPicPr>
          <p:nvPr/>
        </p:nvPicPr>
        <p:blipFill>
          <a:blip r:embed="rId5"/>
          <a:stretch>
            <a:fillRect/>
          </a:stretch>
        </p:blipFill>
        <p:spPr>
          <a:xfrm>
            <a:off x="3337560" y="3401568"/>
            <a:ext cx="566928" cy="566928"/>
          </a:xfrm>
          <a:prstGeom prst="rect">
            <a:avLst/>
          </a:prstGeom>
        </p:spPr>
      </p:pic>
      <p:sp>
        <p:nvSpPr>
          <p:cNvPr id="56" name="Text 49"/>
          <p:cNvSpPr/>
          <p:nvPr/>
        </p:nvSpPr>
        <p:spPr>
          <a:xfrm>
            <a:off x="3995928" y="3364992"/>
            <a:ext cx="1719072" cy="347472"/>
          </a:xfrm>
          <a:prstGeom prst="rect">
            <a:avLst/>
          </a:prstGeom>
          <a:noFill/>
        </p:spPr>
        <p:txBody>
          <a:bodyPr wrap="square" rtlCol="0" anchor="ctr"/>
          <a:lstStyle/>
          <a:p>
            <a:pPr marL="0" indent="0">
              <a:buNone/>
            </a:pPr>
            <a:r>
              <a:rPr lang="en-US" sz="1200" b="1" dirty="0">
                <a:solidFill>
                  <a:srgbClr val="00C9B1"/>
                </a:solidFill>
                <a:latin typeface="Trebuchet MS" panose="020B0603020202020204" pitchFamily="34" charset="0"/>
                <a:ea typeface="Trebuchet MS" panose="020B0603020202020204" pitchFamily="34" charset="-122"/>
                <a:cs typeface="Trebuchet MS" panose="020B0603020202020204" pitchFamily="34" charset="-120"/>
              </a:rPr>
              <a:t>Grade Portal</a:t>
            </a:r>
            <a:endParaRPr lang="en-US" sz="1200" dirty="0"/>
          </a:p>
        </p:txBody>
      </p:sp>
      <p:sp>
        <p:nvSpPr>
          <p:cNvPr id="57" name="Text 50"/>
          <p:cNvSpPr/>
          <p:nvPr/>
        </p:nvSpPr>
        <p:spPr>
          <a:xfrm>
            <a:off x="3995928" y="3730752"/>
            <a:ext cx="1719072" cy="475488"/>
          </a:xfrm>
          <a:prstGeom prst="rect">
            <a:avLst/>
          </a:prstGeom>
          <a:noFill/>
        </p:spPr>
        <p:txBody>
          <a:bodyPr wrap="square" rtlCol="0" anchor="ctr"/>
          <a:lstStyle/>
          <a:p>
            <a:pPr marL="0" indent="0">
              <a:buNone/>
            </a:pPr>
            <a:r>
              <a:rPr lang="en-US" sz="1000" dirty="0">
                <a:solidFill>
                  <a:srgbClr val="C8D6E5"/>
                </a:solidFill>
              </a:rPr>
              <a:t>Auto-calculated</a:t>
            </a:r>
            <a:endParaRPr lang="en-US" sz="1000" dirty="0"/>
          </a:p>
          <a:p>
            <a:pPr marL="0" indent="0">
              <a:buNone/>
            </a:pPr>
            <a:r>
              <a:rPr lang="en-US" sz="1000" dirty="0">
                <a:solidFill>
                  <a:srgbClr val="C8D6E5"/>
                </a:solidFill>
              </a:rPr>
              <a:t>grades per subject</a:t>
            </a:r>
            <a:endParaRPr lang="en-US" sz="1000" dirty="0"/>
          </a:p>
        </p:txBody>
      </p:sp>
      <p:sp>
        <p:nvSpPr>
          <p:cNvPr id="58" name="Shape 51"/>
          <p:cNvSpPr/>
          <p:nvPr/>
        </p:nvSpPr>
        <p:spPr>
          <a:xfrm>
            <a:off x="3264408" y="4279392"/>
            <a:ext cx="2487168" cy="228600"/>
          </a:xfrm>
          <a:prstGeom prst="rect">
            <a:avLst/>
          </a:prstGeom>
          <a:solidFill>
            <a:srgbClr val="0F3460">
              <a:alpha val="70000"/>
            </a:srgbClr>
          </a:solidFill>
          <a:ln w="12700">
            <a:solidFill>
              <a:srgbClr val="0F3460"/>
            </a:solidFill>
            <a:prstDash val="solid"/>
          </a:ln>
        </p:spPr>
      </p:sp>
      <p:sp>
        <p:nvSpPr>
          <p:cNvPr id="59" name="Text 52"/>
          <p:cNvSpPr/>
          <p:nvPr/>
        </p:nvSpPr>
        <p:spPr>
          <a:xfrm>
            <a:off x="3264408" y="4279392"/>
            <a:ext cx="2487168" cy="228600"/>
          </a:xfrm>
          <a:prstGeom prst="rect">
            <a:avLst/>
          </a:prstGeom>
          <a:noFill/>
        </p:spPr>
        <p:txBody>
          <a:bodyPr wrap="square" rtlCol="0" anchor="ctr"/>
          <a:lstStyle/>
          <a:p>
            <a:pPr marL="0" indent="0" algn="ctr">
              <a:buNone/>
            </a:pPr>
            <a:endParaRPr lang="en-US" sz="800" dirty="0"/>
          </a:p>
        </p:txBody>
      </p:sp>
      <p:sp>
        <p:nvSpPr>
          <p:cNvPr id="60" name="Shape 53"/>
          <p:cNvSpPr/>
          <p:nvPr/>
        </p:nvSpPr>
        <p:spPr>
          <a:xfrm>
            <a:off x="6053328" y="3017520"/>
            <a:ext cx="2670048" cy="1572768"/>
          </a:xfrm>
          <a:prstGeom prst="rect">
            <a:avLst/>
          </a:prstGeom>
          <a:solidFill>
            <a:srgbClr val="0D2137"/>
          </a:solidFill>
          <a:ln w="19050">
            <a:solidFill>
              <a:srgbClr val="E94560"/>
            </a:solidFill>
            <a:prstDash val="solid"/>
          </a:ln>
        </p:spPr>
      </p:sp>
      <p:sp>
        <p:nvSpPr>
          <p:cNvPr id="61" name="Shape 54"/>
          <p:cNvSpPr/>
          <p:nvPr/>
        </p:nvSpPr>
        <p:spPr>
          <a:xfrm>
            <a:off x="6053328" y="3017520"/>
            <a:ext cx="2670048" cy="256032"/>
          </a:xfrm>
          <a:prstGeom prst="rect">
            <a:avLst/>
          </a:prstGeom>
          <a:solidFill>
            <a:srgbClr val="E94560">
              <a:alpha val="75000"/>
            </a:srgbClr>
          </a:solidFill>
          <a:ln w="12700">
            <a:solidFill>
              <a:srgbClr val="E94560"/>
            </a:solidFill>
            <a:prstDash val="solid"/>
          </a:ln>
        </p:spPr>
      </p:sp>
      <p:sp>
        <p:nvSpPr>
          <p:cNvPr id="62" name="Shape 55"/>
          <p:cNvSpPr/>
          <p:nvPr/>
        </p:nvSpPr>
        <p:spPr>
          <a:xfrm>
            <a:off x="6144768" y="3072384"/>
            <a:ext cx="137160" cy="137160"/>
          </a:xfrm>
          <a:prstGeom prst="ellipse">
            <a:avLst/>
          </a:prstGeom>
          <a:solidFill>
            <a:srgbClr val="E94560"/>
          </a:solidFill>
          <a:ln w="12700">
            <a:solidFill>
              <a:srgbClr val="E94560"/>
            </a:solidFill>
            <a:prstDash val="solid"/>
          </a:ln>
        </p:spPr>
      </p:sp>
      <p:sp>
        <p:nvSpPr>
          <p:cNvPr id="63" name="Shape 56"/>
          <p:cNvSpPr/>
          <p:nvPr/>
        </p:nvSpPr>
        <p:spPr>
          <a:xfrm>
            <a:off x="6327648" y="3072384"/>
            <a:ext cx="137160" cy="137160"/>
          </a:xfrm>
          <a:prstGeom prst="ellipse">
            <a:avLst/>
          </a:prstGeom>
          <a:solidFill>
            <a:srgbClr val="F5A623"/>
          </a:solidFill>
          <a:ln w="12700">
            <a:solidFill>
              <a:srgbClr val="F5A623"/>
            </a:solidFill>
            <a:prstDash val="solid"/>
          </a:ln>
        </p:spPr>
      </p:sp>
      <p:sp>
        <p:nvSpPr>
          <p:cNvPr id="64" name="Shape 57"/>
          <p:cNvSpPr/>
          <p:nvPr/>
        </p:nvSpPr>
        <p:spPr>
          <a:xfrm>
            <a:off x="6510528" y="3072384"/>
            <a:ext cx="137160" cy="137160"/>
          </a:xfrm>
          <a:prstGeom prst="ellipse">
            <a:avLst/>
          </a:prstGeom>
          <a:solidFill>
            <a:srgbClr val="00C9B1"/>
          </a:solidFill>
          <a:ln w="12700">
            <a:solidFill>
              <a:srgbClr val="00C9B1"/>
            </a:solidFill>
            <a:prstDash val="solid"/>
          </a:ln>
        </p:spPr>
      </p:sp>
      <p:sp>
        <p:nvSpPr>
          <p:cNvPr id="65" name="Text 58"/>
          <p:cNvSpPr/>
          <p:nvPr/>
        </p:nvSpPr>
        <p:spPr>
          <a:xfrm>
            <a:off x="6711696" y="3044952"/>
            <a:ext cx="1645920" cy="201168"/>
          </a:xfrm>
          <a:prstGeom prst="rect">
            <a:avLst/>
          </a:prstGeom>
          <a:noFill/>
        </p:spPr>
        <p:txBody>
          <a:bodyPr wrap="square" rtlCol="0" anchor="ctr"/>
          <a:lstStyle/>
          <a:p>
            <a:pPr marL="0" indent="0" algn="ctr">
              <a:buNone/>
            </a:pPr>
            <a:r>
              <a:rPr lang="en-US" sz="800" dirty="0">
                <a:solidFill>
                  <a:srgbClr val="C8D6E5"/>
                </a:solidFill>
              </a:rPr>
              <a:t>localhost:3000</a:t>
            </a:r>
            <a:endParaRPr lang="en-US" sz="800" dirty="0"/>
          </a:p>
        </p:txBody>
      </p:sp>
      <p:pic>
        <p:nvPicPr>
          <p:cNvPr id="66" name="Image 5" descr="preencoded.png"/>
          <p:cNvPicPr>
            <a:picLocks noChangeAspect="1"/>
          </p:cNvPicPr>
          <p:nvPr/>
        </p:nvPicPr>
        <p:blipFill>
          <a:blip r:embed="rId6"/>
          <a:stretch>
            <a:fillRect/>
          </a:stretch>
        </p:blipFill>
        <p:spPr>
          <a:xfrm>
            <a:off x="6217920" y="3401568"/>
            <a:ext cx="566928" cy="566928"/>
          </a:xfrm>
          <a:prstGeom prst="rect">
            <a:avLst/>
          </a:prstGeom>
        </p:spPr>
      </p:pic>
      <p:sp>
        <p:nvSpPr>
          <p:cNvPr id="67" name="Text 59"/>
          <p:cNvSpPr/>
          <p:nvPr/>
        </p:nvSpPr>
        <p:spPr>
          <a:xfrm>
            <a:off x="6876288" y="3364992"/>
            <a:ext cx="1719072" cy="347472"/>
          </a:xfrm>
          <a:prstGeom prst="rect">
            <a:avLst/>
          </a:prstGeom>
          <a:noFill/>
        </p:spPr>
        <p:txBody>
          <a:bodyPr wrap="square" rtlCol="0" anchor="ctr"/>
          <a:lstStyle/>
          <a:p>
            <a:pPr marL="0" indent="0">
              <a:buNone/>
            </a:pPr>
            <a:r>
              <a:rPr lang="en-US" sz="1200" b="1" dirty="0">
                <a:solidFill>
                  <a:srgbClr val="E94560"/>
                </a:solidFill>
                <a:latin typeface="Trebuchet MS" panose="020B0603020202020204" pitchFamily="34" charset="0"/>
                <a:ea typeface="Trebuchet MS" panose="020B0603020202020204" pitchFamily="34" charset="-122"/>
                <a:cs typeface="Trebuchet MS" panose="020B0603020202020204" pitchFamily="34" charset="-120"/>
              </a:rPr>
              <a:t>Events Calendar</a:t>
            </a:r>
            <a:endParaRPr lang="en-US" sz="1200" dirty="0"/>
          </a:p>
        </p:txBody>
      </p:sp>
      <p:sp>
        <p:nvSpPr>
          <p:cNvPr id="68" name="Text 60"/>
          <p:cNvSpPr/>
          <p:nvPr/>
        </p:nvSpPr>
        <p:spPr>
          <a:xfrm>
            <a:off x="6876288" y="3730752"/>
            <a:ext cx="1719072" cy="475488"/>
          </a:xfrm>
          <a:prstGeom prst="rect">
            <a:avLst/>
          </a:prstGeom>
          <a:noFill/>
        </p:spPr>
        <p:txBody>
          <a:bodyPr wrap="square" rtlCol="0" anchor="ctr"/>
          <a:lstStyle/>
          <a:p>
            <a:pPr marL="0" indent="0">
              <a:buNone/>
            </a:pPr>
            <a:r>
              <a:rPr lang="en-US" sz="1000" dirty="0">
                <a:solidFill>
                  <a:srgbClr val="C8D6E5"/>
                </a:solidFill>
              </a:rPr>
              <a:t>One-click register</a:t>
            </a:r>
            <a:endParaRPr lang="en-US" sz="1000" dirty="0"/>
          </a:p>
          <a:p>
            <a:pPr marL="0" indent="0">
              <a:buNone/>
            </a:pPr>
            <a:r>
              <a:rPr lang="en-US" sz="1000" dirty="0">
                <a:solidFill>
                  <a:srgbClr val="C8D6E5"/>
                </a:solidFill>
              </a:rPr>
              <a:t>for workshops</a:t>
            </a:r>
            <a:endParaRPr lang="en-US" sz="1000" dirty="0"/>
          </a:p>
        </p:txBody>
      </p:sp>
      <p:sp>
        <p:nvSpPr>
          <p:cNvPr id="69" name="Shape 61"/>
          <p:cNvSpPr/>
          <p:nvPr/>
        </p:nvSpPr>
        <p:spPr>
          <a:xfrm>
            <a:off x="6144768" y="4279392"/>
            <a:ext cx="2487168" cy="228600"/>
          </a:xfrm>
          <a:prstGeom prst="rect">
            <a:avLst/>
          </a:prstGeom>
          <a:solidFill>
            <a:srgbClr val="0F3460">
              <a:alpha val="70000"/>
            </a:srgbClr>
          </a:solidFill>
          <a:ln w="12700">
            <a:solidFill>
              <a:srgbClr val="0F3460"/>
            </a:solidFill>
            <a:prstDash val="solid"/>
          </a:ln>
        </p:spPr>
      </p:sp>
      <p:sp>
        <p:nvSpPr>
          <p:cNvPr id="70" name="Text 62"/>
          <p:cNvSpPr/>
          <p:nvPr/>
        </p:nvSpPr>
        <p:spPr>
          <a:xfrm>
            <a:off x="6144768" y="4279392"/>
            <a:ext cx="2487168" cy="228600"/>
          </a:xfrm>
          <a:prstGeom prst="rect">
            <a:avLst/>
          </a:prstGeom>
          <a:noFill/>
        </p:spPr>
        <p:txBody>
          <a:bodyPr wrap="square" rtlCol="0" anchor="ctr"/>
          <a:lstStyle/>
          <a:p>
            <a:pPr marL="0" indent="0" algn="ctr">
              <a:buNone/>
            </a:pPr>
            <a:endParaRPr lang="en-US" sz="800" dirty="0"/>
          </a:p>
        </p:txBody>
      </p:sp>
      <p:sp>
        <p:nvSpPr>
          <p:cNvPr id="71" name="Shape 63"/>
          <p:cNvSpPr/>
          <p:nvPr/>
        </p:nvSpPr>
        <p:spPr>
          <a:xfrm>
            <a:off x="0" y="4846320"/>
            <a:ext cx="9144000" cy="297180"/>
          </a:xfrm>
          <a:prstGeom prst="rect">
            <a:avLst/>
          </a:prstGeom>
          <a:solidFill>
            <a:srgbClr val="0F3460"/>
          </a:solidFill>
          <a:ln w="12700">
            <a:solidFill>
              <a:srgbClr val="0F3460"/>
            </a:solidFill>
            <a:prstDash val="solid"/>
          </a:ln>
        </p:spPr>
      </p:sp>
      <p:sp>
        <p:nvSpPr>
          <p:cNvPr id="72" name="Text 64"/>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UI Screens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7B2D8B"/>
          </a:solidFill>
          <a:ln w="12700">
            <a:solidFill>
              <a:srgbClr val="7B2D8B"/>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Proof of Prompts Generating Code</a:t>
            </a:r>
            <a:endParaRPr lang="en-US" sz="2600" dirty="0"/>
          </a:p>
        </p:txBody>
      </p:sp>
      <p:sp>
        <p:nvSpPr>
          <p:cNvPr id="4" name="Text 2"/>
          <p:cNvSpPr/>
          <p:nvPr/>
        </p:nvSpPr>
        <p:spPr>
          <a:xfrm>
            <a:off x="365760" y="822960"/>
            <a:ext cx="8412480" cy="347472"/>
          </a:xfrm>
          <a:prstGeom prst="rect">
            <a:avLst/>
          </a:prstGeom>
          <a:noFill/>
        </p:spPr>
        <p:txBody>
          <a:bodyPr wrap="square" rtlCol="0" anchor="ctr"/>
          <a:lstStyle/>
          <a:p>
            <a:pPr marL="0" indent="0">
              <a:buNone/>
            </a:pPr>
            <a:r>
              <a:rPr lang="en-US" sz="1200" i="1" dirty="0">
                <a:solidFill>
                  <a:srgbClr val="C8D6E5"/>
                </a:solidFill>
              </a:rPr>
              <a:t>Screenshots showing AI tools generating actual project code</a:t>
            </a:r>
            <a:endParaRPr lang="en-US" sz="1200" dirty="0"/>
          </a:p>
        </p:txBody>
      </p:sp>
      <p:sp>
        <p:nvSpPr>
          <p:cNvPr id="5" name="Shape 3"/>
          <p:cNvSpPr/>
          <p:nvPr/>
        </p:nvSpPr>
        <p:spPr>
          <a:xfrm>
            <a:off x="320040" y="1261872"/>
            <a:ext cx="4160520" cy="1600200"/>
          </a:xfrm>
          <a:prstGeom prst="rect">
            <a:avLst/>
          </a:prstGeom>
          <a:solidFill>
            <a:srgbClr val="0D2137"/>
          </a:solidFill>
          <a:ln w="19050">
            <a:solidFill>
              <a:srgbClr val="00C9B1"/>
            </a:solidFill>
            <a:prstDash val="solid"/>
          </a:ln>
        </p:spPr>
      </p:sp>
      <p:sp>
        <p:nvSpPr>
          <p:cNvPr id="6" name="Shape 4"/>
          <p:cNvSpPr/>
          <p:nvPr/>
        </p:nvSpPr>
        <p:spPr>
          <a:xfrm>
            <a:off x="320040" y="1261872"/>
            <a:ext cx="4160520" cy="320040"/>
          </a:xfrm>
          <a:prstGeom prst="rect">
            <a:avLst/>
          </a:prstGeom>
          <a:solidFill>
            <a:srgbClr val="00C9B1">
              <a:alpha val="80000"/>
            </a:srgbClr>
          </a:solidFill>
          <a:ln w="12700">
            <a:solidFill>
              <a:srgbClr val="00C9B1"/>
            </a:solidFill>
            <a:prstDash val="solid"/>
          </a:ln>
        </p:spPr>
      </p:sp>
      <p:sp>
        <p:nvSpPr>
          <p:cNvPr id="7" name="Shape 5"/>
          <p:cNvSpPr/>
          <p:nvPr/>
        </p:nvSpPr>
        <p:spPr>
          <a:xfrm>
            <a:off x="393192" y="1307592"/>
            <a:ext cx="347472" cy="228600"/>
          </a:xfrm>
          <a:prstGeom prst="rect">
            <a:avLst/>
          </a:prstGeom>
          <a:solidFill>
            <a:srgbClr val="00C9B1"/>
          </a:solidFill>
          <a:ln w="12700">
            <a:solidFill>
              <a:srgbClr val="00C9B1"/>
            </a:solidFill>
            <a:prstDash val="solid"/>
          </a:ln>
        </p:spPr>
      </p:sp>
      <p:sp>
        <p:nvSpPr>
          <p:cNvPr id="8" name="Text 6"/>
          <p:cNvSpPr/>
          <p:nvPr/>
        </p:nvSpPr>
        <p:spPr>
          <a:xfrm>
            <a:off x="393192" y="1307592"/>
            <a:ext cx="347472" cy="228600"/>
          </a:xfrm>
          <a:prstGeom prst="rect">
            <a:avLst/>
          </a:prstGeom>
          <a:noFill/>
        </p:spPr>
        <p:txBody>
          <a:bodyPr wrap="square" lIns="0" tIns="0" rIns="0" bIns="0" rtlCol="0" anchor="ctr"/>
          <a:lstStyle/>
          <a:p>
            <a:pPr marL="0" indent="0" algn="ctr">
              <a:buNone/>
            </a:pPr>
            <a:r>
              <a:rPr lang="en-US" sz="900" b="1" dirty="0">
                <a:solidFill>
                  <a:srgbClr val="FFFFFF"/>
                </a:solidFill>
              </a:rPr>
              <a:t>01</a:t>
            </a:r>
            <a:endParaRPr lang="en-US" sz="900" dirty="0"/>
          </a:p>
        </p:txBody>
      </p:sp>
      <p:sp>
        <p:nvSpPr>
          <p:cNvPr id="9" name="Text 7"/>
          <p:cNvSpPr/>
          <p:nvPr/>
        </p:nvSpPr>
        <p:spPr>
          <a:xfrm>
            <a:off x="795528" y="1307592"/>
            <a:ext cx="1828800" cy="228600"/>
          </a:xfrm>
          <a:prstGeom prst="rect">
            <a:avLst/>
          </a:prstGeom>
          <a:noFill/>
        </p:spPr>
        <p:txBody>
          <a:bodyPr wrap="square" rtlCol="0" anchor="ctr"/>
          <a:lstStyle/>
          <a:p>
            <a:pPr marL="0" indent="0">
              <a:buNone/>
            </a:pPr>
            <a:r>
              <a:rPr lang="en-US" sz="1000" b="1" dirty="0">
                <a:solidFill>
                  <a:srgbClr val="FFFFFF"/>
                </a:solidFill>
              </a:rPr>
              <a:t>🔧  ChatGPT</a:t>
            </a:r>
            <a:endParaRPr lang="en-US" sz="1000" dirty="0"/>
          </a:p>
        </p:txBody>
      </p:sp>
      <p:sp>
        <p:nvSpPr>
          <p:cNvPr id="10" name="Shape 8"/>
          <p:cNvSpPr/>
          <p:nvPr/>
        </p:nvSpPr>
        <p:spPr>
          <a:xfrm>
            <a:off x="429768" y="1664208"/>
            <a:ext cx="2926080" cy="1051560"/>
          </a:xfrm>
          <a:prstGeom prst="rect">
            <a:avLst/>
          </a:prstGeom>
          <a:solidFill>
            <a:srgbClr val="0F3460"/>
          </a:solidFill>
          <a:ln w="12700">
            <a:solidFill>
              <a:srgbClr val="8899AA"/>
            </a:solidFill>
            <a:prstDash val="solid"/>
          </a:ln>
        </p:spPr>
      </p:sp>
      <p:pic>
        <p:nvPicPr>
          <p:cNvPr id="11" name="Image 0" descr="preencoded.png"/>
          <p:cNvPicPr>
            <a:picLocks noChangeAspect="1"/>
          </p:cNvPicPr>
          <p:nvPr/>
        </p:nvPicPr>
        <p:blipFill>
          <a:blip r:embed="rId1"/>
          <a:stretch>
            <a:fillRect/>
          </a:stretch>
        </p:blipFill>
        <p:spPr>
          <a:xfrm>
            <a:off x="776605" y="1856105"/>
            <a:ext cx="1996440" cy="774065"/>
          </a:xfrm>
          <a:prstGeom prst="rect">
            <a:avLst/>
          </a:prstGeom>
        </p:spPr>
      </p:pic>
      <p:sp>
        <p:nvSpPr>
          <p:cNvPr id="12" name="Text 9"/>
          <p:cNvSpPr/>
          <p:nvPr/>
        </p:nvSpPr>
        <p:spPr>
          <a:xfrm>
            <a:off x="429768" y="2340864"/>
            <a:ext cx="2926080" cy="320040"/>
          </a:xfrm>
          <a:prstGeom prst="rect">
            <a:avLst/>
          </a:prstGeom>
          <a:noFill/>
        </p:spPr>
        <p:txBody>
          <a:bodyPr wrap="square" rtlCol="0" anchor="ctr"/>
          <a:lstStyle/>
          <a:p>
            <a:pPr marL="0" indent="0" algn="ctr">
              <a:buNone/>
            </a:pPr>
            <a:endParaRPr lang="en-US" sz="900" dirty="0"/>
          </a:p>
        </p:txBody>
      </p:sp>
      <p:sp>
        <p:nvSpPr>
          <p:cNvPr id="13" name="Text 10"/>
          <p:cNvSpPr/>
          <p:nvPr/>
        </p:nvSpPr>
        <p:spPr>
          <a:xfrm>
            <a:off x="3410712" y="1664208"/>
            <a:ext cx="960120" cy="1051560"/>
          </a:xfrm>
          <a:prstGeom prst="rect">
            <a:avLst/>
          </a:prstGeom>
          <a:noFill/>
        </p:spPr>
        <p:txBody>
          <a:bodyPr wrap="square" rtlCol="0" anchor="ctr"/>
          <a:lstStyle/>
          <a:p>
            <a:pPr marL="0" indent="0">
              <a:buNone/>
            </a:pPr>
            <a:r>
              <a:rPr lang="en-US" sz="950" dirty="0">
                <a:solidFill>
                  <a:srgbClr val="C8D6E5"/>
                </a:solidFill>
              </a:rPr>
              <a:t>Generating JWT auth middleware</a:t>
            </a:r>
            <a:endParaRPr lang="en-US" sz="950" dirty="0"/>
          </a:p>
          <a:p>
            <a:pPr marL="0" indent="0">
              <a:buNone/>
            </a:pPr>
            <a:r>
              <a:rPr lang="en-US" sz="950" dirty="0">
                <a:solidFill>
                  <a:srgbClr val="C8D6E5"/>
                </a:solidFill>
              </a:rPr>
              <a:t>(register/login endpoints with bcrypt)</a:t>
            </a:r>
            <a:endParaRPr lang="en-US" sz="950" dirty="0"/>
          </a:p>
        </p:txBody>
      </p:sp>
      <p:sp>
        <p:nvSpPr>
          <p:cNvPr id="14" name="Shape 11"/>
          <p:cNvSpPr/>
          <p:nvPr/>
        </p:nvSpPr>
        <p:spPr>
          <a:xfrm>
            <a:off x="4727448" y="1261872"/>
            <a:ext cx="4160520" cy="1600200"/>
          </a:xfrm>
          <a:prstGeom prst="rect">
            <a:avLst/>
          </a:prstGeom>
          <a:solidFill>
            <a:srgbClr val="0D2137"/>
          </a:solidFill>
          <a:ln w="19050">
            <a:solidFill>
              <a:srgbClr val="E94560"/>
            </a:solidFill>
            <a:prstDash val="solid"/>
          </a:ln>
        </p:spPr>
      </p:sp>
      <p:sp>
        <p:nvSpPr>
          <p:cNvPr id="15" name="Shape 12"/>
          <p:cNvSpPr/>
          <p:nvPr/>
        </p:nvSpPr>
        <p:spPr>
          <a:xfrm>
            <a:off x="4727448" y="1261872"/>
            <a:ext cx="4160520" cy="320040"/>
          </a:xfrm>
          <a:prstGeom prst="rect">
            <a:avLst/>
          </a:prstGeom>
          <a:solidFill>
            <a:srgbClr val="E94560">
              <a:alpha val="80000"/>
            </a:srgbClr>
          </a:solidFill>
          <a:ln w="12700">
            <a:solidFill>
              <a:srgbClr val="E94560"/>
            </a:solidFill>
            <a:prstDash val="solid"/>
          </a:ln>
        </p:spPr>
      </p:sp>
      <p:sp>
        <p:nvSpPr>
          <p:cNvPr id="16" name="Shape 13"/>
          <p:cNvSpPr/>
          <p:nvPr/>
        </p:nvSpPr>
        <p:spPr>
          <a:xfrm>
            <a:off x="4800600" y="1307592"/>
            <a:ext cx="347472" cy="228600"/>
          </a:xfrm>
          <a:prstGeom prst="rect">
            <a:avLst/>
          </a:prstGeom>
          <a:solidFill>
            <a:srgbClr val="E94560"/>
          </a:solidFill>
          <a:ln w="12700">
            <a:solidFill>
              <a:srgbClr val="E94560"/>
            </a:solidFill>
            <a:prstDash val="solid"/>
          </a:ln>
        </p:spPr>
      </p:sp>
      <p:sp>
        <p:nvSpPr>
          <p:cNvPr id="17" name="Text 14"/>
          <p:cNvSpPr/>
          <p:nvPr/>
        </p:nvSpPr>
        <p:spPr>
          <a:xfrm>
            <a:off x="4800600" y="1307592"/>
            <a:ext cx="347472" cy="228600"/>
          </a:xfrm>
          <a:prstGeom prst="rect">
            <a:avLst/>
          </a:prstGeom>
          <a:noFill/>
        </p:spPr>
        <p:txBody>
          <a:bodyPr wrap="square" lIns="0" tIns="0" rIns="0" bIns="0" rtlCol="0" anchor="ctr"/>
          <a:lstStyle/>
          <a:p>
            <a:pPr marL="0" indent="0" algn="ctr">
              <a:buNone/>
            </a:pPr>
            <a:r>
              <a:rPr lang="en-US" sz="900" b="1" dirty="0">
                <a:solidFill>
                  <a:srgbClr val="FFFFFF"/>
                </a:solidFill>
              </a:rPr>
              <a:t>02</a:t>
            </a:r>
            <a:endParaRPr lang="en-US" sz="900" dirty="0"/>
          </a:p>
        </p:txBody>
      </p:sp>
      <p:sp>
        <p:nvSpPr>
          <p:cNvPr id="18" name="Text 15"/>
          <p:cNvSpPr/>
          <p:nvPr/>
        </p:nvSpPr>
        <p:spPr>
          <a:xfrm>
            <a:off x="5202936" y="1307592"/>
            <a:ext cx="1828800" cy="228600"/>
          </a:xfrm>
          <a:prstGeom prst="rect">
            <a:avLst/>
          </a:prstGeom>
          <a:noFill/>
        </p:spPr>
        <p:txBody>
          <a:bodyPr wrap="square" rtlCol="0" anchor="ctr"/>
          <a:lstStyle/>
          <a:p>
            <a:pPr marL="0" indent="0">
              <a:buNone/>
            </a:pPr>
            <a:r>
              <a:rPr lang="en-US" sz="1000" b="1" dirty="0">
                <a:solidFill>
                  <a:srgbClr val="FFFFFF"/>
                </a:solidFill>
              </a:rPr>
              <a:t>🔧  GitHub Copilot</a:t>
            </a:r>
            <a:endParaRPr lang="en-US" sz="1000" dirty="0"/>
          </a:p>
        </p:txBody>
      </p:sp>
      <p:sp>
        <p:nvSpPr>
          <p:cNvPr id="19" name="Shape 16"/>
          <p:cNvSpPr/>
          <p:nvPr/>
        </p:nvSpPr>
        <p:spPr>
          <a:xfrm>
            <a:off x="4837176" y="1664208"/>
            <a:ext cx="2926080" cy="1051560"/>
          </a:xfrm>
          <a:prstGeom prst="rect">
            <a:avLst/>
          </a:prstGeom>
          <a:solidFill>
            <a:srgbClr val="0F3460"/>
          </a:solidFill>
          <a:ln w="12700">
            <a:solidFill>
              <a:srgbClr val="8899AA"/>
            </a:solidFill>
            <a:prstDash val="solid"/>
          </a:ln>
        </p:spPr>
      </p:sp>
      <p:pic>
        <p:nvPicPr>
          <p:cNvPr id="20" name="Image 1" descr="preencoded.png"/>
          <p:cNvPicPr>
            <a:picLocks noChangeAspect="1"/>
          </p:cNvPicPr>
          <p:nvPr/>
        </p:nvPicPr>
        <p:blipFill>
          <a:blip r:embed="rId2"/>
          <a:stretch>
            <a:fillRect/>
          </a:stretch>
        </p:blipFill>
        <p:spPr>
          <a:xfrm>
            <a:off x="5360670" y="1856105"/>
            <a:ext cx="1694815" cy="692785"/>
          </a:xfrm>
          <a:prstGeom prst="rect">
            <a:avLst/>
          </a:prstGeom>
        </p:spPr>
      </p:pic>
      <p:sp>
        <p:nvSpPr>
          <p:cNvPr id="21" name="Text 17"/>
          <p:cNvSpPr/>
          <p:nvPr/>
        </p:nvSpPr>
        <p:spPr>
          <a:xfrm>
            <a:off x="4837176" y="2340864"/>
            <a:ext cx="2926080" cy="320040"/>
          </a:xfrm>
          <a:prstGeom prst="rect">
            <a:avLst/>
          </a:prstGeom>
          <a:noFill/>
        </p:spPr>
        <p:txBody>
          <a:bodyPr wrap="square" rtlCol="0" anchor="ctr"/>
          <a:lstStyle/>
          <a:p>
            <a:pPr marL="0" indent="0" algn="ctr">
              <a:buNone/>
            </a:pPr>
            <a:endParaRPr lang="en-US" sz="900" dirty="0"/>
          </a:p>
        </p:txBody>
      </p:sp>
      <p:sp>
        <p:nvSpPr>
          <p:cNvPr id="22" name="Text 18"/>
          <p:cNvSpPr/>
          <p:nvPr/>
        </p:nvSpPr>
        <p:spPr>
          <a:xfrm>
            <a:off x="7818120" y="1664208"/>
            <a:ext cx="960120" cy="1051560"/>
          </a:xfrm>
          <a:prstGeom prst="rect">
            <a:avLst/>
          </a:prstGeom>
          <a:noFill/>
        </p:spPr>
        <p:txBody>
          <a:bodyPr wrap="square" rtlCol="0" anchor="ctr"/>
          <a:lstStyle/>
          <a:p>
            <a:pPr marL="0" indent="0">
              <a:buNone/>
            </a:pPr>
            <a:r>
              <a:rPr lang="en-US" sz="950" dirty="0">
                <a:solidFill>
                  <a:srgbClr val="C8D6E5"/>
                </a:solidFill>
              </a:rPr>
              <a:t>Auto-completing Sequelize model</a:t>
            </a:r>
            <a:endParaRPr lang="en-US" sz="950" dirty="0"/>
          </a:p>
          <a:p>
            <a:pPr marL="0" indent="0">
              <a:buNone/>
            </a:pPr>
            <a:r>
              <a:rPr lang="en-US" sz="950" dirty="0">
                <a:solidFill>
                  <a:srgbClr val="C8D6E5"/>
                </a:solidFill>
              </a:rPr>
              <a:t>(Attendance table with associations)</a:t>
            </a:r>
            <a:endParaRPr lang="en-US" sz="950" dirty="0"/>
          </a:p>
        </p:txBody>
      </p:sp>
      <p:sp>
        <p:nvSpPr>
          <p:cNvPr id="23" name="Shape 19"/>
          <p:cNvSpPr/>
          <p:nvPr/>
        </p:nvSpPr>
        <p:spPr>
          <a:xfrm>
            <a:off x="320040" y="3044952"/>
            <a:ext cx="4160520" cy="1600200"/>
          </a:xfrm>
          <a:prstGeom prst="rect">
            <a:avLst/>
          </a:prstGeom>
          <a:solidFill>
            <a:srgbClr val="0D2137"/>
          </a:solidFill>
          <a:ln w="19050">
            <a:solidFill>
              <a:srgbClr val="F5A623"/>
            </a:solidFill>
            <a:prstDash val="solid"/>
          </a:ln>
        </p:spPr>
      </p:sp>
      <p:sp>
        <p:nvSpPr>
          <p:cNvPr id="24" name="Shape 20"/>
          <p:cNvSpPr/>
          <p:nvPr/>
        </p:nvSpPr>
        <p:spPr>
          <a:xfrm>
            <a:off x="320040" y="3044952"/>
            <a:ext cx="4160520" cy="320040"/>
          </a:xfrm>
          <a:prstGeom prst="rect">
            <a:avLst/>
          </a:prstGeom>
          <a:solidFill>
            <a:srgbClr val="F5A623">
              <a:alpha val="80000"/>
            </a:srgbClr>
          </a:solidFill>
          <a:ln w="12700">
            <a:solidFill>
              <a:srgbClr val="F5A623"/>
            </a:solidFill>
            <a:prstDash val="solid"/>
          </a:ln>
        </p:spPr>
      </p:sp>
      <p:sp>
        <p:nvSpPr>
          <p:cNvPr id="25" name="Shape 21"/>
          <p:cNvSpPr/>
          <p:nvPr/>
        </p:nvSpPr>
        <p:spPr>
          <a:xfrm>
            <a:off x="393192" y="3090672"/>
            <a:ext cx="347472" cy="228600"/>
          </a:xfrm>
          <a:prstGeom prst="rect">
            <a:avLst/>
          </a:prstGeom>
          <a:solidFill>
            <a:srgbClr val="F5A623"/>
          </a:solidFill>
          <a:ln w="12700">
            <a:solidFill>
              <a:srgbClr val="F5A623"/>
            </a:solidFill>
            <a:prstDash val="solid"/>
          </a:ln>
        </p:spPr>
      </p:sp>
      <p:sp>
        <p:nvSpPr>
          <p:cNvPr id="26" name="Text 22"/>
          <p:cNvSpPr/>
          <p:nvPr/>
        </p:nvSpPr>
        <p:spPr>
          <a:xfrm>
            <a:off x="393192" y="3090672"/>
            <a:ext cx="347472" cy="228600"/>
          </a:xfrm>
          <a:prstGeom prst="rect">
            <a:avLst/>
          </a:prstGeom>
          <a:noFill/>
        </p:spPr>
        <p:txBody>
          <a:bodyPr wrap="square" lIns="0" tIns="0" rIns="0" bIns="0" rtlCol="0" anchor="ctr"/>
          <a:lstStyle/>
          <a:p>
            <a:pPr marL="0" indent="0" algn="ctr">
              <a:buNone/>
            </a:pPr>
            <a:r>
              <a:rPr lang="en-US" sz="900" b="1" dirty="0">
                <a:solidFill>
                  <a:srgbClr val="FFFFFF"/>
                </a:solidFill>
              </a:rPr>
              <a:t>03</a:t>
            </a:r>
            <a:endParaRPr lang="en-US" sz="900" dirty="0"/>
          </a:p>
        </p:txBody>
      </p:sp>
      <p:sp>
        <p:nvSpPr>
          <p:cNvPr id="27" name="Text 23"/>
          <p:cNvSpPr/>
          <p:nvPr/>
        </p:nvSpPr>
        <p:spPr>
          <a:xfrm>
            <a:off x="795528" y="3090672"/>
            <a:ext cx="1828800" cy="228600"/>
          </a:xfrm>
          <a:prstGeom prst="rect">
            <a:avLst/>
          </a:prstGeom>
          <a:noFill/>
        </p:spPr>
        <p:txBody>
          <a:bodyPr wrap="square" rtlCol="0" anchor="ctr"/>
          <a:lstStyle/>
          <a:p>
            <a:pPr marL="0" indent="0">
              <a:buNone/>
            </a:pPr>
            <a:r>
              <a:rPr lang="en-US" sz="1000" b="1" dirty="0">
                <a:solidFill>
                  <a:srgbClr val="FFFFFF"/>
                </a:solidFill>
              </a:rPr>
              <a:t>🔧  ChatGPT</a:t>
            </a:r>
            <a:endParaRPr lang="en-US" sz="1000" dirty="0"/>
          </a:p>
        </p:txBody>
      </p:sp>
      <p:sp>
        <p:nvSpPr>
          <p:cNvPr id="28" name="Shape 24"/>
          <p:cNvSpPr/>
          <p:nvPr/>
        </p:nvSpPr>
        <p:spPr>
          <a:xfrm>
            <a:off x="429768" y="3447288"/>
            <a:ext cx="2926080" cy="1051560"/>
          </a:xfrm>
          <a:prstGeom prst="rect">
            <a:avLst/>
          </a:prstGeom>
          <a:solidFill>
            <a:srgbClr val="0F3460"/>
          </a:solidFill>
          <a:ln w="12700">
            <a:solidFill>
              <a:srgbClr val="8899AA"/>
            </a:solidFill>
            <a:prstDash val="solid"/>
          </a:ln>
        </p:spPr>
      </p:sp>
      <p:pic>
        <p:nvPicPr>
          <p:cNvPr id="29" name="Image 2" descr="preencoded.png"/>
          <p:cNvPicPr>
            <a:picLocks noChangeAspect="1"/>
          </p:cNvPicPr>
          <p:nvPr/>
        </p:nvPicPr>
        <p:blipFill>
          <a:blip r:embed="rId3"/>
          <a:stretch>
            <a:fillRect/>
          </a:stretch>
        </p:blipFill>
        <p:spPr>
          <a:xfrm>
            <a:off x="776605" y="3639185"/>
            <a:ext cx="1883410" cy="646430"/>
          </a:xfrm>
          <a:prstGeom prst="rect">
            <a:avLst/>
          </a:prstGeom>
        </p:spPr>
      </p:pic>
      <p:sp>
        <p:nvSpPr>
          <p:cNvPr id="30" name="Text 25"/>
          <p:cNvSpPr/>
          <p:nvPr/>
        </p:nvSpPr>
        <p:spPr>
          <a:xfrm>
            <a:off x="429768" y="4123944"/>
            <a:ext cx="2926080" cy="320040"/>
          </a:xfrm>
          <a:prstGeom prst="rect">
            <a:avLst/>
          </a:prstGeom>
          <a:noFill/>
        </p:spPr>
        <p:txBody>
          <a:bodyPr wrap="square" rtlCol="0" anchor="ctr"/>
          <a:lstStyle/>
          <a:p>
            <a:pPr marL="0" indent="0" algn="ctr">
              <a:buNone/>
            </a:pPr>
            <a:endParaRPr lang="en-US" sz="900" dirty="0"/>
          </a:p>
        </p:txBody>
      </p:sp>
      <p:sp>
        <p:nvSpPr>
          <p:cNvPr id="31" name="Text 26"/>
          <p:cNvSpPr/>
          <p:nvPr/>
        </p:nvSpPr>
        <p:spPr>
          <a:xfrm>
            <a:off x="3410712" y="3447288"/>
            <a:ext cx="960120" cy="1051560"/>
          </a:xfrm>
          <a:prstGeom prst="rect">
            <a:avLst/>
          </a:prstGeom>
          <a:noFill/>
        </p:spPr>
        <p:txBody>
          <a:bodyPr wrap="square" rtlCol="0" anchor="ctr"/>
          <a:lstStyle/>
          <a:p>
            <a:pPr marL="0" indent="0">
              <a:buNone/>
            </a:pPr>
            <a:r>
              <a:rPr lang="en-US" sz="950" dirty="0">
                <a:solidFill>
                  <a:srgbClr val="C8D6E5"/>
                </a:solidFill>
              </a:rPr>
              <a:t>Producing React component</a:t>
            </a:r>
            <a:endParaRPr lang="en-US" sz="950" dirty="0"/>
          </a:p>
          <a:p>
            <a:pPr marL="0" indent="0">
              <a:buNone/>
            </a:pPr>
            <a:r>
              <a:rPr lang="en-US" sz="950" dirty="0">
                <a:solidFill>
                  <a:srgbClr val="C8D6E5"/>
                </a:solidFill>
              </a:rPr>
              <a:t>(Grade portal with filter by subject)</a:t>
            </a:r>
            <a:endParaRPr lang="en-US" sz="950" dirty="0"/>
          </a:p>
        </p:txBody>
      </p:sp>
      <p:sp>
        <p:nvSpPr>
          <p:cNvPr id="32" name="Shape 27"/>
          <p:cNvSpPr/>
          <p:nvPr/>
        </p:nvSpPr>
        <p:spPr>
          <a:xfrm>
            <a:off x="4727448" y="3044952"/>
            <a:ext cx="4160520" cy="1600200"/>
          </a:xfrm>
          <a:prstGeom prst="rect">
            <a:avLst/>
          </a:prstGeom>
          <a:solidFill>
            <a:srgbClr val="0D2137"/>
          </a:solidFill>
          <a:ln w="19050">
            <a:solidFill>
              <a:srgbClr val="7B2D8B"/>
            </a:solidFill>
            <a:prstDash val="solid"/>
          </a:ln>
        </p:spPr>
      </p:sp>
      <p:sp>
        <p:nvSpPr>
          <p:cNvPr id="33" name="Shape 28"/>
          <p:cNvSpPr/>
          <p:nvPr/>
        </p:nvSpPr>
        <p:spPr>
          <a:xfrm>
            <a:off x="4727448" y="3044952"/>
            <a:ext cx="4160520" cy="320040"/>
          </a:xfrm>
          <a:prstGeom prst="rect">
            <a:avLst/>
          </a:prstGeom>
          <a:solidFill>
            <a:srgbClr val="7B2D8B">
              <a:alpha val="80000"/>
            </a:srgbClr>
          </a:solidFill>
          <a:ln w="12700">
            <a:solidFill>
              <a:srgbClr val="7B2D8B"/>
            </a:solidFill>
            <a:prstDash val="solid"/>
          </a:ln>
        </p:spPr>
      </p:sp>
      <p:sp>
        <p:nvSpPr>
          <p:cNvPr id="34" name="Shape 29"/>
          <p:cNvSpPr/>
          <p:nvPr/>
        </p:nvSpPr>
        <p:spPr>
          <a:xfrm>
            <a:off x="4800600" y="3090672"/>
            <a:ext cx="347472" cy="228600"/>
          </a:xfrm>
          <a:prstGeom prst="rect">
            <a:avLst/>
          </a:prstGeom>
          <a:solidFill>
            <a:srgbClr val="7B2D8B"/>
          </a:solidFill>
          <a:ln w="12700">
            <a:solidFill>
              <a:srgbClr val="7B2D8B"/>
            </a:solidFill>
            <a:prstDash val="solid"/>
          </a:ln>
        </p:spPr>
      </p:sp>
      <p:sp>
        <p:nvSpPr>
          <p:cNvPr id="35" name="Text 30"/>
          <p:cNvSpPr/>
          <p:nvPr/>
        </p:nvSpPr>
        <p:spPr>
          <a:xfrm>
            <a:off x="4800600" y="3090672"/>
            <a:ext cx="347472" cy="228600"/>
          </a:xfrm>
          <a:prstGeom prst="rect">
            <a:avLst/>
          </a:prstGeom>
          <a:noFill/>
        </p:spPr>
        <p:txBody>
          <a:bodyPr wrap="square" lIns="0" tIns="0" rIns="0" bIns="0" rtlCol="0" anchor="ctr"/>
          <a:lstStyle/>
          <a:p>
            <a:pPr marL="0" indent="0" algn="ctr">
              <a:buNone/>
            </a:pPr>
            <a:r>
              <a:rPr lang="en-US" sz="900" b="1" dirty="0">
                <a:solidFill>
                  <a:srgbClr val="FFFFFF"/>
                </a:solidFill>
              </a:rPr>
              <a:t>04</a:t>
            </a:r>
            <a:endParaRPr lang="en-US" sz="900" dirty="0"/>
          </a:p>
        </p:txBody>
      </p:sp>
      <p:sp>
        <p:nvSpPr>
          <p:cNvPr id="36" name="Text 31"/>
          <p:cNvSpPr/>
          <p:nvPr/>
        </p:nvSpPr>
        <p:spPr>
          <a:xfrm>
            <a:off x="5202936" y="3090672"/>
            <a:ext cx="1828800" cy="228600"/>
          </a:xfrm>
          <a:prstGeom prst="rect">
            <a:avLst/>
          </a:prstGeom>
          <a:noFill/>
        </p:spPr>
        <p:txBody>
          <a:bodyPr wrap="square" rtlCol="0" anchor="ctr"/>
          <a:lstStyle/>
          <a:p>
            <a:pPr marL="0" indent="0">
              <a:buNone/>
            </a:pPr>
            <a:r>
              <a:rPr lang="en-US" sz="1000" b="1" dirty="0">
                <a:solidFill>
                  <a:srgbClr val="FFFFFF"/>
                </a:solidFill>
              </a:rPr>
              <a:t>🔧  Claude AI</a:t>
            </a:r>
            <a:endParaRPr lang="en-US" sz="1000" dirty="0"/>
          </a:p>
        </p:txBody>
      </p:sp>
      <p:sp>
        <p:nvSpPr>
          <p:cNvPr id="37" name="Shape 32"/>
          <p:cNvSpPr/>
          <p:nvPr/>
        </p:nvSpPr>
        <p:spPr>
          <a:xfrm>
            <a:off x="4837176" y="3447288"/>
            <a:ext cx="2926080" cy="1051560"/>
          </a:xfrm>
          <a:prstGeom prst="rect">
            <a:avLst/>
          </a:prstGeom>
          <a:solidFill>
            <a:srgbClr val="0F3460"/>
          </a:solidFill>
          <a:ln w="12700">
            <a:solidFill>
              <a:srgbClr val="8899AA"/>
            </a:solidFill>
            <a:prstDash val="solid"/>
          </a:ln>
        </p:spPr>
      </p:sp>
      <p:pic>
        <p:nvPicPr>
          <p:cNvPr id="38" name="Image 3" descr="preencoded.png"/>
          <p:cNvPicPr>
            <a:picLocks noChangeAspect="1"/>
          </p:cNvPicPr>
          <p:nvPr/>
        </p:nvPicPr>
        <p:blipFill>
          <a:blip r:embed="rId4"/>
          <a:stretch>
            <a:fillRect/>
          </a:stretch>
        </p:blipFill>
        <p:spPr>
          <a:xfrm>
            <a:off x="5346700" y="3639185"/>
            <a:ext cx="2040255" cy="768350"/>
          </a:xfrm>
          <a:prstGeom prst="rect">
            <a:avLst/>
          </a:prstGeom>
        </p:spPr>
      </p:pic>
      <p:sp>
        <p:nvSpPr>
          <p:cNvPr id="39" name="Text 33"/>
          <p:cNvSpPr/>
          <p:nvPr/>
        </p:nvSpPr>
        <p:spPr>
          <a:xfrm>
            <a:off x="4837176" y="4123944"/>
            <a:ext cx="2926080" cy="320040"/>
          </a:xfrm>
          <a:prstGeom prst="rect">
            <a:avLst/>
          </a:prstGeom>
          <a:noFill/>
        </p:spPr>
        <p:txBody>
          <a:bodyPr wrap="square" rtlCol="0" anchor="ctr"/>
          <a:lstStyle/>
          <a:p>
            <a:pPr marL="0" indent="0" algn="ctr">
              <a:buNone/>
            </a:pPr>
            <a:endParaRPr lang="en-US" sz="900" dirty="0"/>
          </a:p>
        </p:txBody>
      </p:sp>
      <p:sp>
        <p:nvSpPr>
          <p:cNvPr id="40" name="Text 34"/>
          <p:cNvSpPr/>
          <p:nvPr/>
        </p:nvSpPr>
        <p:spPr>
          <a:xfrm>
            <a:off x="7818120" y="3447288"/>
            <a:ext cx="960120" cy="1051560"/>
          </a:xfrm>
          <a:prstGeom prst="rect">
            <a:avLst/>
          </a:prstGeom>
          <a:noFill/>
        </p:spPr>
        <p:txBody>
          <a:bodyPr wrap="square" rtlCol="0" anchor="ctr"/>
          <a:lstStyle/>
          <a:p>
            <a:pPr marL="0" indent="0">
              <a:buNone/>
            </a:pPr>
            <a:r>
              <a:rPr lang="en-US" sz="950" dirty="0">
                <a:solidFill>
                  <a:srgbClr val="C8D6E5"/>
                </a:solidFill>
              </a:rPr>
              <a:t>Refactoring Settings page</a:t>
            </a:r>
            <a:endParaRPr lang="en-US" sz="950" dirty="0"/>
          </a:p>
          <a:p>
            <a:pPr marL="0" indent="0">
              <a:buNone/>
            </a:pPr>
            <a:r>
              <a:rPr lang="en-US" sz="950" dirty="0">
                <a:solidFill>
                  <a:srgbClr val="C8D6E5"/>
                </a:solidFill>
              </a:rPr>
              <a:t>into tabbed interface components</a:t>
            </a:r>
            <a:endParaRPr lang="en-US" sz="950" dirty="0"/>
          </a:p>
        </p:txBody>
      </p:sp>
      <p:sp>
        <p:nvSpPr>
          <p:cNvPr id="41" name="Shape 35"/>
          <p:cNvSpPr/>
          <p:nvPr/>
        </p:nvSpPr>
        <p:spPr>
          <a:xfrm>
            <a:off x="0" y="4846320"/>
            <a:ext cx="9144000" cy="297180"/>
          </a:xfrm>
          <a:prstGeom prst="rect">
            <a:avLst/>
          </a:prstGeom>
          <a:solidFill>
            <a:srgbClr val="0F3460"/>
          </a:solidFill>
          <a:ln w="12700">
            <a:solidFill>
              <a:srgbClr val="0F3460"/>
            </a:solidFill>
            <a:prstDash val="solid"/>
          </a:ln>
        </p:spPr>
      </p:sp>
      <p:sp>
        <p:nvSpPr>
          <p:cNvPr id="42" name="Text 36"/>
          <p:cNvSpPr/>
          <p:nvPr/>
        </p:nvSpPr>
        <p:spPr>
          <a:xfrm>
            <a:off x="365760" y="4846320"/>
            <a:ext cx="8412480" cy="297180"/>
          </a:xfrm>
          <a:prstGeom prst="rect">
            <a:avLst/>
          </a:prstGeom>
          <a:noFill/>
        </p:spPr>
        <p:txBody>
          <a:bodyPr wrap="square" rtlCol="0" anchor="ctr"/>
          <a:lstStyle/>
          <a:p>
            <a:pPr marL="0" indent="0">
              <a:buNone/>
            </a:pPr>
            <a:r>
              <a:rPr lang="en-US" sz="1000" i="1" dirty="0">
                <a:solidFill>
                  <a:srgbClr val="8899AA"/>
                </a:solidFill>
              </a:rPr>
              <a:t>Campus Connect  ·  AI-Generated Code Proof</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C9B1"/>
          </a:solidFill>
          <a:ln w="12700">
            <a:solidFill>
              <a:srgbClr val="00C9B1"/>
            </a:solidFill>
            <a:prstDash val="solid"/>
          </a:ln>
        </p:spPr>
      </p:sp>
      <p:sp>
        <p:nvSpPr>
          <p:cNvPr id="3" name="Text 1"/>
          <p:cNvSpPr/>
          <p:nvPr/>
        </p:nvSpPr>
        <p:spPr>
          <a:xfrm>
            <a:off x="384048" y="0"/>
            <a:ext cx="8412480" cy="749808"/>
          </a:xfrm>
          <a:prstGeom prst="rect">
            <a:avLst/>
          </a:prstGeom>
          <a:noFill/>
        </p:spPr>
        <p:txBody>
          <a:bodyPr wrap="square" rtlCol="0" anchor="ctr"/>
          <a:lstStyle/>
          <a:p>
            <a:pPr marL="0" indent="0">
              <a:buNone/>
            </a:pPr>
            <a:r>
              <a:rPr lang="en-US" sz="26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References</a:t>
            </a:r>
            <a:endParaRPr lang="en-US" sz="2600" dirty="0"/>
          </a:p>
        </p:txBody>
      </p:sp>
      <p:sp>
        <p:nvSpPr>
          <p:cNvPr id="4" name="Text 2"/>
          <p:cNvSpPr/>
          <p:nvPr/>
        </p:nvSpPr>
        <p:spPr>
          <a:xfrm>
            <a:off x="365760" y="822960"/>
            <a:ext cx="8412480" cy="347472"/>
          </a:xfrm>
          <a:prstGeom prst="rect">
            <a:avLst/>
          </a:prstGeom>
          <a:noFill/>
        </p:spPr>
        <p:txBody>
          <a:bodyPr wrap="square" rtlCol="0" anchor="ctr"/>
          <a:lstStyle/>
          <a:p>
            <a:pPr marL="0" indent="0">
              <a:buNone/>
            </a:pPr>
            <a:r>
              <a:rPr lang="en-US" sz="1200" i="1" dirty="0">
                <a:solidFill>
                  <a:srgbClr val="C8D6E5"/>
                </a:solidFill>
              </a:rPr>
              <a:t>Documentation, Libraries, AI Tools &amp; Learning Resources used in this project</a:t>
            </a:r>
            <a:endParaRPr lang="en-US" sz="1200" dirty="0"/>
          </a:p>
        </p:txBody>
      </p:sp>
      <p:sp>
        <p:nvSpPr>
          <p:cNvPr id="5" name="Shape 3"/>
          <p:cNvSpPr/>
          <p:nvPr/>
        </p:nvSpPr>
        <p:spPr>
          <a:xfrm>
            <a:off x="320040" y="1261872"/>
            <a:ext cx="2724912" cy="3401568"/>
          </a:xfrm>
          <a:prstGeom prst="rect">
            <a:avLst/>
          </a:prstGeom>
          <a:solidFill>
            <a:srgbClr val="0D2137"/>
          </a:solidFill>
          <a:ln w="19050">
            <a:solidFill>
              <a:srgbClr val="00C9B1"/>
            </a:solidFill>
            <a:prstDash val="solid"/>
          </a:ln>
        </p:spPr>
      </p:sp>
      <p:sp>
        <p:nvSpPr>
          <p:cNvPr id="6" name="Shape 4"/>
          <p:cNvSpPr/>
          <p:nvPr/>
        </p:nvSpPr>
        <p:spPr>
          <a:xfrm>
            <a:off x="320040" y="1261872"/>
            <a:ext cx="2724912" cy="475488"/>
          </a:xfrm>
          <a:prstGeom prst="rect">
            <a:avLst/>
          </a:prstGeom>
          <a:solidFill>
            <a:srgbClr val="00C9B1">
              <a:alpha val="82000"/>
            </a:srgbClr>
          </a:solidFill>
          <a:ln w="12700">
            <a:solidFill>
              <a:srgbClr val="00C9B1"/>
            </a:solidFill>
            <a:prstDash val="solid"/>
          </a:ln>
        </p:spPr>
      </p:sp>
      <p:sp>
        <p:nvSpPr>
          <p:cNvPr id="8" name="Text 5"/>
          <p:cNvSpPr/>
          <p:nvPr/>
        </p:nvSpPr>
        <p:spPr>
          <a:xfrm>
            <a:off x="822960" y="1261872"/>
            <a:ext cx="2148840" cy="475488"/>
          </a:xfrm>
          <a:prstGeom prst="rect">
            <a:avLst/>
          </a:prstGeom>
          <a:noFill/>
        </p:spPr>
        <p:txBody>
          <a:bodyPr wrap="square" rtlCol="0" anchor="ctr"/>
          <a:lstStyle/>
          <a:p>
            <a:pPr marL="0" indent="0">
              <a:buNone/>
            </a:pPr>
            <a:r>
              <a:rPr lang="en-US" sz="13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Official Docs</a:t>
            </a:r>
            <a:endParaRPr lang="en-US" sz="1300" dirty="0"/>
          </a:p>
        </p:txBody>
      </p:sp>
      <p:sp>
        <p:nvSpPr>
          <p:cNvPr id="9" name="Text 6"/>
          <p:cNvSpPr/>
          <p:nvPr/>
        </p:nvSpPr>
        <p:spPr>
          <a:xfrm>
            <a:off x="457200" y="1810512"/>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[1]  React Documentation — https://react.dev</a:t>
            </a:r>
            <a:endParaRPr lang="en-US" sz="1000" dirty="0"/>
          </a:p>
        </p:txBody>
      </p:sp>
      <p:sp>
        <p:nvSpPr>
          <p:cNvPr id="10" name="Shape 7"/>
          <p:cNvSpPr/>
          <p:nvPr/>
        </p:nvSpPr>
        <p:spPr>
          <a:xfrm>
            <a:off x="457200" y="2313432"/>
            <a:ext cx="2377440" cy="0"/>
          </a:xfrm>
          <a:prstGeom prst="line">
            <a:avLst/>
          </a:prstGeom>
          <a:noFill/>
          <a:ln w="6350">
            <a:solidFill>
              <a:srgbClr val="0F3460"/>
            </a:solidFill>
            <a:prstDash val="solid"/>
          </a:ln>
        </p:spPr>
      </p:sp>
      <p:sp>
        <p:nvSpPr>
          <p:cNvPr id="11" name="Text 8"/>
          <p:cNvSpPr/>
          <p:nvPr/>
        </p:nvSpPr>
        <p:spPr>
          <a:xfrm>
            <a:off x="457200" y="2368296"/>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[2]  Node.js Documentation — https://nodejs.org/docs</a:t>
            </a:r>
            <a:endParaRPr lang="en-US" sz="1000" dirty="0"/>
          </a:p>
        </p:txBody>
      </p:sp>
      <p:sp>
        <p:nvSpPr>
          <p:cNvPr id="12" name="Shape 9"/>
          <p:cNvSpPr/>
          <p:nvPr/>
        </p:nvSpPr>
        <p:spPr>
          <a:xfrm>
            <a:off x="457200" y="2871216"/>
            <a:ext cx="2377440" cy="0"/>
          </a:xfrm>
          <a:prstGeom prst="line">
            <a:avLst/>
          </a:prstGeom>
          <a:noFill/>
          <a:ln w="6350">
            <a:solidFill>
              <a:srgbClr val="0F3460"/>
            </a:solidFill>
            <a:prstDash val="solid"/>
          </a:ln>
        </p:spPr>
      </p:sp>
      <p:sp>
        <p:nvSpPr>
          <p:cNvPr id="13" name="Text 10"/>
          <p:cNvSpPr/>
          <p:nvPr/>
        </p:nvSpPr>
        <p:spPr>
          <a:xfrm>
            <a:off x="457200" y="2926080"/>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[3]  Express.js Guide — https://expressjs.com/en/guide</a:t>
            </a:r>
            <a:endParaRPr lang="en-US" sz="1000" dirty="0"/>
          </a:p>
        </p:txBody>
      </p:sp>
      <p:sp>
        <p:nvSpPr>
          <p:cNvPr id="14" name="Shape 11"/>
          <p:cNvSpPr/>
          <p:nvPr/>
        </p:nvSpPr>
        <p:spPr>
          <a:xfrm>
            <a:off x="457200" y="3429000"/>
            <a:ext cx="2377440" cy="0"/>
          </a:xfrm>
          <a:prstGeom prst="line">
            <a:avLst/>
          </a:prstGeom>
          <a:noFill/>
          <a:ln w="6350">
            <a:solidFill>
              <a:srgbClr val="0F3460"/>
            </a:solidFill>
            <a:prstDash val="solid"/>
          </a:ln>
        </p:spPr>
      </p:sp>
      <p:sp>
        <p:nvSpPr>
          <p:cNvPr id="15" name="Text 12"/>
          <p:cNvSpPr/>
          <p:nvPr/>
        </p:nvSpPr>
        <p:spPr>
          <a:xfrm>
            <a:off x="457200" y="3483864"/>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[4]  Sequelize ORM Docs — https://sequelize.org/docs</a:t>
            </a:r>
            <a:endParaRPr lang="en-US" sz="1000" dirty="0"/>
          </a:p>
        </p:txBody>
      </p:sp>
      <p:sp>
        <p:nvSpPr>
          <p:cNvPr id="16" name="Shape 13"/>
          <p:cNvSpPr/>
          <p:nvPr/>
        </p:nvSpPr>
        <p:spPr>
          <a:xfrm>
            <a:off x="457200" y="3986784"/>
            <a:ext cx="2377440" cy="0"/>
          </a:xfrm>
          <a:prstGeom prst="line">
            <a:avLst/>
          </a:prstGeom>
          <a:noFill/>
          <a:ln w="6350">
            <a:solidFill>
              <a:srgbClr val="0F3460"/>
            </a:solidFill>
            <a:prstDash val="solid"/>
          </a:ln>
        </p:spPr>
      </p:sp>
      <p:sp>
        <p:nvSpPr>
          <p:cNvPr id="17" name="Text 14"/>
          <p:cNvSpPr/>
          <p:nvPr/>
        </p:nvSpPr>
        <p:spPr>
          <a:xfrm>
            <a:off x="457200" y="4041648"/>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[5]  PostgreSQL Documentation — https://www.postgresql.org/docs</a:t>
            </a:r>
            <a:endParaRPr lang="en-US" sz="1000" dirty="0"/>
          </a:p>
        </p:txBody>
      </p:sp>
      <p:sp>
        <p:nvSpPr>
          <p:cNvPr id="18" name="Shape 15"/>
          <p:cNvSpPr/>
          <p:nvPr/>
        </p:nvSpPr>
        <p:spPr>
          <a:xfrm>
            <a:off x="3227832" y="1261872"/>
            <a:ext cx="2724912" cy="3401568"/>
          </a:xfrm>
          <a:prstGeom prst="rect">
            <a:avLst/>
          </a:prstGeom>
          <a:solidFill>
            <a:srgbClr val="0D2137"/>
          </a:solidFill>
          <a:ln w="19050">
            <a:solidFill>
              <a:srgbClr val="F5A623"/>
            </a:solidFill>
            <a:prstDash val="solid"/>
          </a:ln>
        </p:spPr>
      </p:sp>
      <p:sp>
        <p:nvSpPr>
          <p:cNvPr id="19" name="Shape 16"/>
          <p:cNvSpPr/>
          <p:nvPr/>
        </p:nvSpPr>
        <p:spPr>
          <a:xfrm>
            <a:off x="3227832" y="1261872"/>
            <a:ext cx="2724912" cy="475488"/>
          </a:xfrm>
          <a:prstGeom prst="rect">
            <a:avLst/>
          </a:prstGeom>
          <a:solidFill>
            <a:srgbClr val="F5A623">
              <a:alpha val="82000"/>
            </a:srgbClr>
          </a:solidFill>
          <a:ln w="12700">
            <a:solidFill>
              <a:srgbClr val="F5A623"/>
            </a:solidFill>
            <a:prstDash val="solid"/>
          </a:ln>
        </p:spPr>
      </p:sp>
      <p:sp>
        <p:nvSpPr>
          <p:cNvPr id="21" name="Text 17"/>
          <p:cNvSpPr/>
          <p:nvPr/>
        </p:nvSpPr>
        <p:spPr>
          <a:xfrm>
            <a:off x="3730752" y="1261872"/>
            <a:ext cx="2148840" cy="475488"/>
          </a:xfrm>
          <a:prstGeom prst="rect">
            <a:avLst/>
          </a:prstGeom>
          <a:noFill/>
        </p:spPr>
        <p:txBody>
          <a:bodyPr wrap="square" rtlCol="0" anchor="ctr"/>
          <a:lstStyle/>
          <a:p>
            <a:pPr marL="0" indent="0">
              <a:buNone/>
            </a:pPr>
            <a:r>
              <a:rPr lang="en-US" sz="13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Libraries &amp; Tools</a:t>
            </a:r>
            <a:endParaRPr lang="en-US" sz="1300" dirty="0"/>
          </a:p>
        </p:txBody>
      </p:sp>
      <p:sp>
        <p:nvSpPr>
          <p:cNvPr id="22" name="Text 18"/>
          <p:cNvSpPr/>
          <p:nvPr/>
        </p:nvSpPr>
        <p:spPr>
          <a:xfrm>
            <a:off x="3364992" y="1810512"/>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[6]  Tailwind CSS — https://tailwindcss.com/docs</a:t>
            </a:r>
            <a:endParaRPr lang="en-US" sz="1000" dirty="0"/>
          </a:p>
        </p:txBody>
      </p:sp>
      <p:sp>
        <p:nvSpPr>
          <p:cNvPr id="23" name="Shape 19"/>
          <p:cNvSpPr/>
          <p:nvPr/>
        </p:nvSpPr>
        <p:spPr>
          <a:xfrm>
            <a:off x="3364992" y="2313432"/>
            <a:ext cx="2377440" cy="0"/>
          </a:xfrm>
          <a:prstGeom prst="line">
            <a:avLst/>
          </a:prstGeom>
          <a:noFill/>
          <a:ln w="6350">
            <a:solidFill>
              <a:srgbClr val="0F3460"/>
            </a:solidFill>
            <a:prstDash val="solid"/>
          </a:ln>
        </p:spPr>
      </p:sp>
      <p:sp>
        <p:nvSpPr>
          <p:cNvPr id="24" name="Text 20"/>
          <p:cNvSpPr/>
          <p:nvPr/>
        </p:nvSpPr>
        <p:spPr>
          <a:xfrm>
            <a:off x="3364992" y="2368296"/>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[7]  JSON Web Tokens — https://jwt.io</a:t>
            </a:r>
            <a:endParaRPr lang="en-US" sz="1000" dirty="0"/>
          </a:p>
        </p:txBody>
      </p:sp>
      <p:sp>
        <p:nvSpPr>
          <p:cNvPr id="25" name="Shape 21"/>
          <p:cNvSpPr/>
          <p:nvPr/>
        </p:nvSpPr>
        <p:spPr>
          <a:xfrm>
            <a:off x="3364992" y="2871216"/>
            <a:ext cx="2377440" cy="0"/>
          </a:xfrm>
          <a:prstGeom prst="line">
            <a:avLst/>
          </a:prstGeom>
          <a:noFill/>
          <a:ln w="6350">
            <a:solidFill>
              <a:srgbClr val="0F3460"/>
            </a:solidFill>
            <a:prstDash val="solid"/>
          </a:ln>
        </p:spPr>
      </p:sp>
      <p:sp>
        <p:nvSpPr>
          <p:cNvPr id="26" name="Text 22"/>
          <p:cNvSpPr/>
          <p:nvPr/>
        </p:nvSpPr>
        <p:spPr>
          <a:xfrm>
            <a:off x="3364992" y="2926080"/>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[8]  bcrypt npm Package — https://www.npmjs.com/package/bcrypt</a:t>
            </a:r>
            <a:endParaRPr lang="en-US" sz="1000" dirty="0"/>
          </a:p>
        </p:txBody>
      </p:sp>
      <p:sp>
        <p:nvSpPr>
          <p:cNvPr id="27" name="Shape 23"/>
          <p:cNvSpPr/>
          <p:nvPr/>
        </p:nvSpPr>
        <p:spPr>
          <a:xfrm>
            <a:off x="3364992" y="3429000"/>
            <a:ext cx="2377440" cy="0"/>
          </a:xfrm>
          <a:prstGeom prst="line">
            <a:avLst/>
          </a:prstGeom>
          <a:noFill/>
          <a:ln w="6350">
            <a:solidFill>
              <a:srgbClr val="0F3460"/>
            </a:solidFill>
            <a:prstDash val="solid"/>
          </a:ln>
        </p:spPr>
      </p:sp>
      <p:sp>
        <p:nvSpPr>
          <p:cNvPr id="28" name="Text 24"/>
          <p:cNvSpPr/>
          <p:nvPr/>
        </p:nvSpPr>
        <p:spPr>
          <a:xfrm>
            <a:off x="3364992" y="3483864"/>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[9]  Lucide React Icons — https://lucide.dev</a:t>
            </a:r>
            <a:endParaRPr lang="en-US" sz="1000" dirty="0"/>
          </a:p>
        </p:txBody>
      </p:sp>
      <p:sp>
        <p:nvSpPr>
          <p:cNvPr id="29" name="Shape 25"/>
          <p:cNvSpPr/>
          <p:nvPr/>
        </p:nvSpPr>
        <p:spPr>
          <a:xfrm>
            <a:off x="3364992" y="3986784"/>
            <a:ext cx="2377440" cy="0"/>
          </a:xfrm>
          <a:prstGeom prst="line">
            <a:avLst/>
          </a:prstGeom>
          <a:noFill/>
          <a:ln w="6350">
            <a:solidFill>
              <a:srgbClr val="0F3460"/>
            </a:solidFill>
            <a:prstDash val="solid"/>
          </a:ln>
        </p:spPr>
      </p:sp>
      <p:sp>
        <p:nvSpPr>
          <p:cNvPr id="30" name="Text 26"/>
          <p:cNvSpPr/>
          <p:nvPr/>
        </p:nvSpPr>
        <p:spPr>
          <a:xfrm>
            <a:off x="3364992" y="4041648"/>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[10] Postman API Tool — https://www.postman.com</a:t>
            </a:r>
            <a:endParaRPr lang="en-US" sz="1000" dirty="0"/>
          </a:p>
        </p:txBody>
      </p:sp>
      <p:sp>
        <p:nvSpPr>
          <p:cNvPr id="31" name="Shape 27"/>
          <p:cNvSpPr/>
          <p:nvPr/>
        </p:nvSpPr>
        <p:spPr>
          <a:xfrm>
            <a:off x="6135624" y="1261872"/>
            <a:ext cx="2724912" cy="3401568"/>
          </a:xfrm>
          <a:prstGeom prst="rect">
            <a:avLst/>
          </a:prstGeom>
          <a:solidFill>
            <a:srgbClr val="0D2137"/>
          </a:solidFill>
          <a:ln w="19050">
            <a:solidFill>
              <a:srgbClr val="E94560"/>
            </a:solidFill>
            <a:prstDash val="solid"/>
          </a:ln>
        </p:spPr>
      </p:sp>
      <p:sp>
        <p:nvSpPr>
          <p:cNvPr id="32" name="Shape 28"/>
          <p:cNvSpPr/>
          <p:nvPr/>
        </p:nvSpPr>
        <p:spPr>
          <a:xfrm>
            <a:off x="6135624" y="1261872"/>
            <a:ext cx="2724912" cy="475488"/>
          </a:xfrm>
          <a:prstGeom prst="rect">
            <a:avLst/>
          </a:prstGeom>
          <a:solidFill>
            <a:srgbClr val="E94560">
              <a:alpha val="82000"/>
            </a:srgbClr>
          </a:solidFill>
          <a:ln w="12700">
            <a:solidFill>
              <a:srgbClr val="E94560"/>
            </a:solidFill>
            <a:prstDash val="solid"/>
          </a:ln>
        </p:spPr>
      </p:sp>
      <p:sp>
        <p:nvSpPr>
          <p:cNvPr id="34" name="Text 29"/>
          <p:cNvSpPr/>
          <p:nvPr/>
        </p:nvSpPr>
        <p:spPr>
          <a:xfrm>
            <a:off x="6638544" y="1261872"/>
            <a:ext cx="2148840" cy="475488"/>
          </a:xfrm>
          <a:prstGeom prst="rect">
            <a:avLst/>
          </a:prstGeom>
          <a:noFill/>
        </p:spPr>
        <p:txBody>
          <a:bodyPr wrap="square" rtlCol="0" anchor="ctr"/>
          <a:lstStyle/>
          <a:p>
            <a:pPr marL="0" indent="0">
              <a:buNone/>
            </a:pPr>
            <a:r>
              <a:rPr lang="en-US" sz="13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AI Tools</a:t>
            </a:r>
            <a:endParaRPr lang="en-US" sz="1300" dirty="0"/>
          </a:p>
        </p:txBody>
      </p:sp>
      <p:sp>
        <p:nvSpPr>
          <p:cNvPr id="35" name="Text 30"/>
          <p:cNvSpPr/>
          <p:nvPr/>
        </p:nvSpPr>
        <p:spPr>
          <a:xfrm>
            <a:off x="6272784" y="1810512"/>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[11] OpenAI ChatGPT — https://chatgpt.com</a:t>
            </a:r>
            <a:endParaRPr lang="en-US" sz="1000" dirty="0"/>
          </a:p>
        </p:txBody>
      </p:sp>
      <p:sp>
        <p:nvSpPr>
          <p:cNvPr id="36" name="Shape 31"/>
          <p:cNvSpPr/>
          <p:nvPr/>
        </p:nvSpPr>
        <p:spPr>
          <a:xfrm>
            <a:off x="6272784" y="2313432"/>
            <a:ext cx="2377440" cy="0"/>
          </a:xfrm>
          <a:prstGeom prst="line">
            <a:avLst/>
          </a:prstGeom>
          <a:noFill/>
          <a:ln w="6350">
            <a:solidFill>
              <a:srgbClr val="0F3460"/>
            </a:solidFill>
            <a:prstDash val="solid"/>
          </a:ln>
        </p:spPr>
      </p:sp>
      <p:sp>
        <p:nvSpPr>
          <p:cNvPr id="37" name="Text 32"/>
          <p:cNvSpPr/>
          <p:nvPr/>
        </p:nvSpPr>
        <p:spPr>
          <a:xfrm>
            <a:off x="6272784" y="2368296"/>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[12] GitHub Copilot — https://github.com/features/copilot</a:t>
            </a:r>
            <a:endParaRPr lang="en-US" sz="1000" dirty="0"/>
          </a:p>
        </p:txBody>
      </p:sp>
      <p:sp>
        <p:nvSpPr>
          <p:cNvPr id="38" name="Shape 33"/>
          <p:cNvSpPr/>
          <p:nvPr/>
        </p:nvSpPr>
        <p:spPr>
          <a:xfrm>
            <a:off x="6272784" y="2871216"/>
            <a:ext cx="2377440" cy="0"/>
          </a:xfrm>
          <a:prstGeom prst="line">
            <a:avLst/>
          </a:prstGeom>
          <a:noFill/>
          <a:ln w="6350">
            <a:solidFill>
              <a:srgbClr val="0F3460"/>
            </a:solidFill>
            <a:prstDash val="solid"/>
          </a:ln>
        </p:spPr>
      </p:sp>
      <p:sp>
        <p:nvSpPr>
          <p:cNvPr id="39" name="Text 34"/>
          <p:cNvSpPr/>
          <p:nvPr/>
        </p:nvSpPr>
        <p:spPr>
          <a:xfrm>
            <a:off x="6272784" y="2926080"/>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[13] Anthropic Claude — https://claude.ai</a:t>
            </a:r>
            <a:endParaRPr lang="en-US" sz="1000" dirty="0"/>
          </a:p>
        </p:txBody>
      </p:sp>
      <p:sp>
        <p:nvSpPr>
          <p:cNvPr id="40" name="Shape 35"/>
          <p:cNvSpPr/>
          <p:nvPr/>
        </p:nvSpPr>
        <p:spPr>
          <a:xfrm>
            <a:off x="6272784" y="3429000"/>
            <a:ext cx="2377440" cy="0"/>
          </a:xfrm>
          <a:prstGeom prst="line">
            <a:avLst/>
          </a:prstGeom>
          <a:noFill/>
          <a:ln w="6350">
            <a:solidFill>
              <a:srgbClr val="0F3460"/>
            </a:solidFill>
            <a:prstDash val="solid"/>
          </a:ln>
        </p:spPr>
      </p:sp>
      <p:sp>
        <p:nvSpPr>
          <p:cNvPr id="41" name="Text 36"/>
          <p:cNvSpPr/>
          <p:nvPr/>
        </p:nvSpPr>
        <p:spPr>
          <a:xfrm>
            <a:off x="6272784" y="3483864"/>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[14] Cursor AI — https://cursor.sh</a:t>
            </a:r>
            <a:endParaRPr lang="en-US" sz="1000" dirty="0"/>
          </a:p>
        </p:txBody>
      </p:sp>
      <p:sp>
        <p:nvSpPr>
          <p:cNvPr id="42" name="Shape 37"/>
          <p:cNvSpPr/>
          <p:nvPr/>
        </p:nvSpPr>
        <p:spPr>
          <a:xfrm>
            <a:off x="6272784" y="3986784"/>
            <a:ext cx="2377440" cy="0"/>
          </a:xfrm>
          <a:prstGeom prst="line">
            <a:avLst/>
          </a:prstGeom>
          <a:noFill/>
          <a:ln w="6350">
            <a:solidFill>
              <a:srgbClr val="0F3460"/>
            </a:solidFill>
            <a:prstDash val="solid"/>
          </a:ln>
        </p:spPr>
      </p:sp>
      <p:sp>
        <p:nvSpPr>
          <p:cNvPr id="43" name="Text 38"/>
          <p:cNvSpPr/>
          <p:nvPr/>
        </p:nvSpPr>
        <p:spPr>
          <a:xfrm>
            <a:off x="6272784" y="4041648"/>
            <a:ext cx="2468880" cy="502920"/>
          </a:xfrm>
          <a:prstGeom prst="rect">
            <a:avLst/>
          </a:prstGeom>
          <a:noFill/>
        </p:spPr>
        <p:txBody>
          <a:bodyPr wrap="square" rtlCol="0" anchor="ctr"/>
          <a:lstStyle/>
          <a:p>
            <a:pPr marL="0" indent="0">
              <a:buNone/>
            </a:pPr>
            <a:r>
              <a:rPr lang="en-US" sz="1000" dirty="0">
                <a:solidFill>
                  <a:srgbClr val="C8D6E5"/>
                </a:solidFill>
                <a:latin typeface="Calibri" panose="020F0502020204030204" pitchFamily="34" charset="0"/>
                <a:ea typeface="Calibri" panose="020F0502020204030204" pitchFamily="34" charset="-122"/>
                <a:cs typeface="Calibri" panose="020F0502020204030204" pitchFamily="34" charset="-120"/>
              </a:rPr>
              <a:t>[15] Vercel v0.dev — https://v0.dev</a:t>
            </a:r>
            <a:endParaRPr lang="en-US" sz="1000" dirty="0"/>
          </a:p>
        </p:txBody>
      </p:sp>
      <p:sp>
        <p:nvSpPr>
          <p:cNvPr id="44" name="Shape 39"/>
          <p:cNvSpPr/>
          <p:nvPr/>
        </p:nvSpPr>
        <p:spPr>
          <a:xfrm>
            <a:off x="0" y="4828032"/>
            <a:ext cx="9144000" cy="310896"/>
          </a:xfrm>
          <a:prstGeom prst="rect">
            <a:avLst/>
          </a:prstGeom>
          <a:solidFill>
            <a:srgbClr val="0F3460"/>
          </a:solidFill>
          <a:ln w="12700">
            <a:solidFill>
              <a:srgbClr val="0F3460"/>
            </a:solidFill>
            <a:prstDash val="solid"/>
          </a:ln>
        </p:spPr>
      </p:sp>
      <p:sp>
        <p:nvSpPr>
          <p:cNvPr id="45" name="Text 40"/>
          <p:cNvSpPr/>
          <p:nvPr/>
        </p:nvSpPr>
        <p:spPr>
          <a:xfrm>
            <a:off x="365760" y="4828032"/>
            <a:ext cx="8412480" cy="310896"/>
          </a:xfrm>
          <a:prstGeom prst="rect">
            <a:avLst/>
          </a:prstGeom>
          <a:noFill/>
        </p:spPr>
        <p:txBody>
          <a:bodyPr wrap="square" rtlCol="0" anchor="ctr"/>
          <a:lstStyle/>
          <a:p>
            <a:pPr marL="0" indent="0" algn="ctr">
              <a:buNone/>
            </a:pPr>
            <a:r>
              <a:rPr lang="en-US" sz="1000" dirty="0">
                <a:solidFill>
                  <a:srgbClr val="00C9B1"/>
                </a:solidFill>
              </a:rPr>
              <a:t>Campus Connect  ·  Student Collaboration Platform  ·  Presented for Project Evaluation  ·  2025–26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6817</Words>
  <Application>WPS Presentation</Application>
  <PresentationFormat>On-screen Show (16:9)</PresentationFormat>
  <Paragraphs>421</Paragraphs>
  <Slides>10</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Trebuchet MS</vt:lpstr>
      <vt:lpstr>Trebuchet MS</vt:lpstr>
      <vt:lpstr>Trebuchet MS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Connect</dc:title>
  <dc:creator>PptxGenJS</dc:creator>
  <dc:subject>PptxGenJS Presentation</dc:subject>
  <cp:lastModifiedBy>Madhuri Mandala</cp:lastModifiedBy>
  <cp:revision>5</cp:revision>
  <dcterms:created xsi:type="dcterms:W3CDTF">2026-04-16T12:59:00Z</dcterms:created>
  <dcterms:modified xsi:type="dcterms:W3CDTF">2026-04-22T06:42:02Z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1906D830D6BB4DC98F443A102C2517DC_13</vt:lpwstr>
  </property>
</Properties>
</file>